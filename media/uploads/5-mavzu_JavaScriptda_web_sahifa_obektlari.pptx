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317" r:id="rId5"/>
    <p:sldId id="318" r:id="rId6"/>
    <p:sldId id="321" r:id="rId7"/>
    <p:sldId id="320" r:id="rId8"/>
    <p:sldId id="319" r:id="rId9"/>
    <p:sldId id="322" r:id="rId10"/>
    <p:sldId id="323" r:id="rId11"/>
    <p:sldId id="324" r:id="rId12"/>
    <p:sldId id="325" r:id="rId13"/>
    <p:sldId id="327" r:id="rId14"/>
    <p:sldId id="328" r:id="rId15"/>
    <p:sldId id="330" r:id="rId16"/>
    <p:sldId id="331" r:id="rId17"/>
    <p:sldId id="329" r:id="rId18"/>
    <p:sldId id="332" r:id="rId19"/>
    <p:sldId id="33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D6B50-9521-4340-B8A0-83C95B109BB5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89BC-7AA2-4FE9-9EC2-948D7E7A9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60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D6B50-9521-4340-B8A0-83C95B109BB5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89BC-7AA2-4FE9-9EC2-948D7E7A9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5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D6B50-9521-4340-B8A0-83C95B109BB5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89BC-7AA2-4FE9-9EC2-948D7E7A9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55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D6B50-9521-4340-B8A0-83C95B109BB5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89BC-7AA2-4FE9-9EC2-948D7E7A9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4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D6B50-9521-4340-B8A0-83C95B109BB5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89BC-7AA2-4FE9-9EC2-948D7E7A9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4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D6B50-9521-4340-B8A0-83C95B109BB5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89BC-7AA2-4FE9-9EC2-948D7E7A9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2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D6B50-9521-4340-B8A0-83C95B109BB5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89BC-7AA2-4FE9-9EC2-948D7E7A9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509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D6B50-9521-4340-B8A0-83C95B109BB5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89BC-7AA2-4FE9-9EC2-948D7E7A9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3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D6B50-9521-4340-B8A0-83C95B109BB5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89BC-7AA2-4FE9-9EC2-948D7E7A9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31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D6B50-9521-4340-B8A0-83C95B109BB5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89BC-7AA2-4FE9-9EC2-948D7E7A9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47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D6B50-9521-4340-B8A0-83C95B109BB5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89BC-7AA2-4FE9-9EC2-948D7E7A9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76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8825" cy="685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14"/>
          <p:cNvCxnSpPr/>
          <p:nvPr/>
        </p:nvCxnSpPr>
        <p:spPr>
          <a:xfrm>
            <a:off x="2692400" y="3522663"/>
            <a:ext cx="681513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538" y="5037138"/>
            <a:ext cx="896937" cy="2794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B2DA49-9839-433A-ABF0-2199D75C3A99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400" y="5037138"/>
            <a:ext cx="5214938" cy="2794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675" y="5037138"/>
            <a:ext cx="550863" cy="2794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F58787-B5D9-401E-A64A-F7142FE86178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144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/>
        </p:nvCxnSpPr>
        <p:spPr>
          <a:xfrm>
            <a:off x="1395413" y="2420938"/>
            <a:ext cx="94075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9DD801-D73C-4FDC-BF1E-3FAF2AC5F3B0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3B2D0A-3C4D-47AD-BE57-49C27D6D80DA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04406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5"/>
          <p:cNvCxnSpPr/>
          <p:nvPr/>
        </p:nvCxnSpPr>
        <p:spPr>
          <a:xfrm>
            <a:off x="2012950" y="3709988"/>
            <a:ext cx="81629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C3615F-E6E9-4FAF-A836-B3B38DC1B7B3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98E891-5D83-492D-B5BC-053B95510058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96699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7"/>
          <p:cNvCxnSpPr/>
          <p:nvPr/>
        </p:nvCxnSpPr>
        <p:spPr>
          <a:xfrm>
            <a:off x="1395413" y="2420938"/>
            <a:ext cx="94075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F50C9-7BFD-4C6B-AE61-B20AE9467343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630766-BF46-4D41-92A7-B1261DB47E0D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54740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17"/>
          <p:cNvCxnSpPr/>
          <p:nvPr/>
        </p:nvCxnSpPr>
        <p:spPr>
          <a:xfrm>
            <a:off x="1395413" y="2420938"/>
            <a:ext cx="94075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FA8923-B49E-4321-96A2-825FCAB447DC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31C2BF-F86D-4057-BD9D-6BC6890C1FDA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34550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3"/>
          <p:cNvCxnSpPr/>
          <p:nvPr/>
        </p:nvCxnSpPr>
        <p:spPr>
          <a:xfrm>
            <a:off x="1395413" y="2420938"/>
            <a:ext cx="94075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3E96FF-0F19-4220-9334-B4947A9193D7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2C719B-3CBA-4068-A03C-E8DB46F140BD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15474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065DCC-2A47-4413-BD07-79D2D6108891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2F34B4-5CEE-4C6A-B90B-7D6BDF863B50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84533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5"/>
          <p:cNvCxnSpPr/>
          <p:nvPr/>
        </p:nvCxnSpPr>
        <p:spPr>
          <a:xfrm>
            <a:off x="1395413" y="2913063"/>
            <a:ext cx="35147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A030FC-D0C0-4FD2-A96E-F8D41E550E8D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2D6032-B61E-45AB-84BE-E346D89CE9AD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846569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D0C2F9E-FCC7-492F-872E-758423752268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DD834B-8E0E-4D16-BF62-9508D293CE00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45982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613D0C-8099-4C5A-A3F0-03C5BEC7992C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3DF3A3-D9B5-412F-AEB2-20A67887C8F6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50609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4"/>
          <p:cNvCxnSpPr/>
          <p:nvPr/>
        </p:nvCxnSpPr>
        <p:spPr>
          <a:xfrm>
            <a:off x="1395413" y="4140200"/>
            <a:ext cx="94075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299D11-2BF3-4086-8D01-23C9E8260189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DA4BB9C-EE28-4766-8D06-99AA6BBFB4C0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044677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862013" y="879475"/>
            <a:ext cx="6096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8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“</a:t>
            </a: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10599738" y="2827338"/>
            <a:ext cx="6096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8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”</a:t>
            </a:r>
          </a:p>
        </p:txBody>
      </p:sp>
      <p:cxnSp>
        <p:nvCxnSpPr>
          <p:cNvPr id="7" name="Straight Connector 18"/>
          <p:cNvCxnSpPr/>
          <p:nvPr/>
        </p:nvCxnSpPr>
        <p:spPr>
          <a:xfrm>
            <a:off x="1395413" y="4140200"/>
            <a:ext cx="94075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803904-70D8-44AB-A591-4A5C60516E47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710A2D-21FB-4497-B12B-436E1182BEF1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82952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E27A6C-A578-4AA5-A63E-D20CC7D1B351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96FE906-08B0-48E8-AE47-901069EFC71C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63163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862013" y="879475"/>
            <a:ext cx="6096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8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“</a:t>
            </a: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10599738" y="2598738"/>
            <a:ext cx="6096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8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”</a:t>
            </a:r>
          </a:p>
        </p:txBody>
      </p:sp>
      <p:cxnSp>
        <p:nvCxnSpPr>
          <p:cNvPr id="7" name="Straight Connector 25"/>
          <p:cNvCxnSpPr/>
          <p:nvPr/>
        </p:nvCxnSpPr>
        <p:spPr>
          <a:xfrm>
            <a:off x="1395413" y="3429000"/>
            <a:ext cx="94075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BE09CF-FE1E-4363-B1B9-5B946DFD0DBD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7C63B7-6671-4366-9DE4-023FA289EEB5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17148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4"/>
          <p:cNvCxnSpPr/>
          <p:nvPr/>
        </p:nvCxnSpPr>
        <p:spPr>
          <a:xfrm>
            <a:off x="1395413" y="3429000"/>
            <a:ext cx="94075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rtlCol="0">
            <a:normAutofit/>
          </a:bodyPr>
          <a:lstStyle>
            <a:lvl1pPr>
              <a:defRPr lang="en-US" b="0" dirty="0"/>
            </a:lvl1pPr>
          </a:lstStyle>
          <a:p>
            <a:pPr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78DD44-8818-4E5F-8DF2-AB0898CFAC7A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E404E6-D649-4A4C-8E87-A299027663DC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93857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3"/>
          <p:cNvCxnSpPr/>
          <p:nvPr/>
        </p:nvCxnSpPr>
        <p:spPr>
          <a:xfrm>
            <a:off x="1395413" y="2420938"/>
            <a:ext cx="94075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0003FF-26BB-4557-8D3B-5C9084E154A9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5B06A5-9DB5-4A7D-8E51-00A0A88BF57D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985669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3"/>
          <p:cNvCxnSpPr/>
          <p:nvPr/>
        </p:nvCxnSpPr>
        <p:spPr>
          <a:xfrm>
            <a:off x="886460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19AD69-BBB3-487C-A9D8-3B785A493A2D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19B936-39CE-4236-8ECB-9545AC545952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08852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D6B50-9521-4340-B8A0-83C95B109BB5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C89BC-7AA2-4FE9-9EC2-948D7E7A9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18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8825" cy="685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1295400" y="982663"/>
            <a:ext cx="9601200" cy="130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  <a:endParaRPr lang="en-US" altLang="ru-RU" smtClean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95400" y="2557463"/>
            <a:ext cx="9601200" cy="331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  <a:endParaRPr lang="en-US" altLang="ru-R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275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 smtClean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368101-D736-4D00-A386-0BEF6D6DF70E}" type="datetimeFigureOut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0" y="5969000"/>
            <a:ext cx="7305675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675" y="5969000"/>
            <a:ext cx="542925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 smtClean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DE5D95-4AA4-403F-94FE-0F258CEDA752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20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ln w="3175" cmpd="sng">
            <a:noFill/>
          </a:ln>
          <a:solidFill>
            <a:srgbClr val="262626"/>
          </a:solidFill>
          <a:latin typeface="+mj-lt"/>
          <a:ea typeface="+mj-ea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rgbClr val="262626"/>
          </a:solidFill>
          <a:latin typeface="Garamond" panose="02020404030301010803" pitchFamily="18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rgbClr val="262626"/>
          </a:solidFill>
          <a:latin typeface="Garamond" panose="02020404030301010803" pitchFamily="18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rgbClr val="262626"/>
          </a:solidFill>
          <a:latin typeface="Garamond" panose="02020404030301010803" pitchFamily="18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rgbClr val="262626"/>
          </a:solidFill>
          <a:latin typeface="Garamond" panose="02020404030301010803" pitchFamily="18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2400" kern="1200">
          <a:solidFill>
            <a:srgbClr val="262626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1600" kern="1200">
          <a:solidFill>
            <a:srgbClr val="262626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1400"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86041" y="237154"/>
            <a:ext cx="9385110" cy="2001075"/>
          </a:xfr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7200" b="1">
                <a:solidFill>
                  <a:srgbClr val="FF0000"/>
                </a:solidFill>
                <a:latin typeface="Garamond" panose="02020404030301010803" pitchFamily="18" charset="0"/>
              </a:rPr>
              <a:t>JavaScriptda </a:t>
            </a:r>
            <a:r>
              <a:rPr lang="ru-RU" sz="7200" b="1" smtClean="0">
                <a:solidFill>
                  <a:srgbClr val="FF0000"/>
                </a:solidFill>
                <a:latin typeface="Garamond" panose="02020404030301010803" pitchFamily="18" charset="0"/>
              </a:rPr>
              <a:t/>
            </a:r>
            <a:br>
              <a:rPr lang="ru-RU" sz="7200" b="1" smtClean="0">
                <a:solidFill>
                  <a:srgbClr val="FF0000"/>
                </a:solidFill>
                <a:latin typeface="Garamond" panose="02020404030301010803" pitchFamily="18" charset="0"/>
              </a:rPr>
            </a:br>
            <a:r>
              <a:rPr lang="en-US" sz="7200" b="1" smtClean="0">
                <a:solidFill>
                  <a:srgbClr val="FF0000"/>
                </a:solidFill>
                <a:latin typeface="Garamond" panose="02020404030301010803" pitchFamily="18" charset="0"/>
              </a:rPr>
              <a:t>web </a:t>
            </a:r>
            <a:r>
              <a:rPr lang="en-US" sz="7200" b="1">
                <a:solidFill>
                  <a:srgbClr val="FF0000"/>
                </a:solidFill>
                <a:latin typeface="Garamond" panose="02020404030301010803" pitchFamily="18" charset="0"/>
              </a:rPr>
              <a:t>sahifa ob’ektlari</a:t>
            </a:r>
            <a:endParaRPr lang="en-US" sz="7200" b="1" dirty="0">
              <a:solidFill>
                <a:srgbClr val="FF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914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Прямоугольник 1"/>
          <p:cNvSpPr>
            <a:spLocks noChangeArrowheads="1"/>
          </p:cNvSpPr>
          <p:nvPr/>
        </p:nvSpPr>
        <p:spPr bwMode="auto">
          <a:xfrm>
            <a:off x="3846922" y="501431"/>
            <a:ext cx="4176336" cy="584775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3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G</a:t>
            </a:r>
            <a:r>
              <a:rPr kumimoji="0" lang="en-AI" altLang="ru-RU" sz="3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lobal window</a:t>
            </a:r>
            <a:r>
              <a:rPr kumimoji="0" lang="en-AI" altLang="ru-RU" sz="3200" b="1" i="0" u="none" strike="noStrike" kern="1200" cap="none" spc="0" normalizeH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 obyekti</a:t>
            </a:r>
            <a:endParaRPr kumimoji="0" lang="en-US" altLang="ru-RU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69604" y="1302053"/>
            <a:ext cx="10130971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Barcha brauzerlar tomonidan qo'llab-quvvatlanadigan </a:t>
            </a:r>
            <a:r>
              <a:rPr lang="en-AI" sz="2800" b="1" smtClean="0">
                <a:solidFill>
                  <a:srgbClr val="FF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window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 ob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y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ekti </a:t>
            </a:r>
            <a:r>
              <a:rPr lang="en-US" sz="28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brauzer oynasini ifodalaydi va avtomatik ravishda global JavaScript 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ob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y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ektlari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sifatida 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barcha o’zgaruvchilar, funksiyalar va obyektlarni 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o'z </a:t>
            </a:r>
            <a:r>
              <a:rPr lang="en-US" sz="28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ichiga 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oladi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. Ya’ni g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lobal </a:t>
            </a:r>
            <a:r>
              <a:rPr lang="en-US" sz="28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miqyosda yaratilgan har qanday o'zgaruvchilar aslida 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window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 ob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y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ektning </a:t>
            </a:r>
            <a:r>
              <a:rPr lang="en-US" sz="28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xossalari va har qanday funktsiyalar uning usullari hisoblanadi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W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indow obyekti 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brauzer </a:t>
            </a:r>
            <a:r>
              <a:rPr lang="en-US" sz="28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tomonidan avtomatik ravishda yaratiladi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sz="28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W</a:t>
            </a:r>
            <a:r>
              <a:rPr lang="en-AI" sz="28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indow 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obyekti </a:t>
            </a:r>
            <a:r>
              <a:rPr lang="en-US" sz="2800" smtClean="0"/>
              <a:t>brauzer </a:t>
            </a:r>
            <a:r>
              <a:rPr lang="en-US" sz="2800"/>
              <a:t>muhiti bilan o'zaro aloqani ta'minlaydigan turli xususiyatlar va usullarga kirishni ta'minlaydi, jumladan, hujjatni manipulyatsiya qilish, hodisalarni boshqarish, taymerlarni boshqarish, dialog oynalarini ko'rsatish va boshqalar</a:t>
            </a:r>
            <a:r>
              <a:rPr lang="en-US" sz="2800" smtClean="0"/>
              <a:t>.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22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Прямоугольник 1"/>
          <p:cNvSpPr>
            <a:spLocks noChangeArrowheads="1"/>
          </p:cNvSpPr>
          <p:nvPr/>
        </p:nvSpPr>
        <p:spPr bwMode="auto">
          <a:xfrm>
            <a:off x="478369" y="2648790"/>
            <a:ext cx="2015103" cy="1938992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4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G</a:t>
            </a:r>
            <a:r>
              <a:rPr kumimoji="0" lang="en-AI" altLang="ru-RU" sz="4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lobal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I" altLang="ru-RU" sz="4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window</a:t>
            </a:r>
            <a:r>
              <a:rPr kumimoji="0" lang="en-AI" altLang="ru-RU" sz="4000" b="1" i="0" u="none" strike="noStrike" kern="1200" cap="none" spc="0" normalizeH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I" altLang="ru-RU" sz="4000" b="1" i="0" u="none" strike="noStrike" kern="1200" cap="none" spc="0" normalizeH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obyekti</a:t>
            </a:r>
            <a:endParaRPr kumimoji="0" lang="en-US" altLang="ru-RU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050" name="Picture 2" descr="https://miro.medium.com/v2/resize:fit:700/1*F3AWsYnfdvb_ei3_9v6V0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497" y="501430"/>
            <a:ext cx="7330474" cy="5864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90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Прямоугольник 1"/>
          <p:cNvSpPr>
            <a:spLocks noChangeArrowheads="1"/>
          </p:cNvSpPr>
          <p:nvPr/>
        </p:nvSpPr>
        <p:spPr bwMode="auto">
          <a:xfrm>
            <a:off x="3328642" y="173624"/>
            <a:ext cx="5212902" cy="584775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I" altLang="ru-RU" sz="3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window</a:t>
            </a:r>
            <a:r>
              <a:rPr kumimoji="0" lang="en-AI" altLang="ru-RU" sz="3200" b="1" i="0" u="none" strike="noStrike" kern="1200" cap="none" spc="0" normalizeH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 obyekti xususiyatlari</a:t>
            </a:r>
            <a:endParaRPr kumimoji="0" lang="en-US" altLang="ru-RU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69607" y="965222"/>
            <a:ext cx="1013097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window.innerHeight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 – brouzerdagi web sahifa namoyon bo’ladigan qismning balandligi (yotiq surgich ham inobatga olingan);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window.innerWidth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 - </a:t>
            </a:r>
            <a:r>
              <a:rPr lang="en-AI" sz="28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brouzerdagi web sahifa namoyon bo’ladigan qismning 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enini (tik </a:t>
            </a:r>
            <a:r>
              <a:rPr lang="en-AI" sz="28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surgich ham inobatga olingan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);</a:t>
            </a:r>
            <a:endParaRPr lang="en-AI" sz="2800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03850" y="2880611"/>
            <a:ext cx="11024558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smtClean="0">
                <a:solidFill>
                  <a:srgbClr val="000000"/>
                </a:solidFill>
                <a:latin typeface="Consolas" panose="020B0609020204030204" pitchFamily="49" charset="0"/>
              </a:rPr>
              <a:t>alert</a:t>
            </a:r>
            <a:r>
              <a:rPr lang="en-US" sz="2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>
                <a:solidFill>
                  <a:srgbClr val="A31515"/>
                </a:solidFill>
                <a:latin typeface="Consolas" panose="020B0609020204030204" pitchFamily="49" charset="0"/>
              </a:rPr>
              <a:t>"Brouser oynasi bo'yi: "</a:t>
            </a:r>
            <a:r>
              <a:rPr lang="en-US" sz="2800">
                <a:solidFill>
                  <a:srgbClr val="000000"/>
                </a:solidFill>
                <a:latin typeface="Consolas" panose="020B0609020204030204" pitchFamily="49" charset="0"/>
              </a:rPr>
              <a:t>+window.innerHeight+</a:t>
            </a:r>
            <a:r>
              <a:rPr lang="en-US" sz="2800">
                <a:solidFill>
                  <a:srgbClr val="A31515"/>
                </a:solidFill>
                <a:latin typeface="Consolas" panose="020B0609020204030204" pitchFamily="49" charset="0"/>
              </a:rPr>
              <a:t>" eni: "</a:t>
            </a:r>
            <a:r>
              <a:rPr lang="en-US" sz="2800">
                <a:solidFill>
                  <a:srgbClr val="000000"/>
                </a:solidFill>
                <a:latin typeface="Consolas" panose="020B0609020204030204" pitchFamily="49" charset="0"/>
              </a:rPr>
              <a:t>+window.innerWidth</a:t>
            </a:r>
            <a:r>
              <a:rPr lang="en-US" sz="280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8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707" y="3934225"/>
            <a:ext cx="7916406" cy="27771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803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Прямоугольник 1"/>
          <p:cNvSpPr>
            <a:spLocks noChangeArrowheads="1"/>
          </p:cNvSpPr>
          <p:nvPr/>
        </p:nvSpPr>
        <p:spPr bwMode="auto">
          <a:xfrm>
            <a:off x="3328642" y="173624"/>
            <a:ext cx="5212902" cy="584775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I" altLang="ru-RU" sz="3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window</a:t>
            </a:r>
            <a:r>
              <a:rPr kumimoji="0" lang="en-AI" altLang="ru-RU" sz="3200" b="1" i="0" u="none" strike="noStrike" kern="1200" cap="none" spc="0" normalizeH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 obyekti xususiyatlari</a:t>
            </a:r>
            <a:endParaRPr kumimoji="0" lang="en-US" altLang="ru-RU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69607" y="965222"/>
            <a:ext cx="1041374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window.</a:t>
            </a:r>
            <a:r>
              <a:rPr lang="en-AI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localStorage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 –web sayt uchun berilgan qiymatlarni saqlovchi obyekt. 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U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ndagi ma’lumotlar brouzer qayta yuklanganda ham, sahifa yangilanganda ham o’chmaydi.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window.</a:t>
            </a:r>
            <a:r>
              <a:rPr lang="en-AI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localStorage.setItem(‘kalit’, ‘qiymat’) 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- 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localStorage 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dagi qiymatlarni kalit qiymat juftligida saqlash uchun ishlatiladi.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window.</a:t>
            </a:r>
            <a:r>
              <a:rPr lang="en-AI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sessionStorage 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– localStorage singari qiymatlarni saqlaydigan obyekt, faqat brouzer qayta ishga tushganda barcha ma’lumotlar yo’qoladi. 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window.sessionStorage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.setItem(key, value).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window.</a:t>
            </a:r>
            <a:r>
              <a:rPr lang="en-AI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outerHeight 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– brouzerning to’liq tashqi o’lchamini aniqlovchi to’g’ri to’rtburchak balandligi.</a:t>
            </a:r>
            <a:endParaRPr lang="en-AI" sz="2800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window.</a:t>
            </a:r>
            <a:r>
              <a:rPr lang="en-AI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outerWidth </a:t>
            </a:r>
            <a:r>
              <a:rPr lang="en-AI" sz="28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– brouzerning to’liq tashqi o’lchamini aniqlovchi to’g’ri to’rtburchak 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eni</a:t>
            </a:r>
            <a:r>
              <a:rPr lang="en-AI" sz="28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4680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237" y="3263662"/>
            <a:ext cx="7025296" cy="35943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81" y="33779"/>
            <a:ext cx="7248657" cy="31953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Прямоугольник 1"/>
          <p:cNvSpPr>
            <a:spLocks noChangeArrowheads="1"/>
          </p:cNvSpPr>
          <p:nvPr/>
        </p:nvSpPr>
        <p:spPr bwMode="auto">
          <a:xfrm>
            <a:off x="8872425" y="846638"/>
            <a:ext cx="2372188" cy="1569660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I" altLang="ru-RU" sz="3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window</a:t>
            </a:r>
            <a:r>
              <a:rPr kumimoji="0" lang="en-AI" altLang="ru-RU" sz="3200" b="1" i="0" u="none" strike="noStrike" kern="1200" cap="none" spc="0" normalizeH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I" altLang="ru-RU" sz="3200" b="1" i="0" u="none" strike="noStrike" kern="1200" cap="none" spc="0" normalizeH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obyekti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I" altLang="ru-RU" sz="3200" b="1" i="0" u="none" strike="noStrike" kern="1200" cap="none" spc="0" normalizeH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xususiyatlari</a:t>
            </a:r>
            <a:endParaRPr kumimoji="0" lang="en-US" altLang="ru-RU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38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Прямоугольник 1"/>
          <p:cNvSpPr>
            <a:spLocks noChangeArrowheads="1"/>
          </p:cNvSpPr>
          <p:nvPr/>
        </p:nvSpPr>
        <p:spPr bwMode="auto">
          <a:xfrm>
            <a:off x="3323259" y="173624"/>
            <a:ext cx="5223674" cy="584775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I" altLang="ru-RU" sz="3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window</a:t>
            </a:r>
            <a:r>
              <a:rPr kumimoji="0" lang="en-AI" altLang="ru-RU" sz="3200" b="1" i="0" u="none" strike="noStrike" kern="1200" cap="none" spc="0" normalizeH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 uslublari (metodlari)</a:t>
            </a:r>
            <a:endParaRPr kumimoji="0" lang="en-US" altLang="ru-RU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69607" y="809945"/>
            <a:ext cx="1013097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window.</a:t>
            </a:r>
            <a:r>
              <a:rPr lang="en-AI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open(</a:t>
            </a:r>
            <a:r>
              <a:rPr lang="en-US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"</a:t>
            </a:r>
            <a:r>
              <a:rPr lang="en-AI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manzil</a:t>
            </a:r>
            <a:r>
              <a:rPr lang="en-US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", "</a:t>
            </a:r>
            <a:r>
              <a:rPr lang="en-AI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target</a:t>
            </a:r>
            <a:r>
              <a:rPr lang="en-US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", "</a:t>
            </a:r>
            <a:r>
              <a:rPr lang="en-AI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holati</a:t>
            </a:r>
            <a:r>
              <a:rPr lang="en-US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", "</a:t>
            </a:r>
            <a:r>
              <a:rPr lang="en-AI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tarix</a:t>
            </a:r>
            <a:r>
              <a:rPr lang="en-US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"</a:t>
            </a:r>
            <a:r>
              <a:rPr lang="en-AI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) 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– berilgan ma’lumotlar asosida yangi oyna ochishni ta’minlaydi. 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window.</a:t>
            </a:r>
            <a:r>
              <a:rPr lang="en-AI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close() – </a:t>
            </a:r>
            <a:r>
              <a:rPr lang="en-AI" sz="2800" smtClean="0">
                <a:cs typeface="Arial" panose="020B0604020202020204" pitchFamily="34" charset="0"/>
                <a:sym typeface="Arial" panose="020B0604020202020204" pitchFamily="34" charset="0"/>
              </a:rPr>
              <a:t>sahifani yopish uchun ishlatiladi.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window.</a:t>
            </a:r>
            <a:r>
              <a:rPr lang="en-AI" sz="2800" b="1" smtClean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stop() – </a:t>
            </a:r>
            <a:r>
              <a:rPr lang="en-AI" sz="2800" smtClean="0">
                <a:cs typeface="Arial" panose="020B0604020202020204" pitchFamily="34" charset="0"/>
                <a:sym typeface="Arial" panose="020B0604020202020204" pitchFamily="34" charset="0"/>
              </a:rPr>
              <a:t>sahifa yuklanishini to’xtatadi. 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window.</a:t>
            </a:r>
            <a:r>
              <a:rPr lang="en-AI" sz="2800" b="1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print() </a:t>
            </a:r>
            <a:r>
              <a:rPr lang="en-AI" sz="28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– sahifani chop etish oynasini chaqiradi;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65826" y="3089270"/>
            <a:ext cx="11197087" cy="375487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AI" sz="2000" smtClean="0">
                <a:solidFill>
                  <a:srgbClr val="800000"/>
                </a:solidFill>
                <a:latin typeface="Consolas" panose="020B0609020204030204" pitchFamily="49" charset="0"/>
              </a:rPr>
              <a:t>.......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ochish(){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           window.open(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"window2.html"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"_blank"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"top=50px, left=50px, width=400px, height=200px"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"false"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&lt;/head&gt;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&lt;body&gt;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AI" sz="2000" smtClean="0">
                <a:solidFill>
                  <a:srgbClr val="000000"/>
                </a:solidFill>
                <a:latin typeface="Consolas" panose="020B0609020204030204" pitchFamily="49" charset="0"/>
              </a:rPr>
              <a:t>	......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&lt;h4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onclick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"ochish()"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Yangi oyna och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&lt;/h4&gt;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AI" sz="200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00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AI" sz="2000" smtClean="0">
                <a:solidFill>
                  <a:srgbClr val="000000"/>
                </a:solidFill>
                <a:latin typeface="Consolas" panose="020B0609020204030204" pitchFamily="49" charset="0"/>
              </a:rPr>
              <a:t>.......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12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Прямоугольник 1"/>
          <p:cNvSpPr>
            <a:spLocks noChangeArrowheads="1"/>
          </p:cNvSpPr>
          <p:nvPr/>
        </p:nvSpPr>
        <p:spPr bwMode="auto">
          <a:xfrm>
            <a:off x="4107098" y="173624"/>
            <a:ext cx="3656002" cy="707886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AI" altLang="ru-RU" sz="4000" b="1" smtClean="0">
                <a:solidFill>
                  <a:prstClr val="white"/>
                </a:solidFill>
                <a:latin typeface="Garamond" panose="02020404030301010803"/>
              </a:rPr>
              <a:t>location obyekti</a:t>
            </a:r>
            <a:endParaRPr kumimoji="0" lang="en-US" altLang="ru-RU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sym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10885" y="706427"/>
            <a:ext cx="10431235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Web sahifaning ishoratini va unga bog’liq omillarni “location” obyekti ifodalaydi. 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U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 aslida windowning obyekti bo’lsada, document.location tarzida ham murojat etish mumkin. 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Q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uyida location obyektining xususiyatlari bayon etilgan: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AI" sz="28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location.href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 – veb sahifa ishoratini qaytaradi. 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A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gar unga qiymat berilsa brouzer ko’rsatilgan ishoratga o’tadi. 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Q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iymat sifatida ishorat (link) beriladi.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location.protocol</a:t>
            </a:r>
            <a:r>
              <a:rPr lang="en-AI" sz="28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– veb sahifa protokolini qaytaradi. 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U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nga qiymat berilganda brouzer sahifani ko’rsatilgan qaydnoma bo’yicha qayta yuklashga urinadi. </a:t>
            </a:r>
            <a:r>
              <a:rPr lang="en-US" sz="2800" b="1">
                <a:solidFill>
                  <a:schemeClr val="bg2">
                    <a:lumMod val="50000"/>
                  </a:schemeClr>
                </a:solidFill>
              </a:rPr>
              <a:t>location.protocol="https:";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location.host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– server nomi (domen yoki IP) bilan birga port raqamini qaytaradi. Qiymat berish orqali ko’rsatilgan port bo’yicha qayta yuklash mumkin. </a:t>
            </a:r>
            <a:r>
              <a:rPr lang="en-US" sz="2800" b="1">
                <a:solidFill>
                  <a:schemeClr val="bg2">
                    <a:lumMod val="50000"/>
                  </a:schemeClr>
                </a:solidFill>
                <a:sym typeface="Arial" panose="020B0604020202020204" pitchFamily="34" charset="0"/>
              </a:rPr>
              <a:t>location.host = "127.0.0.1:8080";</a:t>
            </a:r>
            <a:endParaRPr lang="en-AI" sz="2800" b="1">
              <a:solidFill>
                <a:schemeClr val="bg2">
                  <a:lumMod val="50000"/>
                </a:schemeClr>
              </a:solidFill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395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Прямоугольник 1"/>
          <p:cNvSpPr>
            <a:spLocks noChangeArrowheads="1"/>
          </p:cNvSpPr>
          <p:nvPr/>
        </p:nvSpPr>
        <p:spPr bwMode="auto">
          <a:xfrm>
            <a:off x="4281376" y="173624"/>
            <a:ext cx="3307445" cy="646331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AI" altLang="ru-RU" sz="3600" b="1" smtClean="0">
                <a:solidFill>
                  <a:prstClr val="white"/>
                </a:solidFill>
                <a:latin typeface="Garamond" panose="02020404030301010803"/>
              </a:rPr>
              <a:t>location obyekti</a:t>
            </a:r>
            <a:endParaRPr kumimoji="0" lang="en-US" altLang="ru-RU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sym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79896" y="1085989"/>
            <a:ext cx="1043123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AI" sz="32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location.hostname</a:t>
            </a:r>
            <a:r>
              <a:rPr lang="en-AI" sz="32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 – server nomini qaytaradi yoki o’zgartiradi.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location.</a:t>
            </a:r>
            <a:r>
              <a:rPr lang="en-AI" sz="32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port </a:t>
            </a:r>
            <a:r>
              <a:rPr lang="en-AI" sz="32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– port raqamini qaytaradi </a:t>
            </a:r>
            <a:r>
              <a:rPr lang="en-AI" sz="32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yoki </a:t>
            </a:r>
            <a:r>
              <a:rPr lang="en-AI" sz="32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o’zgartirib qayta yuklaydi. 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location.</a:t>
            </a:r>
            <a:r>
              <a:rPr lang="en-AI" sz="32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pathname </a:t>
            </a:r>
            <a:r>
              <a:rPr lang="en-AI" sz="32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– </a:t>
            </a:r>
            <a:r>
              <a:rPr lang="en-AI" sz="32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ishoratdagi yo’lni qaytaradi yoki </a:t>
            </a:r>
            <a:r>
              <a:rPr lang="en-AI" sz="32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o’zgartirib qayta yuklaydi. 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location.</a:t>
            </a:r>
            <a:r>
              <a:rPr lang="en-AI" sz="32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search </a:t>
            </a:r>
            <a:r>
              <a:rPr lang="en-AI" sz="32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– </a:t>
            </a:r>
            <a:r>
              <a:rPr lang="en-AI" sz="32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ishoratdagi so’roqdan keyingi qiymatni qaytaradi </a:t>
            </a:r>
            <a:r>
              <a:rPr lang="en-AI" sz="32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yoki </a:t>
            </a:r>
            <a:r>
              <a:rPr lang="en-AI" sz="32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o’zgartiradi. </a:t>
            </a:r>
            <a:endParaRPr lang="en-AI" sz="3200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location.</a:t>
            </a:r>
            <a:r>
              <a:rPr lang="en-AI" sz="32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orign </a:t>
            </a:r>
            <a:r>
              <a:rPr lang="en-AI" sz="32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– </a:t>
            </a:r>
            <a:r>
              <a:rPr lang="en-AI" sz="32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ishoratning protokolini, sayt nomini va portni jamlagan holda qaytaradi. </a:t>
            </a:r>
            <a:endParaRPr lang="en-AI" sz="3200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882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Прямоугольник 1"/>
          <p:cNvSpPr>
            <a:spLocks noChangeArrowheads="1"/>
          </p:cNvSpPr>
          <p:nvPr/>
        </p:nvSpPr>
        <p:spPr bwMode="auto">
          <a:xfrm>
            <a:off x="4387111" y="173624"/>
            <a:ext cx="3095977" cy="646331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AI" altLang="ru-RU" sz="3600" b="1" smtClean="0">
                <a:solidFill>
                  <a:prstClr val="white"/>
                </a:solidFill>
                <a:latin typeface="Garamond" panose="02020404030301010803"/>
              </a:rPr>
              <a:t>history obyekti</a:t>
            </a:r>
            <a:endParaRPr kumimoji="0" lang="en-US" altLang="ru-RU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sym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79896" y="1085989"/>
            <a:ext cx="10431235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AI" sz="2800" smtClean="0">
                <a:cs typeface="Arial" panose="020B0604020202020204" pitchFamily="34" charset="0"/>
                <a:sym typeface="Arial" panose="020B0604020202020204" pitchFamily="34" charset="0"/>
              </a:rPr>
              <a:t>Brouzerning ayni sahifa qaysi ishoratlarni qanday usulda namoyon etilganligining ro’yxati (tarixi)ni aniqlovchi </a:t>
            </a:r>
            <a:r>
              <a:rPr lang="en-AI" sz="28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history</a:t>
            </a:r>
            <a:r>
              <a:rPr lang="en-AI" sz="2800" smtClean="0">
                <a:cs typeface="Arial" panose="020B0604020202020204" pitchFamily="34" charset="0"/>
                <a:sym typeface="Arial" panose="020B0604020202020204" pitchFamily="34" charset="0"/>
              </a:rPr>
              <a:t> obyekti “orqaga” va “oldinga” tugmalari bosilganda bajariladigan vazifalarni amalga oshirish hamda joriy ishoratni o’zgartirish imkonini beradi. 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AI" sz="2800" b="1">
              <a:solidFill>
                <a:srgbClr val="C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history.back</a:t>
            </a:r>
            <a:r>
              <a:rPr lang="en-US" sz="2800" b="1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()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 – avvali sahifaga (mavjud bo’lsa) qaytish.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history.</a:t>
            </a:r>
            <a:r>
              <a:rPr lang="en-AI" sz="28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forward(</a:t>
            </a:r>
            <a:r>
              <a:rPr lang="en-US" sz="28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)</a:t>
            </a:r>
            <a:r>
              <a:rPr lang="en-AI" sz="28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 – 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oldingi sahifaga qaytgan bo’lsa, keyinga o’tishni ta’minlaydi.</a:t>
            </a:r>
            <a:endParaRPr lang="en-AI" sz="2800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history.</a:t>
            </a:r>
            <a:r>
              <a:rPr lang="en-AI" sz="28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go(</a:t>
            </a:r>
            <a:r>
              <a:rPr lang="en-US" sz="2800" b="1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)</a:t>
            </a:r>
            <a:r>
              <a:rPr lang="en-AI" sz="2800" b="1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 – 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yuklanishlar ketma-ketligidagi o’rni bo’yicha joriy sahifaga nisbatan nechta avvalgi yoki keyingi holatga o’tishni ta’minlaydi. Agar son manfiy bo’lsa orqaga, musbat bo’lsa oldinga harakatlanadi</a:t>
            </a:r>
          </a:p>
        </p:txBody>
      </p:sp>
    </p:spTree>
    <p:extLst>
      <p:ext uri="{BB962C8B-B14F-4D97-AF65-F5344CB8AC3E}">
        <p14:creationId xmlns:p14="http://schemas.microsoft.com/office/powerpoint/2010/main" val="410168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Прямоугольник 1"/>
          <p:cNvSpPr>
            <a:spLocks noChangeArrowheads="1"/>
          </p:cNvSpPr>
          <p:nvPr/>
        </p:nvSpPr>
        <p:spPr bwMode="auto">
          <a:xfrm>
            <a:off x="4079401" y="173624"/>
            <a:ext cx="3711401" cy="646331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AI" altLang="ru-RU" sz="3600" b="1" smtClean="0">
                <a:solidFill>
                  <a:prstClr val="white"/>
                </a:solidFill>
                <a:latin typeface="Garamond" panose="02020404030301010803"/>
              </a:rPr>
              <a:t>document obyekti</a:t>
            </a:r>
            <a:endParaRPr kumimoji="0" lang="en-US" altLang="ru-RU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sym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79896" y="1085989"/>
            <a:ext cx="1043123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AI" sz="32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document</a:t>
            </a:r>
            <a:r>
              <a:rPr lang="en-AI" sz="32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 obyektining asosiy vazifasi veb sahifadagi HTML elementlarini JavaScript dasturlash tili o’zgaruvchisiga mukammal obyekt sifatida yuklab berishni va shu o’zgaruvchining qiymatlari bo’yicha mos elemntni sahifa o’zgartirilishini ta’minlashdan iborat. </a:t>
            </a:r>
          </a:p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AI" sz="32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HTML hujjatning teglar asosida yozilgan elementlarni dasturlash tili tushunadigan (daraxt shaklida) tarkiblangan mukammal obyektga o’zlashtirish </a:t>
            </a:r>
            <a:r>
              <a:rPr lang="en-AI" sz="3200" b="1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DOM</a:t>
            </a:r>
            <a:r>
              <a:rPr lang="en-AI" sz="32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 (Document Object Model) deb yuritiladi. Uning asosiy elementi “</a:t>
            </a:r>
            <a:r>
              <a:rPr lang="en-AI" sz="3200" b="1" smtClean="0">
                <a:solidFill>
                  <a:srgbClr val="C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Element</a:t>
            </a:r>
            <a:r>
              <a:rPr lang="en-AI" sz="32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” sifatida aniqlanadi.</a:t>
            </a:r>
          </a:p>
        </p:txBody>
      </p:sp>
    </p:spTree>
    <p:extLst>
      <p:ext uri="{BB962C8B-B14F-4D97-AF65-F5344CB8AC3E}">
        <p14:creationId xmlns:p14="http://schemas.microsoft.com/office/powerpoint/2010/main" val="413884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Прямоугольник 1"/>
          <p:cNvSpPr>
            <a:spLocks noChangeArrowheads="1"/>
          </p:cNvSpPr>
          <p:nvPr/>
        </p:nvSpPr>
        <p:spPr bwMode="auto">
          <a:xfrm>
            <a:off x="2617919" y="173624"/>
            <a:ext cx="6634381" cy="646331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AI" altLang="ru-RU" sz="3600" b="1" smtClean="0">
                <a:solidFill>
                  <a:prstClr val="white"/>
                </a:solidFill>
                <a:latin typeface="Garamond" panose="02020404030301010803"/>
              </a:rPr>
              <a:t>“Element”ni tanlab olish usullari</a:t>
            </a:r>
            <a:endParaRPr kumimoji="0" lang="en-US" altLang="ru-RU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sym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79896" y="1258518"/>
            <a:ext cx="10431235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HTML elementlarini bir necha usullar bilan tanlab olish mumkin. </a:t>
            </a:r>
            <a:r>
              <a:rPr lang="en-US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E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ng keng qo’llaniladigan usullarga quyidagilarni aytish mumkin:</a:t>
            </a:r>
          </a:p>
          <a:p>
            <a:pPr marL="57150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getElementByID(“teg idisi”);</a:t>
            </a:r>
          </a:p>
          <a:p>
            <a:pPr marL="57150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getElementsByName(“teg ‘name’i qiymati”);</a:t>
            </a:r>
            <a:endParaRPr lang="en-AI" sz="2800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getElementsByClassName(“</a:t>
            </a:r>
            <a:r>
              <a:rPr lang="en-AI" sz="28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teg 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‘class’i qiymati”);</a:t>
            </a:r>
            <a:endParaRPr lang="en-AI" sz="2800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getElementsByTagName(“teg nomi”);</a:t>
            </a:r>
            <a:endParaRPr lang="en-AI" sz="2800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querySelector(“css selectorlari”);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AI" sz="2800" smtClean="0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getElementByID</a:t>
            </a:r>
            <a:r>
              <a:rPr lang="en-AI" sz="28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(“teg idisi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”) da va querySelector</a:t>
            </a:r>
            <a:r>
              <a:rPr lang="en-AI" sz="280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(“css selectorlari</a:t>
            </a: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”) da</a:t>
            </a:r>
            <a:endParaRPr lang="en-AI" sz="2800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AI" sz="2800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t>bitta elament qaytaradi, qolganlarida massiv qaytaradi.</a:t>
            </a:r>
            <a:endParaRPr lang="en-AI" sz="2800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AI" sz="2800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9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Прямоугольник 1"/>
          <p:cNvSpPr>
            <a:spLocks noChangeArrowheads="1"/>
          </p:cNvSpPr>
          <p:nvPr/>
        </p:nvSpPr>
        <p:spPr bwMode="auto">
          <a:xfrm>
            <a:off x="2617919" y="173624"/>
            <a:ext cx="6634381" cy="646331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AI" altLang="ru-RU" sz="3600" b="1" smtClean="0">
                <a:solidFill>
                  <a:prstClr val="white"/>
                </a:solidFill>
                <a:latin typeface="Garamond" panose="02020404030301010803"/>
              </a:rPr>
              <a:t>“Element”ni tanlab olish usullari</a:t>
            </a:r>
            <a:endParaRPr kumimoji="0" lang="en-US" altLang="ru-RU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sym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69345" y="1030784"/>
            <a:ext cx="10886533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I" sz="2800" smtClean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pt-BR" sz="280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800">
                <a:solidFill>
                  <a:srgbClr val="000000"/>
                </a:solidFill>
                <a:latin typeface="Consolas" panose="020B0609020204030204" pitchFamily="49" charset="0"/>
              </a:rPr>
              <a:t>a = document.getElementsByTagName(</a:t>
            </a:r>
            <a:r>
              <a:rPr lang="pt-BR" sz="2800">
                <a:solidFill>
                  <a:srgbClr val="A31515"/>
                </a:solidFill>
                <a:latin typeface="Consolas" panose="020B0609020204030204" pitchFamily="49" charset="0"/>
              </a:rPr>
              <a:t>"h3"</a:t>
            </a:r>
            <a:r>
              <a:rPr lang="pt-BR" sz="28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pt-BR" sz="2800" smtClean="0">
                <a:solidFill>
                  <a:srgbClr val="000000"/>
                </a:solidFill>
                <a:latin typeface="Consolas" panose="020B0609020204030204" pitchFamily="49" charset="0"/>
              </a:rPr>
              <a:t>alert(a[</a:t>
            </a:r>
            <a:r>
              <a:rPr lang="pt-BR" sz="2800" smtClean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pt-BR" sz="2800">
                <a:solidFill>
                  <a:srgbClr val="000000"/>
                </a:solidFill>
                <a:latin typeface="Consolas" panose="020B0609020204030204" pitchFamily="49" charset="0"/>
              </a:rPr>
              <a:t>].innerHTML)</a:t>
            </a:r>
            <a:endParaRPr lang="pt-BR" sz="28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69344" y="2904107"/>
            <a:ext cx="10886533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AI" sz="2800" smtClean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80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>
                <a:solidFill>
                  <a:srgbClr val="000000"/>
                </a:solidFill>
                <a:latin typeface="Consolas" panose="020B0609020204030204" pitchFamily="49" charset="0"/>
              </a:rPr>
              <a:t>a = document.querySelector(</a:t>
            </a:r>
            <a:r>
              <a:rPr lang="en-US" sz="2800">
                <a:solidFill>
                  <a:srgbClr val="A31515"/>
                </a:solidFill>
                <a:latin typeface="Consolas" panose="020B0609020204030204" pitchFamily="49" charset="0"/>
              </a:rPr>
              <a:t>'#bir'</a:t>
            </a:r>
            <a:r>
              <a:rPr lang="en-US" sz="28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800">
                <a:solidFill>
                  <a:srgbClr val="000000"/>
                </a:solidFill>
                <a:latin typeface="Consolas" panose="020B0609020204030204" pitchFamily="49" charset="0"/>
              </a:rPr>
              <a:t>        alert(a.innerHTML)</a:t>
            </a:r>
            <a:endParaRPr lang="en-US" sz="28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69345" y="4398412"/>
            <a:ext cx="10886533" cy="107721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3200">
                <a:solidFill>
                  <a:srgbClr val="000000"/>
                </a:solidFill>
                <a:latin typeface="Consolas" panose="020B0609020204030204" pitchFamily="49" charset="0"/>
              </a:rPr>
              <a:t> a = document.querySelectorAll(</a:t>
            </a:r>
            <a:r>
              <a:rPr lang="en-US" sz="3200">
                <a:solidFill>
                  <a:srgbClr val="A31515"/>
                </a:solidFill>
                <a:latin typeface="Consolas" panose="020B0609020204030204" pitchFamily="49" charset="0"/>
              </a:rPr>
              <a:t>'p'</a:t>
            </a:r>
            <a:r>
              <a:rPr lang="en-US" sz="32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3200">
                <a:solidFill>
                  <a:srgbClr val="000000"/>
                </a:solidFill>
                <a:latin typeface="Consolas" panose="020B0609020204030204" pitchFamily="49" charset="0"/>
              </a:rPr>
              <a:t>    a[</a:t>
            </a:r>
            <a:r>
              <a:rPr lang="en-US" sz="32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3200">
                <a:solidFill>
                  <a:srgbClr val="000000"/>
                </a:solidFill>
                <a:latin typeface="Consolas" panose="020B0609020204030204" pitchFamily="49" charset="0"/>
              </a:rPr>
              <a:t>].style.backgroundColor = </a:t>
            </a:r>
            <a:r>
              <a:rPr lang="en-US" sz="320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n-US" sz="32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3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035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Прямоугольник 1"/>
          <p:cNvSpPr>
            <a:spLocks noChangeArrowheads="1"/>
          </p:cNvSpPr>
          <p:nvPr/>
        </p:nvSpPr>
        <p:spPr bwMode="auto">
          <a:xfrm>
            <a:off x="2979015" y="173624"/>
            <a:ext cx="5912196" cy="646331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AI" altLang="ru-RU" sz="3600" b="1" smtClean="0">
                <a:solidFill>
                  <a:prstClr val="white"/>
                </a:solidFill>
                <a:latin typeface="Garamond" panose="02020404030301010803"/>
              </a:rPr>
              <a:t>“Element” atributlarini olish</a:t>
            </a:r>
            <a:endParaRPr kumimoji="0" lang="en-US" altLang="ru-RU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sym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23936" y="962545"/>
            <a:ext cx="10886533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531813" algn="just"/>
            <a:r>
              <a:rPr lang="en-US" sz="2000" smtClean="0">
                <a:solidFill>
                  <a:srgbClr val="0000FF"/>
                </a:solidFill>
                <a:latin typeface="Consolas" panose="020B0609020204030204" pitchFamily="49" charset="0"/>
              </a:rPr>
              <a:t>B</a:t>
            </a:r>
            <a:r>
              <a:rPr lang="en-AI" sz="2000" smtClean="0">
                <a:solidFill>
                  <a:srgbClr val="0000FF"/>
                </a:solidFill>
                <a:latin typeface="Consolas" panose="020B0609020204030204" pitchFamily="49" charset="0"/>
              </a:rPr>
              <a:t>iror tegning atributlarini olish uchun tanlangan elementga </a:t>
            </a:r>
            <a:r>
              <a:rPr lang="en-AI" sz="2000" b="1" smtClean="0">
                <a:solidFill>
                  <a:srgbClr val="00B050"/>
                </a:solidFill>
                <a:latin typeface="Consolas" panose="020B0609020204030204" pitchFamily="49" charset="0"/>
              </a:rPr>
              <a:t>attributes</a:t>
            </a:r>
            <a:r>
              <a:rPr lang="en-AI" sz="2000" smtClean="0">
                <a:solidFill>
                  <a:srgbClr val="0000FF"/>
                </a:solidFill>
                <a:latin typeface="Consolas" panose="020B0609020204030204" pitchFamily="49" charset="0"/>
              </a:rPr>
              <a:t> xususiyati qo’llaniladi. </a:t>
            </a:r>
            <a:r>
              <a:rPr lang="en-US" sz="2000" smtClean="0">
                <a:solidFill>
                  <a:srgbClr val="0000FF"/>
                </a:solidFill>
                <a:latin typeface="Consolas" panose="020B0609020204030204" pitchFamily="49" charset="0"/>
              </a:rPr>
              <a:t>M</a:t>
            </a:r>
            <a:r>
              <a:rPr lang="en-AI" sz="2000" smtClean="0">
                <a:solidFill>
                  <a:srgbClr val="0000FF"/>
                </a:solidFill>
                <a:latin typeface="Consolas" panose="020B0609020204030204" pitchFamily="49" charset="0"/>
              </a:rPr>
              <a:t>a’lumki teg atributlari ko’p bo’lganligi uchun unga massiv kabi murojat qilinadi. </a:t>
            </a:r>
            <a:r>
              <a:rPr lang="en-AI" sz="2000" smtClean="0">
                <a:solidFill>
                  <a:schemeClr val="tx1"/>
                </a:solidFill>
                <a:latin typeface="Consolas" panose="020B0609020204030204" pitchFamily="49" charset="0"/>
              </a:rPr>
              <a:t>Atribut nomini olish uchun </a:t>
            </a:r>
            <a:r>
              <a:rPr lang="en-AI" sz="2000" b="1" smtClean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AI" sz="2000" smtClean="0">
                <a:solidFill>
                  <a:schemeClr val="tx1"/>
                </a:solidFill>
                <a:latin typeface="Consolas" panose="020B0609020204030204" pitchFamily="49" charset="0"/>
              </a:rPr>
              <a:t>, qiymatini olish uchun </a:t>
            </a:r>
            <a:r>
              <a:rPr lang="en-AI" sz="2000" b="1" smtClean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AI" sz="2000" smtClean="0">
                <a:solidFill>
                  <a:schemeClr val="tx1"/>
                </a:solidFill>
                <a:latin typeface="Consolas" panose="020B0609020204030204" pitchFamily="49" charset="0"/>
              </a:rPr>
              <a:t> xususiyatlaridan foydalaniladi</a:t>
            </a:r>
            <a:endParaRPr lang="pt-BR" sz="20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64024" y="2564776"/>
            <a:ext cx="11218460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"bir"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style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"text-indent: 10cm;"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Bu birinchi (nolinchi) paragraf elementi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&lt;/p</a:t>
            </a:r>
            <a:r>
              <a:rPr lang="en-US" sz="200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AI" sz="200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CD3131"/>
                </a:solidFill>
                <a:latin typeface="Consolas" panose="020B0609020204030204" pitchFamily="49" charset="0"/>
              </a:rPr>
              <a:t>align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"center"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Bu ikkinchi (birinchi) paragraf elementi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script&gt;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  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a = document.querySelectorAll(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'p'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 alert(a[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].attributes[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].name +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+ a[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].attributes[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].value);</a:t>
            </a:r>
          </a:p>
          <a:p>
            <a:r>
              <a:rPr lang="en-AI" sz="200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smtClean="0">
                <a:solidFill>
                  <a:srgbClr val="800000"/>
                </a:solidFill>
                <a:latin typeface="Consolas" panose="020B0609020204030204" pitchFamily="49" charset="0"/>
              </a:rPr>
              <a:t>/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script&gt;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042" y="4660005"/>
            <a:ext cx="5803244" cy="18860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753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Прямоугольник 1"/>
          <p:cNvSpPr>
            <a:spLocks noChangeArrowheads="1"/>
          </p:cNvSpPr>
          <p:nvPr/>
        </p:nvSpPr>
        <p:spPr bwMode="auto">
          <a:xfrm>
            <a:off x="2979015" y="173624"/>
            <a:ext cx="5912196" cy="646331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AI" altLang="ru-RU" sz="3600" b="1" smtClean="0">
                <a:solidFill>
                  <a:prstClr val="white"/>
                </a:solidFill>
                <a:latin typeface="Garamond" panose="02020404030301010803"/>
              </a:rPr>
              <a:t>“Element” atributlarini olish</a:t>
            </a:r>
            <a:endParaRPr kumimoji="0" lang="en-US" altLang="ru-RU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sym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23936" y="962545"/>
            <a:ext cx="10886533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531813" algn="just"/>
            <a:r>
              <a:rPr lang="en-US" sz="2000" smtClean="0">
                <a:solidFill>
                  <a:srgbClr val="0000FF"/>
                </a:solidFill>
                <a:latin typeface="Consolas" panose="020B0609020204030204" pitchFamily="49" charset="0"/>
              </a:rPr>
              <a:t>B</a:t>
            </a:r>
            <a:r>
              <a:rPr lang="en-AI" sz="2000" smtClean="0">
                <a:solidFill>
                  <a:srgbClr val="0000FF"/>
                </a:solidFill>
                <a:latin typeface="Consolas" panose="020B0609020204030204" pitchFamily="49" charset="0"/>
              </a:rPr>
              <a:t>iror tegning atributlarini olish uchun tanlangan elementga </a:t>
            </a:r>
            <a:r>
              <a:rPr lang="en-AI" sz="2000" b="1" smtClean="0">
                <a:solidFill>
                  <a:srgbClr val="00B050"/>
                </a:solidFill>
                <a:latin typeface="Consolas" panose="020B0609020204030204" pitchFamily="49" charset="0"/>
              </a:rPr>
              <a:t>attributes</a:t>
            </a:r>
            <a:r>
              <a:rPr lang="en-AI" sz="2000" smtClean="0">
                <a:solidFill>
                  <a:srgbClr val="0000FF"/>
                </a:solidFill>
                <a:latin typeface="Consolas" panose="020B0609020204030204" pitchFamily="49" charset="0"/>
              </a:rPr>
              <a:t> xususiyati qo’llaniladi. </a:t>
            </a:r>
            <a:r>
              <a:rPr lang="en-US" sz="2000" smtClean="0">
                <a:solidFill>
                  <a:srgbClr val="0000FF"/>
                </a:solidFill>
                <a:latin typeface="Consolas" panose="020B0609020204030204" pitchFamily="49" charset="0"/>
              </a:rPr>
              <a:t>M</a:t>
            </a:r>
            <a:r>
              <a:rPr lang="en-AI" sz="2000" smtClean="0">
                <a:solidFill>
                  <a:srgbClr val="0000FF"/>
                </a:solidFill>
                <a:latin typeface="Consolas" panose="020B0609020204030204" pitchFamily="49" charset="0"/>
              </a:rPr>
              <a:t>a’lumki teg atributlari ko’p bo’lganligi uchun unga massiv kabi murojat qilinadi. </a:t>
            </a:r>
            <a:r>
              <a:rPr lang="en-AI" sz="2000" smtClean="0">
                <a:solidFill>
                  <a:schemeClr val="tx1"/>
                </a:solidFill>
                <a:latin typeface="Consolas" panose="020B0609020204030204" pitchFamily="49" charset="0"/>
              </a:rPr>
              <a:t>Atribut nomini olish uchun </a:t>
            </a:r>
            <a:r>
              <a:rPr lang="en-AI" sz="2000" b="1" smtClean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AI" sz="2000" smtClean="0">
                <a:solidFill>
                  <a:schemeClr val="tx1"/>
                </a:solidFill>
                <a:latin typeface="Consolas" panose="020B0609020204030204" pitchFamily="49" charset="0"/>
              </a:rPr>
              <a:t>, qiymatini olish uchun </a:t>
            </a:r>
            <a:r>
              <a:rPr lang="en-AI" sz="2000" b="1" smtClean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AI" sz="2000" smtClean="0">
                <a:solidFill>
                  <a:schemeClr val="tx1"/>
                </a:solidFill>
                <a:latin typeface="Consolas" panose="020B0609020204030204" pitchFamily="49" charset="0"/>
              </a:rPr>
              <a:t> xususiyatlaridan foydalaniladi</a:t>
            </a:r>
            <a:endParaRPr lang="pt-BR" sz="20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64024" y="2564776"/>
            <a:ext cx="11218460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"bir"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style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"text-indent: 10cm;"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Bu birinchi (nolinchi) paragraf elementi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&lt;/p</a:t>
            </a:r>
            <a:r>
              <a:rPr lang="en-US" sz="200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AI" sz="200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CD3131"/>
                </a:solidFill>
                <a:latin typeface="Consolas" panose="020B0609020204030204" pitchFamily="49" charset="0"/>
              </a:rPr>
              <a:t>align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"center"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Bu ikkinchi (birinchi) paragraf elementi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script&gt;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  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a = document.querySelectorAll(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'p'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 alert(a[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].attributes[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].name +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+ a[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].attributes[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].value);</a:t>
            </a:r>
          </a:p>
          <a:p>
            <a:r>
              <a:rPr lang="en-AI" sz="200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smtClean="0">
                <a:solidFill>
                  <a:srgbClr val="800000"/>
                </a:solidFill>
                <a:latin typeface="Consolas" panose="020B0609020204030204" pitchFamily="49" charset="0"/>
              </a:rPr>
              <a:t>/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script&gt;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042" y="4660005"/>
            <a:ext cx="5803244" cy="18860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71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Прямоугольник 1"/>
          <p:cNvSpPr>
            <a:spLocks noChangeArrowheads="1"/>
          </p:cNvSpPr>
          <p:nvPr/>
        </p:nvSpPr>
        <p:spPr bwMode="auto">
          <a:xfrm>
            <a:off x="757304" y="337400"/>
            <a:ext cx="10601299" cy="646331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ru-RU" sz="3600" b="1" smtClean="0">
                <a:solidFill>
                  <a:prstClr val="white"/>
                </a:solidFill>
                <a:latin typeface="Garamond" panose="02020404030301010803"/>
              </a:rPr>
              <a:t>T</a:t>
            </a:r>
            <a:r>
              <a:rPr lang="en-AI" altLang="ru-RU" sz="3600" b="1" smtClean="0">
                <a:solidFill>
                  <a:prstClr val="white"/>
                </a:solidFill>
                <a:latin typeface="Garamond" panose="02020404030301010803"/>
              </a:rPr>
              <a:t>eglar orasidagi matni olish va u yerga matn qo’shish</a:t>
            </a:r>
            <a:endParaRPr kumimoji="0" lang="en-US" altLang="ru-RU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sym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23936" y="1412929"/>
            <a:ext cx="10886533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531813" algn="just"/>
            <a:r>
              <a:rPr lang="en-AI" sz="2400">
                <a:solidFill>
                  <a:srgbClr val="0000FF"/>
                </a:solidFill>
                <a:latin typeface="Consolas" panose="020B0609020204030204" pitchFamily="49" charset="0"/>
              </a:rPr>
              <a:t>B</a:t>
            </a:r>
            <a:r>
              <a:rPr lang="en-AI" sz="2400" smtClean="0">
                <a:solidFill>
                  <a:srgbClr val="0000FF"/>
                </a:solidFill>
                <a:latin typeface="Consolas" panose="020B0609020204030204" pitchFamily="49" charset="0"/>
              </a:rPr>
              <a:t>iror teg asosidagi matnni olish uchun </a:t>
            </a:r>
            <a:r>
              <a:rPr lang="en-AI" sz="2400" b="1" smtClean="0">
                <a:solidFill>
                  <a:srgbClr val="FF0000"/>
                </a:solidFill>
                <a:latin typeface="Consolas" panose="020B0609020204030204" pitchFamily="49" charset="0"/>
              </a:rPr>
              <a:t>innerText</a:t>
            </a:r>
            <a:r>
              <a:rPr lang="en-AI" sz="2400" smtClean="0">
                <a:solidFill>
                  <a:srgbClr val="0000FF"/>
                </a:solidFill>
                <a:latin typeface="Consolas" panose="020B0609020204030204" pitchFamily="49" charset="0"/>
              </a:rPr>
              <a:t> xususiyatidan, matn qo’shish uchun </a:t>
            </a:r>
            <a:r>
              <a:rPr lang="en-AI" sz="2400" b="1" smtClean="0">
                <a:solidFill>
                  <a:srgbClr val="FF0000"/>
                </a:solidFill>
                <a:latin typeface="Consolas" panose="020B0609020204030204" pitchFamily="49" charset="0"/>
              </a:rPr>
              <a:t>textContent</a:t>
            </a:r>
            <a:r>
              <a:rPr lang="en-AI" sz="2400" smtClean="0">
                <a:solidFill>
                  <a:srgbClr val="0000FF"/>
                </a:solidFill>
                <a:latin typeface="Consolas" panose="020B0609020204030204" pitchFamily="49" charset="0"/>
              </a:rPr>
              <a:t> xususiyatidan foydalanish mumkin.</a:t>
            </a:r>
            <a:endParaRPr lang="pt-BR" sz="2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34472" y="2882919"/>
            <a:ext cx="10886533" cy="304698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rgbClr val="E50000"/>
                </a:solidFill>
                <a:latin typeface="Consolas" panose="020B0609020204030204" pitchFamily="49" charset="0"/>
              </a:rPr>
              <a:t>id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</a:rPr>
              <a:t>"bir"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rgbClr val="E50000"/>
                </a:solidFill>
                <a:latin typeface="Consolas" panose="020B0609020204030204" pitchFamily="49" charset="0"/>
              </a:rPr>
              <a:t>style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</a:rPr>
              <a:t>"text-indent: 10cm;"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rgbClr val="E50000"/>
                </a:solidFill>
                <a:latin typeface="Consolas" panose="020B0609020204030204" pitchFamily="49" charset="0"/>
              </a:rPr>
              <a:t>class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</a:rPr>
              <a:t>"soha"</a:t>
            </a:r>
            <a:r>
              <a:rPr lang="en-US" sz="240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Bu birinchi (nolinchi) paragraf elementi</a:t>
            </a:r>
            <a:r>
              <a:rPr lang="en-US" sz="240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US" sz="2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rgbClr val="CD3131"/>
                </a:solidFill>
                <a:latin typeface="Consolas" panose="020B0609020204030204" pitchFamily="49" charset="0"/>
              </a:rPr>
              <a:t>align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</a:rPr>
              <a:t>"center"</a:t>
            </a:r>
            <a:r>
              <a:rPr lang="en-US" sz="240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Bu ikkinchi (birinchi) paragraf elementi</a:t>
            </a:r>
            <a:r>
              <a:rPr lang="en-US" sz="240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US" sz="2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>
                <a:solidFill>
                  <a:srgbClr val="800000"/>
                </a:solidFill>
                <a:latin typeface="Consolas" panose="020B0609020204030204" pitchFamily="49" charset="0"/>
              </a:rPr>
              <a:t>script&gt;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240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a = document.getElementsByClassName(</a:t>
            </a:r>
            <a:r>
              <a:rPr lang="en-US" sz="2400">
                <a:solidFill>
                  <a:srgbClr val="A31515"/>
                </a:solidFill>
                <a:latin typeface="Consolas" panose="020B0609020204030204" pitchFamily="49" charset="0"/>
              </a:rPr>
              <a:t>"soha"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sz="240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b = document.querySelectorAll(</a:t>
            </a:r>
            <a:r>
              <a:rPr lang="en-US" sz="2400">
                <a:solidFill>
                  <a:srgbClr val="A31515"/>
                </a:solidFill>
                <a:latin typeface="Consolas" panose="020B0609020204030204" pitchFamily="49" charset="0"/>
              </a:rPr>
              <a:t>'p'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  b[</a:t>
            </a:r>
            <a:r>
              <a:rPr lang="en-US" sz="24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].textContent = a[</a:t>
            </a:r>
            <a:r>
              <a:rPr lang="en-US" sz="24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].innerText;</a:t>
            </a:r>
          </a:p>
          <a:p>
            <a:r>
              <a:rPr lang="en-US" sz="2400" smtClean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>
                <a:solidFill>
                  <a:srgbClr val="800000"/>
                </a:solidFill>
                <a:latin typeface="Consolas" panose="020B0609020204030204" pitchFamily="49" charset="0"/>
              </a:rPr>
              <a:t>script&gt;</a:t>
            </a:r>
            <a:endParaRPr lang="en-US" sz="2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80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Прямоугольник 1"/>
          <p:cNvSpPr>
            <a:spLocks noChangeArrowheads="1"/>
          </p:cNvSpPr>
          <p:nvPr/>
        </p:nvSpPr>
        <p:spPr bwMode="auto">
          <a:xfrm>
            <a:off x="4327079" y="173624"/>
            <a:ext cx="3216073" cy="646331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AI" altLang="ru-RU" sz="3600" b="1" smtClean="0">
                <a:solidFill>
                  <a:prstClr val="white"/>
                </a:solidFill>
                <a:latin typeface="Garamond" panose="02020404030301010803"/>
              </a:rPr>
              <a:t>Captcha yasash</a:t>
            </a:r>
            <a:endParaRPr kumimoji="0" lang="en-US" altLang="ru-RU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sym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87551" y="1079395"/>
            <a:ext cx="10795379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&lt;h1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style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"text-align: center;"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Captcha yasash 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"bir"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&gt;&lt;/p&gt;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&lt;input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type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"text"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"darcha"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value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""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&lt;input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type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"button"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value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"tekshirish"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onclick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"aktivlashtir()"&gt;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type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"button"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disabled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"uch"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Nofoal tugma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&lt;/button&gt;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&lt;h4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E50000"/>
                </a:solidFill>
                <a:latin typeface="Consolas" panose="020B0609020204030204" pitchFamily="49" charset="0"/>
              </a:rPr>
              <a:t>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"ikki"</a:t>
            </a:r>
            <a:r>
              <a:rPr lang="en-US" sz="2000">
                <a:solidFill>
                  <a:srgbClr val="800000"/>
                </a:solidFill>
                <a:latin typeface="Consolas" panose="020B0609020204030204" pitchFamily="49" charset="0"/>
              </a:rPr>
              <a:t>&gt;&lt;/h4&gt;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87551" y="3154865"/>
            <a:ext cx="10795379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x = Math.round(Math.random() * 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AI" smtClean="0">
                <a:solidFill>
                  <a:srgbClr val="0000FF"/>
                </a:solidFill>
                <a:latin typeface="Consolas" panose="020B0609020204030204" pitchFamily="49" charset="0"/>
              </a:rPr>
              <a:t>v</a:t>
            </a:r>
            <a:r>
              <a:rPr lang="en-US" smtClean="0">
                <a:solidFill>
                  <a:srgbClr val="0000FF"/>
                </a:solidFill>
                <a:latin typeface="Consolas" panose="020B0609020204030204" pitchFamily="49" charset="0"/>
              </a:rPr>
              <a:t>ar</a:t>
            </a:r>
            <a:r>
              <a:rPr lang="en-US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y = Math.round(Math.random() * 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amal = Math.round(Math.random() * 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 % 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natija;</a:t>
            </a:r>
          </a:p>
          <a:p>
            <a:r>
              <a:rPr lang="en-US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a = document.getElementById(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"bir"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mtClean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smtClean="0">
                <a:solidFill>
                  <a:srgbClr val="000000"/>
                </a:solidFill>
                <a:latin typeface="Consolas" panose="020B0609020204030204" pitchFamily="49" charset="0"/>
              </a:rPr>
              <a:t>(amal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:     natija = x + y; a.textContent = x +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" + 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+ y +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" =? 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:     natija = x - y; a.textContent = x +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" - 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+ y +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" =? 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:    natija = x * y; a.textContent = x +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" * 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+ y +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" =? 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37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Прямоугольник 1"/>
          <p:cNvSpPr>
            <a:spLocks noChangeArrowheads="1"/>
          </p:cNvSpPr>
          <p:nvPr/>
        </p:nvSpPr>
        <p:spPr bwMode="auto">
          <a:xfrm>
            <a:off x="4327079" y="173624"/>
            <a:ext cx="3216073" cy="646331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  <p:txBody>
          <a:bodyPr wrap="none">
            <a:spAutoFit/>
          </a:bodyPr>
          <a:lstStyle>
            <a:lvl1pPr indent="7112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AI" altLang="ru-RU" sz="3600" b="1" smtClean="0">
                <a:solidFill>
                  <a:prstClr val="white"/>
                </a:solidFill>
                <a:latin typeface="Garamond" panose="02020404030301010803"/>
              </a:rPr>
              <a:t>Captcha yasash</a:t>
            </a:r>
            <a:endParaRPr kumimoji="0" lang="en-US" altLang="ru-RU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sym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60254" y="1026826"/>
            <a:ext cx="10795379" cy="24622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 aktivlashtir(){</a:t>
            </a:r>
          </a:p>
          <a:p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2200" smtClean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20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b = document.getElementById(</a:t>
            </a:r>
            <a:r>
              <a:rPr lang="en-US" sz="2200">
                <a:solidFill>
                  <a:srgbClr val="A31515"/>
                </a:solidFill>
                <a:latin typeface="Consolas" panose="020B0609020204030204" pitchFamily="49" charset="0"/>
              </a:rPr>
              <a:t>"darcha"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).value;</a:t>
            </a:r>
          </a:p>
          <a:p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2200" smtClean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(natija == b) {</a:t>
            </a:r>
          </a:p>
          <a:p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         document.getElementById(</a:t>
            </a:r>
            <a:r>
              <a:rPr lang="en-US" sz="2200">
                <a:solidFill>
                  <a:srgbClr val="A31515"/>
                </a:solidFill>
                <a:latin typeface="Consolas" panose="020B0609020204030204" pitchFamily="49" charset="0"/>
              </a:rPr>
              <a:t>"uch"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).disabled = </a:t>
            </a:r>
            <a:r>
              <a:rPr lang="en-US" sz="220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         document.getElementById(</a:t>
            </a:r>
            <a:r>
              <a:rPr lang="en-US" sz="2200">
                <a:solidFill>
                  <a:srgbClr val="A31515"/>
                </a:solidFill>
                <a:latin typeface="Consolas" panose="020B0609020204030204" pitchFamily="49" charset="0"/>
              </a:rPr>
              <a:t>"uch"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).textContent = </a:t>
            </a:r>
            <a:r>
              <a:rPr lang="en-US" sz="2200">
                <a:solidFill>
                  <a:srgbClr val="A31515"/>
                </a:solidFill>
                <a:latin typeface="Consolas" panose="020B0609020204030204" pitchFamily="49" charset="0"/>
              </a:rPr>
              <a:t>"Faol tugma"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  <a:r>
              <a:rPr lang="en-US" sz="220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220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858" y="4135272"/>
            <a:ext cx="4924712" cy="13351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638" y="4135272"/>
            <a:ext cx="4689027" cy="13351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4778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Натуральные материалы">
  <a:themeElements>
    <a:clrScheme name="Другая 12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FFFFFF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17406D"/>
      </a:hlink>
      <a:folHlink>
        <a:srgbClr val="85DFD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2061</TotalTime>
  <Words>1506</Words>
  <Application>Microsoft Office PowerPoint</Application>
  <PresentationFormat>Широкоэкранный</PresentationFormat>
  <Paragraphs>123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Garamond</vt:lpstr>
      <vt:lpstr>Wingdings</vt:lpstr>
      <vt:lpstr>Тема Office</vt:lpstr>
      <vt:lpstr>Натуральные материалы</vt:lpstr>
      <vt:lpstr>JavaScriptda  web sahifa ob’ektlari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Acer</dc:creator>
  <cp:lastModifiedBy>Acer</cp:lastModifiedBy>
  <cp:revision>125</cp:revision>
  <dcterms:created xsi:type="dcterms:W3CDTF">2024-03-17T15:59:19Z</dcterms:created>
  <dcterms:modified xsi:type="dcterms:W3CDTF">2024-09-08T17:05:12Z</dcterms:modified>
</cp:coreProperties>
</file>