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7"/>
  </p:notesMasterIdLst>
  <p:sldIdLst>
    <p:sldId id="256" r:id="rId2"/>
    <p:sldId id="293" r:id="rId3"/>
    <p:sldId id="259" r:id="rId4"/>
    <p:sldId id="301" r:id="rId5"/>
    <p:sldId id="260" r:id="rId6"/>
    <p:sldId id="261" r:id="rId7"/>
    <p:sldId id="262" r:id="rId8"/>
    <p:sldId id="263" r:id="rId9"/>
    <p:sldId id="264" r:id="rId10"/>
    <p:sldId id="296" r:id="rId11"/>
    <p:sldId id="265" r:id="rId12"/>
    <p:sldId id="266" r:id="rId13"/>
    <p:sldId id="267" r:id="rId14"/>
    <p:sldId id="268" r:id="rId15"/>
    <p:sldId id="269" r:id="rId16"/>
    <p:sldId id="270" r:id="rId17"/>
    <p:sldId id="302" r:id="rId18"/>
    <p:sldId id="271" r:id="rId19"/>
    <p:sldId id="303" r:id="rId20"/>
    <p:sldId id="304" r:id="rId21"/>
    <p:sldId id="305" r:id="rId22"/>
    <p:sldId id="306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7" r:id="rId38"/>
    <p:sldId id="298" r:id="rId39"/>
    <p:sldId id="299" r:id="rId40"/>
    <p:sldId id="288" r:id="rId41"/>
    <p:sldId id="289" r:id="rId42"/>
    <p:sldId id="290" r:id="rId43"/>
    <p:sldId id="291" r:id="rId44"/>
    <p:sldId id="292" r:id="rId45"/>
    <p:sldId id="307" r:id="rId46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48"/>
      <p:bold r:id="rId49"/>
      <p:italic r:id="rId50"/>
      <p:boldItalic r:id="rId51"/>
    </p:embeddedFont>
    <p:embeddedFont>
      <p:font typeface="Lato" panose="020F0502020204030203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3C21690-C7FE-411D-9C6B-983AA211A388}">
          <p14:sldIdLst>
            <p14:sldId id="256"/>
            <p14:sldId id="293"/>
          </p14:sldIdLst>
        </p14:section>
        <p14:section name="birinchi jadval" id="{AB130188-EDEB-4DFB-9B82-2C2B01E88F5F}">
          <p14:sldIdLst>
            <p14:sldId id="259"/>
            <p14:sldId id="301"/>
            <p14:sldId id="260"/>
            <p14:sldId id="261"/>
            <p14:sldId id="262"/>
            <p14:sldId id="263"/>
            <p14:sldId id="264"/>
            <p14:sldId id="296"/>
            <p14:sldId id="265"/>
          </p14:sldIdLst>
        </p14:section>
        <p14:section name="ikkinchi jadval" id="{CABD39C7-8C68-4A73-BFFC-2FECC54A1FC6}">
          <p14:sldIdLst>
            <p14:sldId id="266"/>
            <p14:sldId id="267"/>
            <p14:sldId id="268"/>
            <p14:sldId id="269"/>
            <p14:sldId id="270"/>
            <p14:sldId id="302"/>
            <p14:sldId id="271"/>
            <p14:sldId id="303"/>
            <p14:sldId id="304"/>
            <p14:sldId id="305"/>
            <p14:sldId id="306"/>
          </p14:sldIdLst>
        </p14:section>
        <p14:section name="uchinchi jadval" id="{9FA6E05B-D662-4AF0-A15A-54BD4C159A70}">
          <p14:sldIdLst>
            <p14:sldId id="273"/>
            <p14:sldId id="274"/>
            <p14:sldId id="275"/>
            <p14:sldId id="276"/>
          </p14:sldIdLst>
        </p14:section>
        <p14:section name="to'rtinchi jadval" id="{345E648A-6B5B-4BB3-9D46-8A3EFA4B189F}">
          <p14:sldIdLst>
            <p14:sldId id="277"/>
            <p14:sldId id="278"/>
            <p14:sldId id="279"/>
          </p14:sldIdLst>
        </p14:section>
        <p14:section name="beshinchi jadval" id="{160CE37D-5E70-41DE-BC3E-78DDDA48C366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97"/>
            <p14:sldId id="298"/>
            <p14:sldId id="299"/>
          </p14:sldIdLst>
        </p14:section>
        <p14:section name="oltinchi jadval" id="{CAA26A08-21AD-4BE5-A26B-A9A382C9CD84}">
          <p14:sldIdLst>
            <p14:sldId id="288"/>
            <p14:sldId id="289"/>
            <p14:sldId id="290"/>
            <p14:sldId id="291"/>
            <p14:sldId id="292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3F6"/>
    <a:srgbClr val="695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a4d81ce1a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a4d81ce1a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c433ba77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c433ba77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c433ba77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c433ba77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c433ba77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c433ba77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c433ba77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c433ba77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c433ba77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c433ba77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c433ba77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c433ba77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094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c433ba77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c433ba77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a4d81ce1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a4d81ce1a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c433ba776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c433ba776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c433ba77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c433ba77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7c433ba776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7c433ba776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c433ba77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c433ba776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c433ba77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c433ba77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a4d81ce1a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a4d81ce1a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c433ba776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c433ba776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7c433ba776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7c433ba776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c433ba776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c433ba776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7a4d81ce1a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7a4d81ce1a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7c433ba776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7c433ba776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7c433ba776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7c433ba776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7a4d81ce1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7a4d81ce1a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7c433ba776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7c433ba776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7c433ba776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7c433ba776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7c433ba776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7c433ba776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7c433ba776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7c433ba776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7c433ba776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7c433ba776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7c433ba776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7c433ba776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7c433ba776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7c433ba776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9114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7c433ba776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7c433ba776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5198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7c433ba776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7c433ba776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084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7c433ba776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7c433ba776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c433ba776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7c433ba776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7c433ba776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7c433ba776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7c433ba776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7c433ba776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7c433ba776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7c433ba776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0.xml"/><Relationship Id="rId5" Type="http://schemas.openxmlformats.org/officeDocument/2006/relationships/slide" Target="slide27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257133" y="1081260"/>
            <a:ext cx="5477692" cy="1815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sz="2100" dirty="0" err="1"/>
              <a:t>Oliy</a:t>
            </a:r>
            <a:r>
              <a:rPr lang="en-US" sz="2100" dirty="0"/>
              <a:t> </a:t>
            </a:r>
            <a:r>
              <a:rPr lang="en-US" sz="2100" dirty="0" err="1"/>
              <a:t>ta'lim</a:t>
            </a:r>
            <a:r>
              <a:rPr lang="en-US" sz="2100" dirty="0"/>
              <a:t> professor-</a:t>
            </a:r>
            <a:r>
              <a:rPr lang="en-US" sz="2100" dirty="0" err="1"/>
              <a:t>o‘qituvchilarining</a:t>
            </a:r>
            <a:r>
              <a:rPr lang="en-US" sz="2100" dirty="0"/>
              <a:t> </a:t>
            </a:r>
            <a:r>
              <a:rPr lang="en-US" sz="2100" dirty="0" err="1"/>
              <a:t>yuklamasini</a:t>
            </a:r>
            <a:r>
              <a:rPr lang="en-US" sz="2100" dirty="0"/>
              <a:t> </a:t>
            </a:r>
            <a:r>
              <a:rPr lang="en-US" sz="2100" dirty="0" err="1"/>
              <a:t>raqamlashtirish</a:t>
            </a:r>
            <a:r>
              <a:rPr lang="en-US" sz="2100" dirty="0"/>
              <a:t> </a:t>
            </a:r>
            <a:r>
              <a:rPr lang="en-US" sz="2100" dirty="0" err="1"/>
              <a:t>dasturi</a:t>
            </a:r>
            <a:endParaRPr sz="2100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846300" y="3637525"/>
            <a:ext cx="27084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Ilmiy rahbar: Prof Lutfillayev M.X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Ijrochi: Abdiyev L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2872950" y="4633800"/>
            <a:ext cx="339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Samarqand </a:t>
            </a:r>
            <a:r>
              <a:rPr lang="en" dirty="0" smtClean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2024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53512" y="705181"/>
            <a:ext cx="3457366" cy="1036928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 smtClean="0">
                <a:solidFill>
                  <a:schemeClr val="bg1"/>
                </a:solidFill>
              </a:rPr>
              <a:t>Universitetda talabalar soni, guruhlar soni, oqimlar soni, ta’lim tili, ta’lim turi va yunalishlar bo’yicha ma’lumotlar kiritish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>
            <a:hlinkClick r:id="rId2" action="ppaction://hlinksldjump"/>
          </p:cNvPr>
          <p:cNvSpPr/>
          <p:nvPr/>
        </p:nvSpPr>
        <p:spPr>
          <a:xfrm>
            <a:off x="5572054" y="698115"/>
            <a:ext cx="3457366" cy="100784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/>
              <a:t>Barcha yo’nalish ishchi o’quv rejalarini kiritish </a:t>
            </a:r>
            <a:r>
              <a:rPr lang="en" dirty="0" smtClean="0"/>
              <a:t>uchun tuzilma</a:t>
            </a:r>
            <a:endParaRPr lang="ru-RU" dirty="0"/>
          </a:p>
        </p:txBody>
      </p:sp>
      <p:sp>
        <p:nvSpPr>
          <p:cNvPr id="10" name="Скругленный прямоугольник 9">
            <a:hlinkClick r:id="rId3" action="ppaction://hlinksldjump"/>
          </p:cNvPr>
          <p:cNvSpPr/>
          <p:nvPr/>
        </p:nvSpPr>
        <p:spPr>
          <a:xfrm>
            <a:off x="2883363" y="1846636"/>
            <a:ext cx="3457366" cy="100784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/>
              <a:t>Ishchi o’quv reja</a:t>
            </a:r>
            <a:endParaRPr lang="ru-RU" dirty="0"/>
          </a:p>
        </p:txBody>
      </p:sp>
      <p:sp>
        <p:nvSpPr>
          <p:cNvPr id="11" name="Скругленный прямоугольник 10">
            <a:hlinkClick r:id="rId4" action="ppaction://hlinksldjump"/>
          </p:cNvPr>
          <p:cNvSpPr/>
          <p:nvPr/>
        </p:nvSpPr>
        <p:spPr>
          <a:xfrm>
            <a:off x="153512" y="2922852"/>
            <a:ext cx="3457366" cy="100784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/>
              <a:t>O’qituvchi yuklamasi uchun </a:t>
            </a:r>
            <a:r>
              <a:rPr lang="en" dirty="0" smtClean="0"/>
              <a:t>tuzilma</a:t>
            </a:r>
            <a:endParaRPr lang="ru-RU" dirty="0"/>
          </a:p>
        </p:txBody>
      </p:sp>
      <p:sp>
        <p:nvSpPr>
          <p:cNvPr id="12" name="Скругленный прямоугольник 11">
            <a:hlinkClick r:id="rId5" action="ppaction://hlinksldjump"/>
          </p:cNvPr>
          <p:cNvSpPr/>
          <p:nvPr/>
        </p:nvSpPr>
        <p:spPr>
          <a:xfrm>
            <a:off x="5572054" y="2922852"/>
            <a:ext cx="3457366" cy="1007842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dirty="0" smtClean="0"/>
          </a:p>
          <a:p>
            <a:pPr algn="ctr"/>
            <a:r>
              <a:rPr lang="en" dirty="0" smtClean="0"/>
              <a:t>Kafedra </a:t>
            </a:r>
            <a:r>
              <a:rPr lang="en" dirty="0"/>
              <a:t>o’qituvchilari unvoni, darajasi va asosiy yoki o’rindoshligi bo’yicha        </a:t>
            </a:r>
            <a:r>
              <a:rPr lang="en" dirty="0" smtClean="0">
                <a:solidFill>
                  <a:schemeClr val="bg1"/>
                </a:solidFill>
              </a:rPr>
              <a:t>kiritish</a:t>
            </a:r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/>
          </a:p>
        </p:txBody>
      </p:sp>
      <p:sp>
        <p:nvSpPr>
          <p:cNvPr id="13" name="Скругленный прямоугольник 12">
            <a:hlinkClick r:id="rId6" action="ppaction://hlinksldjump"/>
          </p:cNvPr>
          <p:cNvSpPr/>
          <p:nvPr/>
        </p:nvSpPr>
        <p:spPr>
          <a:xfrm>
            <a:off x="2883363" y="4049764"/>
            <a:ext cx="3457366" cy="100784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dirty="0"/>
              <a:t> O’qituvchi yuklamasi </a:t>
            </a:r>
            <a:endParaRPr lang="ru-RU" dirty="0"/>
          </a:p>
        </p:txBody>
      </p:sp>
      <p:cxnSp>
        <p:nvCxnSpPr>
          <p:cNvPr id="17" name="Соединительная линия уступом 16"/>
          <p:cNvCxnSpPr>
            <a:stCxn id="4" idx="2"/>
            <a:endCxn id="10" idx="1"/>
          </p:cNvCxnSpPr>
          <p:nvPr/>
        </p:nvCxnSpPr>
        <p:spPr>
          <a:xfrm rot="16200000" flipH="1">
            <a:off x="2078555" y="1545749"/>
            <a:ext cx="608448" cy="100116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ная линия уступом 19"/>
          <p:cNvCxnSpPr>
            <a:stCxn id="9" idx="2"/>
            <a:endCxn id="10" idx="3"/>
          </p:cNvCxnSpPr>
          <p:nvPr/>
        </p:nvCxnSpPr>
        <p:spPr>
          <a:xfrm rot="5400000">
            <a:off x="6498433" y="1548253"/>
            <a:ext cx="644600" cy="96000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0" idx="2"/>
            <a:endCxn id="13" idx="0"/>
          </p:cNvCxnSpPr>
          <p:nvPr/>
        </p:nvCxnSpPr>
        <p:spPr>
          <a:xfrm>
            <a:off x="4612046" y="2854478"/>
            <a:ext cx="0" cy="119528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ная линия уступом 25"/>
          <p:cNvCxnSpPr>
            <a:stCxn id="11" idx="2"/>
            <a:endCxn id="13" idx="1"/>
          </p:cNvCxnSpPr>
          <p:nvPr/>
        </p:nvCxnSpPr>
        <p:spPr>
          <a:xfrm rot="16200000" flipH="1">
            <a:off x="2071284" y="3741605"/>
            <a:ext cx="622991" cy="100116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>
            <a:stCxn id="12" idx="2"/>
            <a:endCxn id="13" idx="3"/>
          </p:cNvCxnSpPr>
          <p:nvPr/>
        </p:nvCxnSpPr>
        <p:spPr>
          <a:xfrm rot="5400000">
            <a:off x="6509238" y="3762185"/>
            <a:ext cx="622991" cy="96000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Google Shape;142;p14"/>
          <p:cNvSpPr txBox="1"/>
          <p:nvPr/>
        </p:nvSpPr>
        <p:spPr>
          <a:xfrm>
            <a:off x="611892" y="75124"/>
            <a:ext cx="8126472" cy="413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        </a:t>
            </a:r>
            <a:r>
              <a:rPr lang="en-US" sz="2500" dirty="0" err="1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O’quv</a:t>
            </a:r>
            <a:r>
              <a:rPr lang="en-US" sz="2500" dirty="0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 </a:t>
            </a:r>
            <a:r>
              <a:rPr lang="en-US" sz="2500" dirty="0" err="1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yuklamasining</a:t>
            </a:r>
            <a:r>
              <a:rPr lang="en-US" sz="2500" dirty="0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 </a:t>
            </a:r>
            <a:r>
              <a:rPr lang="en-US" sz="2500" dirty="0" err="1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umumiy</a:t>
            </a:r>
            <a:r>
              <a:rPr lang="en-US" sz="2500" dirty="0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 </a:t>
            </a:r>
            <a:r>
              <a:rPr lang="en-US" sz="2500" dirty="0" err="1" smtClean="0">
                <a:solidFill>
                  <a:schemeClr val="lt1"/>
                </a:solidFill>
                <a:latin typeface="Montserrat" panose="00000500000000000000" pitchFamily="2" charset="-52"/>
                <a:ea typeface="Lato"/>
                <a:cs typeface="Lato"/>
                <a:sym typeface="Lato"/>
              </a:rPr>
              <a:t>strukturasi</a:t>
            </a:r>
            <a:endParaRPr sz="2500" dirty="0">
              <a:solidFill>
                <a:schemeClr val="lt1"/>
              </a:solidFill>
              <a:latin typeface="Montserrat" panose="00000500000000000000" pitchFamily="2" charset="-52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2533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" y="859398"/>
            <a:ext cx="9020246" cy="4213366"/>
          </a:xfrm>
          <a:prstGeom prst="rect">
            <a:avLst/>
          </a:prstGeom>
        </p:spPr>
      </p:pic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941901" y="114628"/>
            <a:ext cx="7665834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/>
              <a:t>OTM da </a:t>
            </a:r>
            <a:r>
              <a:rPr lang="en-US" sz="1800" dirty="0" err="1"/>
              <a:t>talabalar</a:t>
            </a:r>
            <a:r>
              <a:rPr lang="en-US" sz="1800" dirty="0"/>
              <a:t> </a:t>
            </a:r>
            <a:r>
              <a:rPr lang="en-US" sz="1800" dirty="0" err="1"/>
              <a:t>soni</a:t>
            </a:r>
            <a:r>
              <a:rPr lang="en-US" sz="1800" dirty="0"/>
              <a:t>, </a:t>
            </a:r>
            <a:r>
              <a:rPr lang="en-US" sz="1800" dirty="0" err="1"/>
              <a:t>guruhlar</a:t>
            </a:r>
            <a:r>
              <a:rPr lang="en-US" sz="1800" dirty="0"/>
              <a:t> </a:t>
            </a:r>
            <a:r>
              <a:rPr lang="en-US" sz="1800" dirty="0" err="1"/>
              <a:t>soni</a:t>
            </a:r>
            <a:r>
              <a:rPr lang="en-US" sz="1800" dirty="0"/>
              <a:t>, </a:t>
            </a:r>
            <a:r>
              <a:rPr lang="en-US" sz="1800" dirty="0" err="1"/>
              <a:t>oqimlar</a:t>
            </a:r>
            <a:r>
              <a:rPr lang="en-US" sz="1800" dirty="0"/>
              <a:t> </a:t>
            </a:r>
            <a:r>
              <a:rPr lang="en-US" sz="1800" dirty="0" err="1"/>
              <a:t>soni</a:t>
            </a:r>
            <a:r>
              <a:rPr lang="en-US" sz="1800" dirty="0"/>
              <a:t>, </a:t>
            </a:r>
            <a:r>
              <a:rPr lang="en-US" sz="1800" dirty="0" err="1"/>
              <a:t>ta'lim</a:t>
            </a:r>
            <a:r>
              <a:rPr lang="en-US" sz="1800" dirty="0"/>
              <a:t> </a:t>
            </a:r>
            <a:r>
              <a:rPr lang="en-US" sz="1800" dirty="0" err="1"/>
              <a:t>tili</a:t>
            </a:r>
            <a:r>
              <a:rPr lang="en-US" sz="1800" dirty="0"/>
              <a:t>, </a:t>
            </a:r>
            <a:r>
              <a:rPr lang="en-US" sz="1800" dirty="0" err="1"/>
              <a:t>ta'lim</a:t>
            </a:r>
            <a:r>
              <a:rPr lang="en-US" sz="1800" dirty="0"/>
              <a:t> </a:t>
            </a:r>
            <a:r>
              <a:rPr lang="en-US" sz="1800" dirty="0" err="1"/>
              <a:t>turi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yo‘nalishlar</a:t>
            </a:r>
            <a:r>
              <a:rPr lang="en-US" sz="1800" dirty="0"/>
              <a:t> </a:t>
            </a:r>
            <a:r>
              <a:rPr lang="en-US" sz="1800" dirty="0" err="1"/>
              <a:t>bo‘yicha</a:t>
            </a:r>
            <a:r>
              <a:rPr lang="en-US" sz="1800" dirty="0"/>
              <a:t> </a:t>
            </a:r>
            <a:r>
              <a:rPr lang="en-US" sz="1800" dirty="0" err="1"/>
              <a:t>ma'lumotlarni</a:t>
            </a:r>
            <a:r>
              <a:rPr lang="en-US" sz="1800" dirty="0"/>
              <a:t> </a:t>
            </a:r>
            <a:r>
              <a:rPr lang="en-US" sz="1800" dirty="0" err="1"/>
              <a:t>kiritish</a:t>
            </a:r>
            <a:r>
              <a:rPr lang="en-US" sz="1800" dirty="0"/>
              <a:t>.</a:t>
            </a:r>
            <a:endParaRPr sz="1800" dirty="0"/>
          </a:p>
        </p:txBody>
      </p:sp>
      <p:sp>
        <p:nvSpPr>
          <p:cNvPr id="4" name="Управляющая кнопка: в конец 3">
            <a:hlinkClick r:id="" action="ppaction://hlinkshowjump?jump=nextslide" highlightClick="1"/>
          </p:cNvPr>
          <p:cNvSpPr/>
          <p:nvPr/>
        </p:nvSpPr>
        <p:spPr>
          <a:xfrm>
            <a:off x="8389586" y="4583141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8" y="831899"/>
            <a:ext cx="8931283" cy="4239344"/>
          </a:xfrm>
          <a:prstGeom prst="rect">
            <a:avLst/>
          </a:prstGeom>
        </p:spPr>
      </p:pic>
      <p:cxnSp>
        <p:nvCxnSpPr>
          <p:cNvPr id="6" name="Google Shape;170;p18"/>
          <p:cNvCxnSpPr/>
          <p:nvPr/>
        </p:nvCxnSpPr>
        <p:spPr>
          <a:xfrm flipH="1">
            <a:off x="1739980" y="1248122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89586" y="4583141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oogle Shape;153;p16"/>
          <p:cNvSpPr txBox="1">
            <a:spLocks noGrp="1"/>
          </p:cNvSpPr>
          <p:nvPr>
            <p:ph type="title"/>
          </p:nvPr>
        </p:nvSpPr>
        <p:spPr>
          <a:xfrm>
            <a:off x="941901" y="114628"/>
            <a:ext cx="7665834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Jadvalning</a:t>
            </a:r>
            <a:r>
              <a:rPr lang="en-US" sz="1800" dirty="0" smtClean="0"/>
              <a:t> </a:t>
            </a:r>
            <a:r>
              <a:rPr lang="en-US" sz="1800" dirty="0" err="1" smtClean="0"/>
              <a:t>birinchi</a:t>
            </a:r>
            <a:r>
              <a:rPr lang="en-US" sz="1800" dirty="0" smtClean="0"/>
              <a:t> </a:t>
            </a:r>
            <a:r>
              <a:rPr lang="en-US" sz="1800" dirty="0" err="1" smtClean="0"/>
              <a:t>bo’limida</a:t>
            </a:r>
            <a:r>
              <a:rPr lang="en-US" sz="1800" dirty="0" smtClean="0"/>
              <a:t> </a:t>
            </a:r>
            <a:r>
              <a:rPr lang="en-US" sz="1800" dirty="0" err="1" smtClean="0"/>
              <a:t>universitetda</a:t>
            </a:r>
            <a:r>
              <a:rPr lang="en-US" sz="1800" dirty="0" smtClean="0"/>
              <a:t> </a:t>
            </a:r>
            <a:r>
              <a:rPr lang="en-US" sz="1800" dirty="0" err="1" smtClean="0"/>
              <a:t>mavjud</a:t>
            </a:r>
            <a:r>
              <a:rPr lang="en-US" sz="1800" dirty="0" smtClean="0"/>
              <a:t> </a:t>
            </a:r>
            <a:r>
              <a:rPr lang="en-US" sz="1800" dirty="0" err="1" smtClean="0"/>
              <a:t>bo’lgan</a:t>
            </a:r>
            <a:r>
              <a:rPr lang="en-US" sz="1800" dirty="0" smtClean="0"/>
              <a:t> </a:t>
            </a:r>
            <a:r>
              <a:rPr lang="en-US" sz="1800" dirty="0" err="1" smtClean="0"/>
              <a:t>ta’lim</a:t>
            </a:r>
            <a:r>
              <a:rPr lang="en-US" sz="1800" dirty="0" smtClean="0"/>
              <a:t> </a:t>
            </a:r>
            <a:r>
              <a:rPr lang="en-US" sz="1800" dirty="0" err="1" smtClean="0"/>
              <a:t>turlari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kelib</a:t>
            </a:r>
            <a:r>
              <a:rPr lang="en-US" sz="1800" dirty="0" smtClean="0"/>
              <a:t> </a:t>
            </a:r>
            <a:r>
              <a:rPr lang="en-US" sz="1800" dirty="0" err="1" smtClean="0"/>
              <a:t>chiqadi</a:t>
            </a:r>
            <a:r>
              <a:rPr lang="en-US" sz="1800" dirty="0" smtClean="0"/>
              <a:t> </a:t>
            </a:r>
            <a:r>
              <a:rPr lang="en-US" sz="1800" dirty="0" err="1" smtClean="0"/>
              <a:t>va</a:t>
            </a:r>
            <a:r>
              <a:rPr lang="en-US" sz="1800" dirty="0" smtClean="0"/>
              <a:t> </a:t>
            </a:r>
            <a:r>
              <a:rPr lang="en-US" sz="1800" dirty="0" err="1" smtClean="0"/>
              <a:t>ulardan</a:t>
            </a:r>
            <a:r>
              <a:rPr lang="en-US" sz="1800" dirty="0" smtClean="0"/>
              <a:t> </a:t>
            </a:r>
            <a:r>
              <a:rPr lang="en-US" sz="1800" dirty="0" err="1" smtClean="0"/>
              <a:t>biri</a:t>
            </a:r>
            <a:r>
              <a:rPr lang="en-US" sz="1800" dirty="0" smtClean="0"/>
              <a:t> </a:t>
            </a:r>
            <a:r>
              <a:rPr lang="en-US" sz="1800" dirty="0" err="1"/>
              <a:t>tanlanadi</a:t>
            </a:r>
            <a:r>
              <a:rPr lang="en-US" sz="1800" dirty="0"/>
              <a:t>: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75157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95" y="838772"/>
            <a:ext cx="8723809" cy="4118692"/>
          </a:xfrm>
          <a:prstGeom prst="rect">
            <a:avLst/>
          </a:prstGeom>
        </p:spPr>
      </p:pic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873149" y="178755"/>
            <a:ext cx="7927092" cy="6600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/>
              <a:t>OTM </a:t>
            </a:r>
            <a:r>
              <a:rPr lang="en-US" sz="1800" dirty="0" err="1" smtClean="0"/>
              <a:t>ning</a:t>
            </a:r>
            <a:r>
              <a:rPr lang="en-US" sz="1800" dirty="0" smtClean="0"/>
              <a:t> </a:t>
            </a:r>
            <a:r>
              <a:rPr lang="en-US" sz="1800" dirty="0" err="1" smtClean="0"/>
              <a:t>barcha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fakultetlari</a:t>
            </a:r>
            <a:r>
              <a:rPr lang="en-US" sz="1800" dirty="0" smtClean="0"/>
              <a:t> </a:t>
            </a:r>
            <a:r>
              <a:rPr lang="en-US" sz="1800" dirty="0" err="1" smtClean="0"/>
              <a:t>ro'yxati</a:t>
            </a:r>
            <a:r>
              <a:rPr lang="en-US" sz="1800" dirty="0" smtClean="0"/>
              <a:t> </a:t>
            </a:r>
            <a:r>
              <a:rPr lang="en-US" sz="1800" dirty="0" err="1" smtClean="0"/>
              <a:t>chiqadi</a:t>
            </a:r>
            <a:r>
              <a:rPr lang="en-US" sz="1800" dirty="0" smtClean="0"/>
              <a:t> </a:t>
            </a:r>
            <a:r>
              <a:rPr lang="en-US" sz="1800" dirty="0" err="1" smtClean="0"/>
              <a:t>va</a:t>
            </a:r>
            <a:r>
              <a:rPr lang="en-US" sz="1800" dirty="0" smtClean="0"/>
              <a:t> </a:t>
            </a:r>
            <a:r>
              <a:rPr lang="en-US" sz="1800" dirty="0" err="1" smtClean="0"/>
              <a:t>undan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sz="1800" dirty="0"/>
          </a:p>
        </p:txBody>
      </p:sp>
      <p:cxnSp>
        <p:nvCxnSpPr>
          <p:cNvPr id="161" name="Google Shape;161;p17"/>
          <p:cNvCxnSpPr/>
          <p:nvPr/>
        </p:nvCxnSpPr>
        <p:spPr>
          <a:xfrm>
            <a:off x="324375" y="1366963"/>
            <a:ext cx="7800" cy="316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240390" y="447313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Google Shape;170;p18"/>
          <p:cNvCxnSpPr/>
          <p:nvPr/>
        </p:nvCxnSpPr>
        <p:spPr>
          <a:xfrm flipH="1">
            <a:off x="2060354" y="1635241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2" y="921216"/>
            <a:ext cx="9033997" cy="4145798"/>
          </a:xfrm>
          <a:prstGeom prst="rect">
            <a:avLst/>
          </a:prstGeom>
        </p:spPr>
      </p:pic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675726" y="155913"/>
            <a:ext cx="7980035" cy="765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en-US" sz="1800" dirty="0" err="1" smtClean="0"/>
              <a:t>Fakultetning</a:t>
            </a:r>
            <a:r>
              <a:rPr lang="en-US" sz="1800" dirty="0" smtClean="0"/>
              <a:t> </a:t>
            </a:r>
            <a:r>
              <a:rPr lang="en-US" sz="1800" dirty="0" err="1" smtClean="0"/>
              <a:t>yo‘nalishlari</a:t>
            </a:r>
            <a:r>
              <a:rPr lang="en-US" sz="1800" dirty="0" smtClean="0"/>
              <a:t> </a:t>
            </a:r>
            <a:r>
              <a:rPr lang="en-US" sz="1800" dirty="0" err="1" smtClean="0"/>
              <a:t>ro'yxatidan</a:t>
            </a:r>
            <a:r>
              <a:rPr lang="en-US" sz="1800" dirty="0" smtClean="0"/>
              <a:t> </a:t>
            </a:r>
            <a:r>
              <a:rPr lang="en-US" sz="1800" dirty="0" err="1" smtClean="0"/>
              <a:t>ixtiyoriy</a:t>
            </a:r>
            <a:r>
              <a:rPr lang="en-US" sz="1800" dirty="0" smtClean="0"/>
              <a:t> </a:t>
            </a:r>
            <a:r>
              <a:rPr lang="en-US" sz="1800" dirty="0" err="1" smtClean="0"/>
              <a:t>yo‘nalish</a:t>
            </a:r>
            <a:r>
              <a:rPr lang="en-US" sz="1800" dirty="0" smtClean="0"/>
              <a:t> </a:t>
            </a:r>
            <a:r>
              <a:rPr lang="en-US" sz="1800" dirty="0" err="1"/>
              <a:t>tanlanadi</a:t>
            </a:r>
            <a:r>
              <a:rPr lang="en-US" sz="1800" dirty="0"/>
              <a:t>.</a:t>
            </a:r>
            <a:endParaRPr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410212" y="4596892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593142" y="2266955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7" y="742520"/>
            <a:ext cx="8997295" cy="4303366"/>
          </a:xfrm>
          <a:prstGeom prst="rect">
            <a:avLst/>
          </a:prstGeom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811642" y="89377"/>
            <a:ext cx="7584819" cy="701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Kurslar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ro’yxatidan</a:t>
            </a:r>
            <a:r>
              <a:rPr lang="en-US" sz="1800" dirty="0" smtClean="0"/>
              <a:t> </a:t>
            </a:r>
            <a:r>
              <a:rPr lang="en-US" sz="1800" dirty="0" err="1" smtClean="0"/>
              <a:t>keraklisi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endParaRPr sz="1800" dirty="0"/>
          </a:p>
        </p:txBody>
      </p:sp>
      <p:sp>
        <p:nvSpPr>
          <p:cNvPr id="5" name="Управляющая кнопка: в конец 4">
            <a:hlinkClick r:id="" action="ppaction://hlinkshowjump?jump=nextslide" highlightClick="1"/>
          </p:cNvPr>
          <p:cNvSpPr/>
          <p:nvPr/>
        </p:nvSpPr>
        <p:spPr>
          <a:xfrm>
            <a:off x="8396461" y="4596891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573118" y="2426167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1" y="735645"/>
            <a:ext cx="8978995" cy="4343018"/>
          </a:xfrm>
          <a:prstGeom prst="rect">
            <a:avLst/>
          </a:prstGeom>
        </p:spPr>
      </p:pic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1038152" y="0"/>
            <a:ext cx="7548958" cy="6119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nn-NO" sz="1800" dirty="0" smtClean="0"/>
              <a:t>Tanlangan </a:t>
            </a:r>
            <a:r>
              <a:rPr lang="nn-NO" sz="1800" dirty="0" smtClean="0"/>
              <a:t>kursning semestri bo’yicha ro’yxatidan keraklisi tanlanadi.(Bu yerda 1-kurs tanlangan)</a:t>
            </a:r>
            <a:endParaRPr lang="nn-NO"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75835" y="46312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Google Shape;170;p18"/>
          <p:cNvCxnSpPr/>
          <p:nvPr/>
        </p:nvCxnSpPr>
        <p:spPr>
          <a:xfrm flipH="1">
            <a:off x="1179326" y="3190388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97" y="1682407"/>
            <a:ext cx="8834616" cy="2769445"/>
          </a:xfrm>
          <a:prstGeom prst="rect">
            <a:avLst/>
          </a:prstGeom>
        </p:spPr>
      </p:pic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1368565" y="595030"/>
            <a:ext cx="6744560" cy="73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en-US" sz="1400" dirty="0" err="1"/>
              <a:t>Talabalar</a:t>
            </a:r>
            <a:r>
              <a:rPr lang="en-US" sz="1400" dirty="0"/>
              <a:t> </a:t>
            </a:r>
            <a:r>
              <a:rPr lang="en-US" sz="1400" dirty="0" err="1"/>
              <a:t>soni</a:t>
            </a:r>
            <a:r>
              <a:rPr lang="en-US" sz="1400" dirty="0"/>
              <a:t>, </a:t>
            </a:r>
            <a:r>
              <a:rPr lang="en-US" sz="1400" dirty="0" err="1"/>
              <a:t>guruhlar</a:t>
            </a:r>
            <a:r>
              <a:rPr lang="en-US" sz="1400" dirty="0"/>
              <a:t> </a:t>
            </a:r>
            <a:r>
              <a:rPr lang="en-US" sz="1400" dirty="0" err="1"/>
              <a:t>soni</a:t>
            </a:r>
            <a:r>
              <a:rPr lang="en-US" sz="1400" dirty="0"/>
              <a:t> </a:t>
            </a:r>
            <a:r>
              <a:rPr lang="en-US" sz="1400" dirty="0" err="1"/>
              <a:t>va</a:t>
            </a:r>
            <a:r>
              <a:rPr lang="en-US" sz="1400" dirty="0"/>
              <a:t> </a:t>
            </a:r>
            <a:r>
              <a:rPr lang="en-US" sz="1400" dirty="0" err="1"/>
              <a:t>oqimlar</a:t>
            </a:r>
            <a:r>
              <a:rPr lang="en-US" sz="1400" dirty="0"/>
              <a:t> </a:t>
            </a:r>
            <a:r>
              <a:rPr lang="en-US" sz="1400" dirty="0" err="1"/>
              <a:t>soni</a:t>
            </a:r>
            <a:r>
              <a:rPr lang="en-US" sz="1400" dirty="0"/>
              <a:t> </a:t>
            </a:r>
            <a:r>
              <a:rPr lang="en-US" sz="1400" dirty="0" err="1"/>
              <a:t>kiritiladi</a:t>
            </a:r>
            <a:r>
              <a:rPr lang="en-US" sz="1400" dirty="0"/>
              <a:t>, </a:t>
            </a:r>
            <a:r>
              <a:rPr lang="en-US" sz="1400" dirty="0" err="1"/>
              <a:t>so‘ngra</a:t>
            </a:r>
            <a:r>
              <a:rPr lang="en-US" sz="1400" dirty="0"/>
              <a:t> </a:t>
            </a:r>
            <a:r>
              <a:rPr lang="en-US" sz="1400" dirty="0" err="1" smtClean="0"/>
              <a:t>ulardan</a:t>
            </a:r>
            <a:r>
              <a:rPr lang="en-US" sz="1400" dirty="0" smtClean="0"/>
              <a:t> </a:t>
            </a:r>
            <a:r>
              <a:rPr lang="en-US" sz="1400" dirty="0" err="1" smtClean="0"/>
              <a:t>mos</a:t>
            </a:r>
            <a:r>
              <a:rPr lang="en-US" sz="1400" dirty="0" smtClean="0"/>
              <a:t> </a:t>
            </a:r>
            <a:r>
              <a:rPr lang="en-US" sz="1400" dirty="0" err="1" smtClean="0"/>
              <a:t>guruh</a:t>
            </a:r>
            <a:r>
              <a:rPr lang="en-US" sz="1400" dirty="0" smtClean="0"/>
              <a:t> </a:t>
            </a:r>
            <a:r>
              <a:rPr lang="en-US" sz="1400" dirty="0" err="1" smtClean="0"/>
              <a:t>tanlanadi</a:t>
            </a:r>
            <a:r>
              <a:rPr lang="en-US" sz="1400" dirty="0" smtClean="0"/>
              <a:t>.(Bu </a:t>
            </a:r>
            <a:r>
              <a:rPr lang="en-US" sz="1400" dirty="0" err="1" smtClean="0"/>
              <a:t>yerda</a:t>
            </a:r>
            <a:r>
              <a:rPr lang="en-US" sz="1400" dirty="0" smtClean="0"/>
              <a:t> </a:t>
            </a:r>
            <a:r>
              <a:rPr lang="en-US" sz="1400" dirty="0" smtClean="0"/>
              <a:t>1-semester, </a:t>
            </a:r>
            <a:r>
              <a:rPr lang="en-US" sz="1400" dirty="0" err="1" smtClean="0"/>
              <a:t>talabalar</a:t>
            </a:r>
            <a:r>
              <a:rPr lang="en-US" sz="1400" dirty="0" smtClean="0"/>
              <a:t> </a:t>
            </a:r>
            <a:r>
              <a:rPr lang="en-US" sz="1400" dirty="0" err="1" smtClean="0"/>
              <a:t>soni</a:t>
            </a:r>
            <a:r>
              <a:rPr lang="en-US" sz="1400" dirty="0" smtClean="0"/>
              <a:t> 50 ta, </a:t>
            </a:r>
            <a:r>
              <a:rPr lang="en-US" sz="1400" dirty="0" err="1" smtClean="0"/>
              <a:t>guruh</a:t>
            </a:r>
            <a:r>
              <a:rPr lang="en-US" sz="1400" dirty="0" smtClean="0"/>
              <a:t> </a:t>
            </a:r>
            <a:r>
              <a:rPr lang="en-US" sz="1400" dirty="0" err="1" smtClean="0"/>
              <a:t>soni</a:t>
            </a:r>
            <a:r>
              <a:rPr lang="en-US" sz="1400" dirty="0" smtClean="0"/>
              <a:t> 2 ta </a:t>
            </a:r>
            <a:r>
              <a:rPr lang="en-US" sz="1400" dirty="0" err="1" smtClean="0"/>
              <a:t>va</a:t>
            </a:r>
            <a:r>
              <a:rPr lang="en-US" sz="1400" dirty="0" smtClean="0"/>
              <a:t> </a:t>
            </a:r>
            <a:r>
              <a:rPr lang="en-US" sz="1400" dirty="0" err="1" smtClean="0"/>
              <a:t>patok</a:t>
            </a:r>
            <a:r>
              <a:rPr lang="en-US" sz="1400" dirty="0" smtClean="0"/>
              <a:t> 1 </a:t>
            </a:r>
            <a:r>
              <a:rPr lang="en-US" sz="1400" dirty="0" smtClean="0"/>
              <a:t>ta </a:t>
            </a:r>
            <a:r>
              <a:rPr lang="en-US" sz="1400" dirty="0" err="1" smtClean="0"/>
              <a:t>kiritilgan</a:t>
            </a:r>
            <a:r>
              <a:rPr lang="en-US" sz="1400" dirty="0" smtClean="0"/>
              <a:t>)</a:t>
            </a:r>
            <a:endParaRPr sz="1400" dirty="0"/>
          </a:p>
        </p:txBody>
      </p:sp>
      <p:cxnSp>
        <p:nvCxnSpPr>
          <p:cNvPr id="192" name="Google Shape;192;p21"/>
          <p:cNvCxnSpPr/>
          <p:nvPr/>
        </p:nvCxnSpPr>
        <p:spPr>
          <a:xfrm flipH="1">
            <a:off x="1727616" y="1777359"/>
            <a:ext cx="2376106" cy="478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1"/>
          <p:cNvCxnSpPr/>
          <p:nvPr/>
        </p:nvCxnSpPr>
        <p:spPr>
          <a:xfrm>
            <a:off x="4110396" y="1777359"/>
            <a:ext cx="15600" cy="478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1"/>
          <p:cNvCxnSpPr/>
          <p:nvPr/>
        </p:nvCxnSpPr>
        <p:spPr>
          <a:xfrm>
            <a:off x="4103722" y="1776250"/>
            <a:ext cx="2510660" cy="47990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783772" y="720467"/>
            <a:ext cx="7612689" cy="840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en-US" sz="1400" dirty="0" err="1" smtClean="0"/>
              <a:t>Navbatdagi</a:t>
            </a:r>
            <a:r>
              <a:rPr lang="en-US" sz="1400" dirty="0" smtClean="0"/>
              <a:t> </a:t>
            </a:r>
            <a:r>
              <a:rPr lang="en-US" sz="1400" dirty="0" err="1" smtClean="0"/>
              <a:t>bosqichda</a:t>
            </a:r>
            <a:r>
              <a:rPr lang="en-US" sz="1400" dirty="0" smtClean="0"/>
              <a:t> </a:t>
            </a:r>
            <a:r>
              <a:rPr lang="en-US" sz="1400" dirty="0" err="1" smtClean="0"/>
              <a:t>kurslardagi</a:t>
            </a:r>
            <a:r>
              <a:rPr lang="en-US" sz="1400" dirty="0" smtClean="0"/>
              <a:t> </a:t>
            </a:r>
            <a:r>
              <a:rPr lang="en-US" sz="1400" dirty="0" err="1" smtClean="0"/>
              <a:t>talabalar</a:t>
            </a:r>
            <a:r>
              <a:rPr lang="en-US" sz="1400" dirty="0" smtClean="0"/>
              <a:t> </a:t>
            </a:r>
            <a:r>
              <a:rPr lang="en-US" sz="1400" dirty="0" err="1" smtClean="0"/>
              <a:t>soni</a:t>
            </a:r>
            <a:r>
              <a:rPr lang="en-US" sz="1400" dirty="0" smtClean="0"/>
              <a:t> </a:t>
            </a:r>
            <a:r>
              <a:rPr lang="en-US" sz="1400" dirty="0" err="1" smtClean="0"/>
              <a:t>guruhlarga</a:t>
            </a:r>
            <a:r>
              <a:rPr lang="en-US" sz="1400" dirty="0" smtClean="0"/>
              <a:t> </a:t>
            </a:r>
            <a:r>
              <a:rPr lang="en-US" sz="1400" dirty="0" err="1" smtClean="0"/>
              <a:t>ajratiladi</a:t>
            </a:r>
            <a:r>
              <a:rPr lang="en-US" sz="1400" dirty="0" smtClean="0"/>
              <a:t>.(</a:t>
            </a:r>
            <a:r>
              <a:rPr lang="en-US" sz="1400" dirty="0" err="1" smtClean="0"/>
              <a:t>Guruhlar</a:t>
            </a:r>
            <a:r>
              <a:rPr lang="en-US" sz="1400" dirty="0" smtClean="0"/>
              <a:t> </a:t>
            </a:r>
            <a:r>
              <a:rPr lang="en-US" sz="1400" dirty="0" err="1" smtClean="0"/>
              <a:t>nomlari</a:t>
            </a:r>
            <a:r>
              <a:rPr lang="en-US" sz="1400" dirty="0" smtClean="0"/>
              <a:t>, </a:t>
            </a:r>
            <a:r>
              <a:rPr lang="en-US" sz="1400" dirty="0" err="1" smtClean="0"/>
              <a:t>ularning</a:t>
            </a:r>
            <a:r>
              <a:rPr lang="en-US" sz="1400" dirty="0" smtClean="0"/>
              <a:t> </a:t>
            </a:r>
            <a:r>
              <a:rPr lang="en-US" sz="1400" dirty="0" err="1" smtClean="0"/>
              <a:t>talabalar</a:t>
            </a:r>
            <a:r>
              <a:rPr lang="en-US" sz="1400" dirty="0" smtClean="0"/>
              <a:t> </a:t>
            </a:r>
            <a:r>
              <a:rPr lang="en-US" sz="1400" dirty="0" err="1" smtClean="0"/>
              <a:t>soni</a:t>
            </a:r>
            <a:r>
              <a:rPr lang="en-US" sz="1400" dirty="0"/>
              <a:t> </a:t>
            </a:r>
            <a:r>
              <a:rPr lang="en-US" sz="1400" dirty="0" err="1"/>
              <a:t>aniqlanadi</a:t>
            </a:r>
            <a:r>
              <a:rPr lang="en-US" sz="1400" dirty="0"/>
              <a:t>)</a:t>
            </a:r>
            <a:endParaRPr sz="1400" dirty="0"/>
          </a:p>
        </p:txBody>
      </p:sp>
      <p:cxnSp>
        <p:nvCxnSpPr>
          <p:cNvPr id="192" name="Google Shape;192;p21"/>
          <p:cNvCxnSpPr/>
          <p:nvPr/>
        </p:nvCxnSpPr>
        <p:spPr>
          <a:xfrm flipH="1">
            <a:off x="3729220" y="3035424"/>
            <a:ext cx="1984800" cy="501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Google Shape;192;p21"/>
          <p:cNvCxnSpPr/>
          <p:nvPr/>
        </p:nvCxnSpPr>
        <p:spPr>
          <a:xfrm flipH="1">
            <a:off x="5069647" y="3035424"/>
            <a:ext cx="1984800" cy="501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5" y="2165061"/>
            <a:ext cx="9047747" cy="1976584"/>
          </a:xfrm>
          <a:prstGeom prst="rect">
            <a:avLst/>
          </a:prstGeom>
        </p:spPr>
      </p:pic>
      <p:cxnSp>
        <p:nvCxnSpPr>
          <p:cNvPr id="7" name="Google Shape;170;p18"/>
          <p:cNvCxnSpPr/>
          <p:nvPr/>
        </p:nvCxnSpPr>
        <p:spPr>
          <a:xfrm flipH="1">
            <a:off x="5911063" y="2417600"/>
            <a:ext cx="1083763" cy="50422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Прямоугольник 14"/>
          <p:cNvSpPr/>
          <p:nvPr/>
        </p:nvSpPr>
        <p:spPr>
          <a:xfrm>
            <a:off x="620724" y="2998206"/>
            <a:ext cx="4618721" cy="652720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66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229 -0.20371 L -0.05556 0.0469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92" y="125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996678"/>
            <a:ext cx="8533289" cy="1428949"/>
          </a:xfrm>
          <a:prstGeom prst="rect">
            <a:avLst/>
          </a:prstGeom>
        </p:spPr>
      </p:pic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xfrm>
            <a:off x="874353" y="1101730"/>
            <a:ext cx="7522107" cy="7537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400" dirty="0" err="1" smtClean="0"/>
              <a:t>Yuqorida</a:t>
            </a:r>
            <a:r>
              <a:rPr lang="en-US" sz="1400" dirty="0" smtClean="0"/>
              <a:t> </a:t>
            </a:r>
            <a:r>
              <a:rPr lang="en-US" sz="1400" dirty="0" err="1" smtClean="0"/>
              <a:t>keltirilgan</a:t>
            </a:r>
            <a:r>
              <a:rPr lang="en-US" sz="1400" dirty="0"/>
              <a:t> </a:t>
            </a:r>
            <a:r>
              <a:rPr lang="en-US" sz="1400" dirty="0" err="1" smtClean="0"/>
              <a:t>jadvaldagi</a:t>
            </a:r>
            <a:r>
              <a:rPr lang="en-US" sz="1400" dirty="0" smtClean="0"/>
              <a:t> </a:t>
            </a:r>
            <a:r>
              <a:rPr lang="en-US" sz="1400" dirty="0" err="1" smtClean="0"/>
              <a:t>malumotlar</a:t>
            </a:r>
            <a:r>
              <a:rPr lang="en-US" sz="1400" dirty="0" smtClean="0"/>
              <a:t> </a:t>
            </a:r>
            <a:r>
              <a:rPr lang="en-US" sz="1400" dirty="0" err="1" smtClean="0"/>
              <a:t>kompyuter</a:t>
            </a:r>
            <a:r>
              <a:rPr lang="en-US" sz="1400" dirty="0" smtClean="0"/>
              <a:t> </a:t>
            </a:r>
            <a:r>
              <a:rPr lang="en-US" sz="1400" dirty="0" err="1" smtClean="0"/>
              <a:t>xotirasida</a:t>
            </a:r>
            <a:r>
              <a:rPr lang="en-US" sz="1400" dirty="0" smtClean="0"/>
              <a:t> </a:t>
            </a:r>
            <a:r>
              <a:rPr lang="en-US" sz="1400" dirty="0" err="1" smtClean="0"/>
              <a:t>quyidagicha</a:t>
            </a:r>
            <a:r>
              <a:rPr lang="en-US" sz="1400" dirty="0" smtClean="0"/>
              <a:t> </a:t>
            </a:r>
            <a:r>
              <a:rPr lang="en-US" sz="1400" dirty="0" err="1" smtClean="0"/>
              <a:t>saqlanadi</a:t>
            </a:r>
            <a:r>
              <a:rPr lang="en-US" sz="1400" dirty="0" smtClean="0"/>
              <a:t> </a:t>
            </a:r>
            <a:endParaRPr sz="1400" dirty="0"/>
          </a:p>
        </p:txBody>
      </p:sp>
      <p:sp>
        <p:nvSpPr>
          <p:cNvPr id="203" name="Google Shape;203;p22"/>
          <p:cNvSpPr/>
          <p:nvPr/>
        </p:nvSpPr>
        <p:spPr>
          <a:xfrm>
            <a:off x="7496842" y="-64444"/>
            <a:ext cx="1699200" cy="10116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6D9EEB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Malumotlarni malumotlar bazasiga saqlangan holati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Скругленный прямоугольник 1">
            <a:hlinkClick r:id="rId4" action="ppaction://hlinksldjump"/>
          </p:cNvPr>
          <p:cNvSpPr/>
          <p:nvPr/>
        </p:nvSpPr>
        <p:spPr>
          <a:xfrm>
            <a:off x="7441600" y="4564438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202569" y="2075755"/>
            <a:ext cx="5940263" cy="300350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5" y="727374"/>
            <a:ext cx="9068373" cy="4375151"/>
          </a:xfrm>
          <a:prstGeom prst="rect">
            <a:avLst/>
          </a:prstGeom>
        </p:spPr>
      </p:pic>
      <p:sp>
        <p:nvSpPr>
          <p:cNvPr id="208" name="Google Shape;208;p23"/>
          <p:cNvSpPr txBox="1">
            <a:spLocks noGrp="1"/>
          </p:cNvSpPr>
          <p:nvPr>
            <p:ph type="title"/>
          </p:nvPr>
        </p:nvSpPr>
        <p:spPr>
          <a:xfrm>
            <a:off x="1209832" y="0"/>
            <a:ext cx="7198322" cy="727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/>
              <a:t>Y</a:t>
            </a:r>
            <a:r>
              <a:rPr lang="en-US" sz="1800" dirty="0" err="1" smtClean="0"/>
              <a:t>o‘nalishlarning</a:t>
            </a:r>
            <a:r>
              <a:rPr lang="en-US" sz="1800" dirty="0" smtClean="0"/>
              <a:t> </a:t>
            </a:r>
            <a:r>
              <a:rPr lang="en-US" sz="1800" dirty="0" err="1"/>
              <a:t>ishchi</a:t>
            </a:r>
            <a:r>
              <a:rPr lang="en-US" sz="1800" dirty="0"/>
              <a:t> </a:t>
            </a:r>
            <a:r>
              <a:rPr lang="en-US" sz="1800" dirty="0" err="1" smtClean="0"/>
              <a:t>o‘quv</a:t>
            </a:r>
            <a:r>
              <a:rPr lang="en-US" sz="1800" dirty="0" smtClean="0"/>
              <a:t> </a:t>
            </a:r>
            <a:r>
              <a:rPr lang="en-US" sz="1800" dirty="0" err="1" smtClean="0"/>
              <a:t>rejalari</a:t>
            </a:r>
            <a:r>
              <a:rPr lang="en-US" sz="1800" dirty="0" smtClean="0"/>
              <a:t> </a:t>
            </a:r>
            <a:r>
              <a:rPr lang="en-US" sz="1800" dirty="0" err="1" smtClean="0"/>
              <a:t>tuzilmasi</a:t>
            </a:r>
            <a:endParaRPr lang="en-US"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463357" y="466040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3" y="838772"/>
            <a:ext cx="9013370" cy="4234614"/>
          </a:xfrm>
          <a:prstGeom prst="rect">
            <a:avLst/>
          </a:prstGeom>
        </p:spPr>
      </p:pic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852524" y="0"/>
            <a:ext cx="8229599" cy="838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700" dirty="0" err="1" smtClean="0"/>
              <a:t>Ta'lim</a:t>
            </a:r>
            <a:r>
              <a:rPr lang="en-US" sz="1700" dirty="0" smtClean="0"/>
              <a:t> </a:t>
            </a:r>
            <a:r>
              <a:rPr lang="en-US" sz="1700" dirty="0" err="1"/>
              <a:t>turini</a:t>
            </a:r>
            <a:r>
              <a:rPr lang="en-US" sz="1700" dirty="0"/>
              <a:t> </a:t>
            </a:r>
            <a:r>
              <a:rPr lang="en-US" sz="1700" dirty="0" err="1" smtClean="0"/>
              <a:t>tanlash</a:t>
            </a:r>
            <a:r>
              <a:rPr lang="en-US" sz="1700" dirty="0" smtClean="0"/>
              <a:t> </a:t>
            </a:r>
            <a:r>
              <a:rPr lang="en-US" sz="1700" dirty="0" err="1" smtClean="0"/>
              <a:t>orqali</a:t>
            </a:r>
            <a:r>
              <a:rPr lang="en-US" sz="1700" dirty="0"/>
              <a:t> </a:t>
            </a:r>
            <a:r>
              <a:rPr lang="en-US" sz="1700" dirty="0" err="1" smtClean="0"/>
              <a:t>quyidagi</a:t>
            </a:r>
            <a:r>
              <a:rPr lang="en-US" sz="1700" dirty="0" smtClean="0"/>
              <a:t> </a:t>
            </a:r>
            <a:r>
              <a:rPr lang="en-US" sz="1700" dirty="0" err="1" smtClean="0"/>
              <a:t>jadval</a:t>
            </a:r>
            <a:r>
              <a:rPr lang="en-US" sz="1700" dirty="0" smtClean="0"/>
              <a:t> </a:t>
            </a:r>
            <a:r>
              <a:rPr lang="en-US" sz="1700" dirty="0" err="1" smtClean="0"/>
              <a:t>to’ldiriladi</a:t>
            </a:r>
            <a:r>
              <a:rPr lang="en-US" sz="1700" dirty="0" smtClean="0"/>
              <a:t>.</a:t>
            </a:r>
            <a:br>
              <a:rPr lang="en-US" sz="1700" dirty="0" smtClean="0"/>
            </a:br>
            <a:r>
              <a:rPr lang="en-US" sz="1700" dirty="0" smtClean="0"/>
              <a:t>(Bu </a:t>
            </a:r>
            <a:r>
              <a:rPr lang="en-US" sz="1700" dirty="0" err="1" smtClean="0"/>
              <a:t>yerda</a:t>
            </a:r>
            <a:r>
              <a:rPr lang="en-US" sz="1700" dirty="0" smtClean="0"/>
              <a:t> “</a:t>
            </a:r>
            <a:r>
              <a:rPr lang="en-US" sz="1700" dirty="0" err="1" smtClean="0"/>
              <a:t>Boshqa</a:t>
            </a:r>
            <a:r>
              <a:rPr lang="en-US" sz="1700" dirty="0" smtClean="0"/>
              <a:t> </a:t>
            </a:r>
            <a:r>
              <a:rPr lang="en-US" sz="1700" dirty="0" err="1" smtClean="0"/>
              <a:t>turlar</a:t>
            </a:r>
            <a:r>
              <a:rPr lang="en-US" sz="1700" dirty="0" smtClean="0"/>
              <a:t>” </a:t>
            </a:r>
            <a:r>
              <a:rPr lang="en-US" sz="1700" dirty="0" err="1" smtClean="0"/>
              <a:t>deganda</a:t>
            </a:r>
            <a:r>
              <a:rPr lang="en-US" sz="1700" dirty="0" smtClean="0"/>
              <a:t> fan </a:t>
            </a:r>
            <a:r>
              <a:rPr lang="en-US" sz="1700" dirty="0" err="1" smtClean="0"/>
              <a:t>kiritish</a:t>
            </a:r>
            <a:r>
              <a:rPr lang="en-US" sz="1700" dirty="0" smtClean="0"/>
              <a:t>, </a:t>
            </a:r>
            <a:r>
              <a:rPr lang="en-US" sz="1700" dirty="0" err="1" smtClean="0"/>
              <a:t>amaliyot</a:t>
            </a:r>
            <a:r>
              <a:rPr lang="en-US" sz="1700" dirty="0" smtClean="0"/>
              <a:t>, </a:t>
            </a:r>
            <a:r>
              <a:rPr lang="en-US" sz="1700" dirty="0" err="1" smtClean="0"/>
              <a:t>yadak</a:t>
            </a:r>
            <a:r>
              <a:rPr lang="en-US" sz="1700" dirty="0" smtClean="0"/>
              <a:t> </a:t>
            </a:r>
            <a:r>
              <a:rPr lang="en-US" sz="1700" dirty="0" err="1" smtClean="0"/>
              <a:t>va</a:t>
            </a:r>
            <a:r>
              <a:rPr lang="en-US" sz="1700" dirty="0" smtClean="0"/>
              <a:t> </a:t>
            </a:r>
            <a:r>
              <a:rPr lang="en-US" sz="1700" dirty="0" err="1" smtClean="0"/>
              <a:t>hokazo</a:t>
            </a:r>
            <a:r>
              <a:rPr lang="en-US" sz="1700" dirty="0" smtClean="0"/>
              <a:t>)</a:t>
            </a:r>
            <a:br>
              <a:rPr lang="en-US" sz="1700" dirty="0" smtClean="0"/>
            </a:br>
            <a:endParaRPr sz="17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132605" y="1728683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2" y="886930"/>
            <a:ext cx="8963187" cy="4200206"/>
          </a:xfrm>
          <a:prstGeom prst="rect">
            <a:avLst/>
          </a:prstGeom>
        </p:spPr>
      </p:pic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894174" y="132176"/>
            <a:ext cx="7823964" cy="7135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/>
              <a:t>T</a:t>
            </a:r>
            <a:r>
              <a:rPr lang="en-US" sz="1800" dirty="0" err="1" smtClean="0"/>
              <a:t>a'lim</a:t>
            </a:r>
            <a:r>
              <a:rPr lang="en-US" sz="1800" dirty="0" smtClean="0"/>
              <a:t> </a:t>
            </a:r>
            <a:r>
              <a:rPr lang="en-US" sz="1800" dirty="0" err="1" smtClean="0"/>
              <a:t>turiga</a:t>
            </a:r>
            <a:r>
              <a:rPr lang="en-US" sz="1800" dirty="0" smtClean="0"/>
              <a:t> </a:t>
            </a:r>
            <a:r>
              <a:rPr lang="en-US" sz="1800" dirty="0" err="1" smtClean="0"/>
              <a:t>doir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fakultetlar</a:t>
            </a:r>
            <a:r>
              <a:rPr lang="en-US" sz="1800" dirty="0" smtClean="0"/>
              <a:t> </a:t>
            </a:r>
            <a:r>
              <a:rPr lang="en-US" sz="1800" dirty="0" err="1"/>
              <a:t>ro‘yxati</a:t>
            </a:r>
            <a:r>
              <a:rPr lang="en-US" sz="1800" dirty="0"/>
              <a:t> </a:t>
            </a:r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479676" y="2042381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2" y="886899"/>
            <a:ext cx="8992746" cy="4158987"/>
          </a:xfrm>
          <a:prstGeom prst="rect">
            <a:avLst/>
          </a:prstGeom>
        </p:spPr>
      </p:pic>
      <p:sp>
        <p:nvSpPr>
          <p:cNvPr id="233" name="Google Shape;233;p26"/>
          <p:cNvSpPr txBox="1">
            <a:spLocks noGrp="1"/>
          </p:cNvSpPr>
          <p:nvPr>
            <p:ph type="title"/>
          </p:nvPr>
        </p:nvSpPr>
        <p:spPr>
          <a:xfrm>
            <a:off x="1038153" y="126975"/>
            <a:ext cx="7865215" cy="6911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fakultetdagi</a:t>
            </a:r>
            <a:r>
              <a:rPr lang="en-US" sz="1800" dirty="0" smtClean="0"/>
              <a:t> </a:t>
            </a:r>
            <a:r>
              <a:rPr lang="en-US" sz="1800" dirty="0" err="1" smtClean="0"/>
              <a:t>yo’nalishlar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</a:t>
            </a:r>
            <a:br>
              <a:rPr lang="en-US" sz="1800" dirty="0" smtClean="0"/>
            </a:br>
            <a:endParaRPr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403336" y="4590016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579793" y="2589687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" y="893773"/>
            <a:ext cx="9020246" cy="4188006"/>
          </a:xfrm>
          <a:prstGeom prst="rect">
            <a:avLst/>
          </a:prstGeom>
        </p:spPr>
      </p:pic>
      <p:sp>
        <p:nvSpPr>
          <p:cNvPr id="241" name="Google Shape;241;p27"/>
          <p:cNvSpPr txBox="1">
            <a:spLocks noGrp="1"/>
          </p:cNvSpPr>
          <p:nvPr>
            <p:ph type="title"/>
          </p:nvPr>
        </p:nvSpPr>
        <p:spPr>
          <a:xfrm>
            <a:off x="866274" y="254382"/>
            <a:ext cx="8117539" cy="603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yo’nalishga</a:t>
            </a:r>
            <a:r>
              <a:rPr lang="en-US" sz="1800" dirty="0" smtClean="0"/>
              <a:t> </a:t>
            </a:r>
            <a:r>
              <a:rPr lang="en-US" sz="1800" dirty="0" err="1" smtClean="0"/>
              <a:t>doir</a:t>
            </a:r>
            <a:r>
              <a:rPr lang="en-US" sz="1800" dirty="0" smtClean="0"/>
              <a:t> </a:t>
            </a:r>
            <a:r>
              <a:rPr lang="en-US" sz="1800" dirty="0" err="1" smtClean="0"/>
              <a:t>kurslar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ko’rsatilgan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186000" y="3083596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7" y="955651"/>
            <a:ext cx="9114286" cy="4163718"/>
          </a:xfrm>
          <a:prstGeom prst="rect">
            <a:avLst/>
          </a:prstGeom>
        </p:spPr>
      </p:pic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472088" y="4679396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oogle Shape;249;p28"/>
          <p:cNvSpPr txBox="1">
            <a:spLocks noGrp="1"/>
          </p:cNvSpPr>
          <p:nvPr>
            <p:ph type="title"/>
          </p:nvPr>
        </p:nvSpPr>
        <p:spPr>
          <a:xfrm>
            <a:off x="990682" y="183666"/>
            <a:ext cx="7610833" cy="691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Navbatdagi</a:t>
            </a:r>
            <a:r>
              <a:rPr lang="en-US" sz="1800" dirty="0" smtClean="0"/>
              <a:t> </a:t>
            </a:r>
            <a:r>
              <a:rPr lang="en-US" sz="1800" dirty="0" err="1" smtClean="0"/>
              <a:t>bosqichda</a:t>
            </a:r>
            <a:r>
              <a:rPr lang="en-US" sz="1800" dirty="0" smtClean="0"/>
              <a:t> </a:t>
            </a:r>
            <a:r>
              <a:rPr lang="en-US" sz="1800" dirty="0" err="1" smtClean="0"/>
              <a:t>semestrlar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 </a:t>
            </a:r>
            <a:r>
              <a:rPr lang="en-US" sz="1800" dirty="0" err="1" smtClean="0"/>
              <a:t>Masalan</a:t>
            </a:r>
            <a:r>
              <a:rPr lang="en-US" sz="1800" dirty="0" smtClean="0"/>
              <a:t>: </a:t>
            </a:r>
            <a:r>
              <a:rPr lang="en-US" sz="1800" dirty="0"/>
              <a:t>1-kurs (1, 2), 2-kurs (3, 4), …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hokazo</a:t>
            </a:r>
            <a:r>
              <a:rPr lang="en-US" sz="1800" dirty="0"/>
              <a:t>.</a:t>
            </a:r>
            <a:endParaRPr sz="1800" dirty="0"/>
          </a:p>
        </p:txBody>
      </p:sp>
      <p:cxnSp>
        <p:nvCxnSpPr>
          <p:cNvPr id="8" name="Google Shape;170;p18"/>
          <p:cNvCxnSpPr/>
          <p:nvPr/>
        </p:nvCxnSpPr>
        <p:spPr>
          <a:xfrm flipH="1">
            <a:off x="1099232" y="3537459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9509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3" y="800195"/>
            <a:ext cx="8923993" cy="4244466"/>
          </a:xfrm>
          <a:prstGeom prst="rect">
            <a:avLst/>
          </a:prstGeom>
        </p:spPr>
      </p:pic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976932" y="109123"/>
            <a:ext cx="7610833" cy="691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Navbatdagi</a:t>
            </a:r>
            <a:r>
              <a:rPr lang="en-US" sz="1800" dirty="0" smtClean="0"/>
              <a:t> </a:t>
            </a:r>
            <a:r>
              <a:rPr lang="en-US" sz="1800" dirty="0" err="1" smtClean="0"/>
              <a:t>bosqichda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ro’yxatidan</a:t>
            </a:r>
            <a:r>
              <a:rPr lang="en-US" sz="1800" dirty="0" smtClean="0"/>
              <a:t> </a:t>
            </a:r>
            <a:r>
              <a:rPr lang="en-US" sz="1800" dirty="0" err="1" smtClean="0"/>
              <a:t>biri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96461" y="4603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Google Shape;170;p18"/>
          <p:cNvCxnSpPr/>
          <p:nvPr/>
        </p:nvCxnSpPr>
        <p:spPr>
          <a:xfrm flipH="1">
            <a:off x="1306141" y="3771066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" y="749395"/>
            <a:ext cx="8937744" cy="4309000"/>
          </a:xfrm>
          <a:prstGeom prst="rect">
            <a:avLst/>
          </a:prstGeom>
        </p:spPr>
      </p:pic>
      <p:sp>
        <p:nvSpPr>
          <p:cNvPr id="6" name="Google Shape;249;p28"/>
          <p:cNvSpPr txBox="1">
            <a:spLocks noGrp="1"/>
          </p:cNvSpPr>
          <p:nvPr>
            <p:ph type="title"/>
          </p:nvPr>
        </p:nvSpPr>
        <p:spPr>
          <a:xfrm>
            <a:off x="976932" y="109122"/>
            <a:ext cx="7610833" cy="757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Navbatdagi</a:t>
            </a:r>
            <a:r>
              <a:rPr lang="en-US" sz="1800" dirty="0" smtClean="0"/>
              <a:t> </a:t>
            </a:r>
            <a:r>
              <a:rPr lang="en-US" sz="1800" dirty="0" err="1" smtClean="0"/>
              <a:t>bosqichda</a:t>
            </a:r>
            <a:r>
              <a:rPr lang="en-US" sz="1800" dirty="0" smtClean="0"/>
              <a:t> </a:t>
            </a:r>
            <a:r>
              <a:rPr lang="en-US" sz="1800" dirty="0" err="1" smtClean="0"/>
              <a:t>boshqa</a:t>
            </a:r>
            <a:r>
              <a:rPr lang="en-US" sz="1800" dirty="0" smtClean="0"/>
              <a:t> </a:t>
            </a:r>
            <a:r>
              <a:rPr lang="en-US" sz="1800" dirty="0" err="1" smtClean="0"/>
              <a:t>turlarga</a:t>
            </a:r>
            <a:r>
              <a:rPr lang="en-US" sz="1800" dirty="0" smtClean="0"/>
              <a:t> </a:t>
            </a:r>
            <a:r>
              <a:rPr lang="en-US" sz="1800" dirty="0" err="1" smtClean="0"/>
              <a:t>tegishli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ma’lumotlardan</a:t>
            </a:r>
            <a:r>
              <a:rPr lang="en-US" sz="1800" dirty="0" smtClean="0"/>
              <a:t> </a:t>
            </a:r>
            <a:r>
              <a:rPr lang="en-US" sz="1800" dirty="0" err="1" smtClean="0"/>
              <a:t>biri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03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Google Shape;170;p18"/>
          <p:cNvCxnSpPr/>
          <p:nvPr/>
        </p:nvCxnSpPr>
        <p:spPr>
          <a:xfrm flipH="1">
            <a:off x="1145954" y="3050225"/>
            <a:ext cx="1110011" cy="36143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9233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7" y="921274"/>
            <a:ext cx="8958370" cy="4173239"/>
          </a:xfrm>
          <a:prstGeom prst="rect">
            <a:avLst/>
          </a:prstGeom>
        </p:spPr>
      </p:pic>
      <p:sp>
        <p:nvSpPr>
          <p:cNvPr id="7" name="Google Shape;249;p28"/>
          <p:cNvSpPr txBox="1">
            <a:spLocks noGrp="1"/>
          </p:cNvSpPr>
          <p:nvPr>
            <p:ph type="title"/>
          </p:nvPr>
        </p:nvSpPr>
        <p:spPr>
          <a:xfrm>
            <a:off x="976932" y="93442"/>
            <a:ext cx="7610833" cy="627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Fanga</a:t>
            </a:r>
            <a:r>
              <a:rPr lang="en-US" sz="1800" dirty="0" smtClean="0"/>
              <a:t> </a:t>
            </a:r>
            <a:r>
              <a:rPr lang="en-US" sz="1800" dirty="0" err="1" smtClean="0"/>
              <a:t>doir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</a:t>
            </a:r>
            <a:r>
              <a:rPr lang="en-US" sz="1800" dirty="0" smtClean="0"/>
              <a:t> </a:t>
            </a:r>
            <a:r>
              <a:rPr lang="en-US" sz="1800" dirty="0" err="1" smtClean="0"/>
              <a:t>kiritiladi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80327" y="1007842"/>
            <a:ext cx="8696611" cy="4010544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89586" y="46312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80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1" y="776895"/>
            <a:ext cx="8999621" cy="4287253"/>
          </a:xfrm>
          <a:prstGeom prst="rect">
            <a:avLst/>
          </a:prstGeom>
        </p:spPr>
      </p:pic>
      <p:sp>
        <p:nvSpPr>
          <p:cNvPr id="6" name="Google Shape;249;p28"/>
          <p:cNvSpPr txBox="1">
            <a:spLocks noGrp="1"/>
          </p:cNvSpPr>
          <p:nvPr>
            <p:ph type="title"/>
          </p:nvPr>
        </p:nvSpPr>
        <p:spPr>
          <a:xfrm>
            <a:off x="1072429" y="86768"/>
            <a:ext cx="7610833" cy="6901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 smtClean="0"/>
              <a:t>Malakaviy</a:t>
            </a:r>
            <a:r>
              <a:rPr lang="en-US" sz="1800" dirty="0" smtClean="0"/>
              <a:t> </a:t>
            </a:r>
            <a:r>
              <a:rPr lang="en-US" sz="1800" dirty="0" err="1" smtClean="0"/>
              <a:t>amaliyotga</a:t>
            </a:r>
            <a:r>
              <a:rPr lang="en-US" sz="1800" dirty="0" smtClean="0"/>
              <a:t> </a:t>
            </a:r>
            <a:r>
              <a:rPr lang="en-US" sz="1800" dirty="0" err="1" smtClean="0"/>
              <a:t>doir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</a:t>
            </a:r>
            <a:r>
              <a:rPr lang="en-US" sz="1800" dirty="0" smtClean="0"/>
              <a:t> </a:t>
            </a:r>
            <a:r>
              <a:rPr lang="en-US" sz="1800" dirty="0" err="1" smtClean="0"/>
              <a:t>kiritiladi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13582" y="866273"/>
            <a:ext cx="8763356" cy="415211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89586" y="46312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65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31" y="2044983"/>
            <a:ext cx="8876190" cy="2428571"/>
          </a:xfrm>
          <a:prstGeom prst="rect">
            <a:avLst/>
          </a:prstGeom>
        </p:spPr>
      </p:pic>
      <p:sp>
        <p:nvSpPr>
          <p:cNvPr id="7" name="Google Shape;249;p28"/>
          <p:cNvSpPr txBox="1">
            <a:spLocks noGrp="1"/>
          </p:cNvSpPr>
          <p:nvPr>
            <p:ph type="title"/>
          </p:nvPr>
        </p:nvSpPr>
        <p:spPr>
          <a:xfrm>
            <a:off x="928806" y="1140400"/>
            <a:ext cx="7610833" cy="7571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/>
              <a:t>YADAK </a:t>
            </a:r>
            <a:r>
              <a:rPr lang="en-US" sz="1800" dirty="0" err="1" smtClean="0"/>
              <a:t>tanlanganda</a:t>
            </a:r>
            <a:r>
              <a:rPr lang="en-US" sz="1800" dirty="0" smtClean="0"/>
              <a:t> </a:t>
            </a:r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jadvalga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</a:t>
            </a:r>
            <a:r>
              <a:rPr lang="en-US" sz="1800" dirty="0" smtClean="0"/>
              <a:t> </a:t>
            </a:r>
            <a:r>
              <a:rPr lang="en-US" sz="1800" dirty="0" err="1" smtClean="0"/>
              <a:t>kiritish</a:t>
            </a:r>
            <a:r>
              <a:rPr lang="en-US" sz="1800" dirty="0" smtClean="0"/>
              <a:t> </a:t>
            </a:r>
            <a:r>
              <a:rPr lang="en-US" sz="1800" dirty="0" err="1" smtClean="0"/>
              <a:t>ko’rsatilgan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9" name="Скругленный прямоугольник 8">
            <a:hlinkClick r:id="rId3" action="ppaction://hlinksldjump"/>
          </p:cNvPr>
          <p:cNvSpPr/>
          <p:nvPr/>
        </p:nvSpPr>
        <p:spPr>
          <a:xfrm>
            <a:off x="7481833" y="4567088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33606" y="2142499"/>
            <a:ext cx="8656765" cy="223594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66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1856225" y="667269"/>
            <a:ext cx="5431550" cy="10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     </a:t>
            </a:r>
            <a:r>
              <a:rPr lang="en" sz="2400" dirty="0" smtClean="0"/>
              <a:t>OTM ning ishchi </a:t>
            </a:r>
            <a:r>
              <a:rPr lang="en" sz="2400" dirty="0"/>
              <a:t>o’quv reja </a:t>
            </a:r>
            <a:endParaRPr sz="2400" dirty="0"/>
          </a:p>
        </p:txBody>
      </p:sp>
      <p:sp>
        <p:nvSpPr>
          <p:cNvPr id="4" name="Управляющая кнопка: в конец 3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4" y="1705569"/>
            <a:ext cx="8910472" cy="2811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1715054"/>
            <a:ext cx="8853184" cy="2553803"/>
          </a:xfrm>
          <a:prstGeom prst="rect">
            <a:avLst/>
          </a:prstGeom>
        </p:spPr>
      </p:pic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1100031" y="946549"/>
            <a:ext cx="7480205" cy="76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US" sz="1800" dirty="0" err="1" smtClean="0"/>
              <a:t>OTMning</a:t>
            </a:r>
            <a:r>
              <a:rPr lang="en-US" sz="1800" dirty="0" smtClean="0"/>
              <a:t> </a:t>
            </a:r>
            <a:r>
              <a:rPr lang="en-US" sz="1800" dirty="0" err="1" smtClean="0"/>
              <a:t>ishchi</a:t>
            </a:r>
            <a:r>
              <a:rPr lang="en-US" sz="1800" dirty="0" smtClean="0"/>
              <a:t> </a:t>
            </a:r>
            <a:r>
              <a:rPr lang="en-US" sz="1800" dirty="0" err="1" smtClean="0"/>
              <a:t>o’quv</a:t>
            </a:r>
            <a:r>
              <a:rPr lang="en-US" sz="1800" dirty="0" smtClean="0"/>
              <a:t> </a:t>
            </a:r>
            <a:r>
              <a:rPr lang="en-US" sz="1800" dirty="0" err="1" smtClean="0"/>
              <a:t>rejasidan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2240564" y="2569664"/>
            <a:ext cx="1143384" cy="32806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39" y="1290264"/>
            <a:ext cx="8929808" cy="3755622"/>
          </a:xfrm>
          <a:prstGeom prst="rect">
            <a:avLst/>
          </a:prstGeom>
        </p:spPr>
      </p:pic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1045029" y="563764"/>
            <a:ext cx="7280824" cy="7414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en-US" sz="1800" dirty="0" err="1" smtClean="0"/>
              <a:t>Fakultetdan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112580" y="2956782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8" y="1055131"/>
            <a:ext cx="9040870" cy="4039803"/>
          </a:xfrm>
          <a:prstGeom prst="rect">
            <a:avLst/>
          </a:prstGeom>
        </p:spPr>
      </p:pic>
      <p:sp>
        <p:nvSpPr>
          <p:cNvPr id="291" name="Google Shape;291;p33"/>
          <p:cNvSpPr/>
          <p:nvPr/>
        </p:nvSpPr>
        <p:spPr>
          <a:xfrm>
            <a:off x="5146003" y="0"/>
            <a:ext cx="3672942" cy="1065787"/>
          </a:xfrm>
          <a:prstGeom prst="cloudCallout">
            <a:avLst>
              <a:gd name="adj1" fmla="val -20833"/>
              <a:gd name="adj2" fmla="val 62500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Quyidagi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jadvalda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tanlangan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kafedraning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ishchi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o’quv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rejasi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ko’ratilgan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Yuqorida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kiritilgan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ma’lumotlar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dirty="0" err="1" smtClean="0">
                <a:latin typeface="Lato"/>
                <a:ea typeface="Lato"/>
                <a:cs typeface="Lato"/>
                <a:sym typeface="Lato"/>
              </a:rPr>
              <a:t>asosida</a:t>
            </a:r>
            <a:r>
              <a:rPr lang="en-US" sz="1200" dirty="0" smtClean="0">
                <a:latin typeface="Lato"/>
                <a:ea typeface="Lato"/>
                <a:cs typeface="Lato"/>
                <a:sym typeface="Lato"/>
              </a:rPr>
              <a:t>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Скругленный прямоугольник 4">
            <a:hlinkClick r:id="rId4" action="ppaction://hlinksldjump"/>
          </p:cNvPr>
          <p:cNvSpPr/>
          <p:nvPr/>
        </p:nvSpPr>
        <p:spPr>
          <a:xfrm>
            <a:off x="7830838" y="4716378"/>
            <a:ext cx="1313161" cy="427121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6" name="Google Shape;272;p31"/>
          <p:cNvSpPr txBox="1">
            <a:spLocks noGrp="1"/>
          </p:cNvSpPr>
          <p:nvPr>
            <p:ph type="title"/>
          </p:nvPr>
        </p:nvSpPr>
        <p:spPr>
          <a:xfrm>
            <a:off x="1100031" y="946549"/>
            <a:ext cx="7480205" cy="76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US" sz="1800" dirty="0" err="1" smtClean="0"/>
              <a:t>OTMning</a:t>
            </a:r>
            <a:r>
              <a:rPr lang="en-US" sz="1800" dirty="0" smtClean="0"/>
              <a:t> </a:t>
            </a:r>
            <a:r>
              <a:rPr lang="en-US" sz="1800" dirty="0" err="1" smtClean="0"/>
              <a:t>ishchi</a:t>
            </a:r>
            <a:r>
              <a:rPr lang="en-US" sz="1800" dirty="0" smtClean="0"/>
              <a:t> </a:t>
            </a:r>
            <a:r>
              <a:rPr lang="en-US" sz="1800" dirty="0" err="1" smtClean="0"/>
              <a:t>o’quv</a:t>
            </a:r>
            <a:r>
              <a:rPr lang="en-US" sz="1800" dirty="0" smtClean="0"/>
              <a:t> </a:t>
            </a:r>
            <a:r>
              <a:rPr lang="en-US" sz="1800" dirty="0" err="1" smtClean="0"/>
              <a:t>rejasidan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7" y="1217598"/>
            <a:ext cx="8992746" cy="3842038"/>
          </a:xfrm>
          <a:prstGeom prst="rect">
            <a:avLst/>
          </a:prstGeom>
        </p:spPr>
      </p:pic>
      <p:sp>
        <p:nvSpPr>
          <p:cNvPr id="296" name="Google Shape;296;p34"/>
          <p:cNvSpPr txBox="1">
            <a:spLocks noGrp="1"/>
          </p:cNvSpPr>
          <p:nvPr>
            <p:ph type="title"/>
          </p:nvPr>
        </p:nvSpPr>
        <p:spPr>
          <a:xfrm>
            <a:off x="1185450" y="679447"/>
            <a:ext cx="6773100" cy="6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en-US" sz="1800" dirty="0" err="1" smtClean="0"/>
              <a:t>Navbatdagi</a:t>
            </a:r>
            <a:r>
              <a:rPr lang="en-US" sz="1800" dirty="0" smtClean="0"/>
              <a:t> </a:t>
            </a:r>
            <a:r>
              <a:rPr lang="en-US" sz="1800" dirty="0" err="1" smtClean="0"/>
              <a:t>bosqichda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</a:t>
            </a:r>
            <a:r>
              <a:rPr lang="en-US" sz="1800" dirty="0" smtClean="0"/>
              <a:t> </a:t>
            </a:r>
            <a:r>
              <a:rPr lang="en-US" sz="1800" dirty="0" err="1"/>
              <a:t>o’qituvchilari</a:t>
            </a:r>
            <a:r>
              <a:rPr lang="en-US" sz="1800" dirty="0"/>
              <a:t> </a:t>
            </a:r>
            <a:r>
              <a:rPr lang="en-US" sz="1800" dirty="0" err="1"/>
              <a:t>ma’lumotlarini</a:t>
            </a:r>
            <a:r>
              <a:rPr lang="en-US" sz="1800" dirty="0"/>
              <a:t> </a:t>
            </a:r>
            <a:r>
              <a:rPr lang="en-US" sz="1800" dirty="0" err="1" smtClean="0"/>
              <a:t>kiritiladi</a:t>
            </a:r>
            <a:endParaRPr sz="1800" dirty="0"/>
          </a:p>
        </p:txBody>
      </p:sp>
      <p:sp>
        <p:nvSpPr>
          <p:cNvPr id="4" name="Управляющая кнопка: в конец 3">
            <a:hlinkClick r:id="" action="ppaction://hlinkshowjump?jump=nextslide" highlightClick="1"/>
          </p:cNvPr>
          <p:cNvSpPr/>
          <p:nvPr/>
        </p:nvSpPr>
        <p:spPr>
          <a:xfrm>
            <a:off x="8389586" y="4583141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>
            <a:spLocks noGrp="1"/>
          </p:cNvSpPr>
          <p:nvPr>
            <p:ph type="title"/>
          </p:nvPr>
        </p:nvSpPr>
        <p:spPr>
          <a:xfrm>
            <a:off x="996902" y="261257"/>
            <a:ext cx="7399559" cy="5362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javalda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</a:t>
            </a:r>
            <a:r>
              <a:rPr lang="en-US" sz="1800" dirty="0" smtClean="0"/>
              <a:t> </a:t>
            </a:r>
            <a:r>
              <a:rPr lang="en-US" sz="1800" dirty="0" err="1" smtClean="0"/>
              <a:t>o’qituvchilari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ma’lumotlari</a:t>
            </a:r>
            <a:r>
              <a:rPr lang="en-US" sz="1800" dirty="0" smtClean="0"/>
              <a:t> </a:t>
            </a:r>
            <a:r>
              <a:rPr lang="en-US" sz="1800" dirty="0" err="1" smtClean="0"/>
              <a:t>kiritiladi</a:t>
            </a:r>
            <a:r>
              <a:rPr lang="en-US" sz="1800" dirty="0" smtClean="0"/>
              <a:t>.</a:t>
            </a:r>
            <a:endParaRPr sz="1800" dirty="0"/>
          </a:p>
        </p:txBody>
      </p:sp>
      <p:cxnSp>
        <p:nvCxnSpPr>
          <p:cNvPr id="305" name="Google Shape;305;p35"/>
          <p:cNvCxnSpPr/>
          <p:nvPr/>
        </p:nvCxnSpPr>
        <p:spPr>
          <a:xfrm flipH="1">
            <a:off x="3973691" y="1967434"/>
            <a:ext cx="2510100" cy="579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Управляющая кнопка: в конец 5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0" y="908897"/>
            <a:ext cx="8930868" cy="4143864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>
            <a:off x="2350360" y="1684485"/>
            <a:ext cx="0" cy="30999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1421658" y="1883368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flipH="1">
            <a:off x="1421658" y="2389514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H="1">
            <a:off x="1421658" y="2850052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>
            <a:off x="1421658" y="3274553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>
            <a:off x="1421658" y="3704381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>
            <a:off x="1421658" y="4131546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1421658" y="4565385"/>
            <a:ext cx="9287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Управляющая кнопка: в конец 20">
            <a:hlinkClick r:id="" action="ppaction://hlinkshowjump?jump=nextslide" highlightClick="1"/>
          </p:cNvPr>
          <p:cNvSpPr/>
          <p:nvPr/>
        </p:nvSpPr>
        <p:spPr>
          <a:xfrm>
            <a:off x="8396461" y="4590853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>
            <a:spLocks noGrp="1"/>
          </p:cNvSpPr>
          <p:nvPr>
            <p:ph type="title"/>
          </p:nvPr>
        </p:nvSpPr>
        <p:spPr>
          <a:xfrm>
            <a:off x="893776" y="157090"/>
            <a:ext cx="7356450" cy="6325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</a:t>
            </a:r>
            <a:r>
              <a:rPr lang="en-US" sz="1800" dirty="0" smtClean="0"/>
              <a:t> </a:t>
            </a:r>
            <a:r>
              <a:rPr lang="en-US" sz="1800" dirty="0" err="1" smtClean="0"/>
              <a:t>o’qituvchilari</a:t>
            </a:r>
            <a:r>
              <a:rPr lang="en-US" sz="1800" dirty="0" smtClean="0"/>
              <a:t> </a:t>
            </a:r>
            <a:r>
              <a:rPr lang="en-US" sz="1800" dirty="0" err="1" smtClean="0"/>
              <a:t>yuklamasiga</a:t>
            </a:r>
            <a:r>
              <a:rPr lang="en-US" sz="1800" dirty="0" smtClean="0"/>
              <a:t> </a:t>
            </a:r>
            <a:r>
              <a:rPr lang="en-US" sz="1800" dirty="0" err="1" smtClean="0"/>
              <a:t>doir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</a:t>
            </a:r>
            <a:r>
              <a:rPr lang="en-US" sz="1800" dirty="0" smtClean="0"/>
              <a:t> </a:t>
            </a:r>
            <a:r>
              <a:rPr lang="en-US" sz="1800" dirty="0" err="1" smtClean="0"/>
              <a:t>bazasi</a:t>
            </a:r>
            <a:r>
              <a:rPr lang="en-US" sz="1800" dirty="0" smtClean="0"/>
              <a:t> </a:t>
            </a:r>
            <a:r>
              <a:rPr lang="en-US" sz="1800" dirty="0" err="1" smtClean="0"/>
              <a:t>ko’rsatilgan</a:t>
            </a:r>
            <a:r>
              <a:rPr lang="en-US" sz="1800" dirty="0"/>
              <a:t>.</a:t>
            </a:r>
            <a:endParaRPr sz="1800" dirty="0"/>
          </a:p>
        </p:txBody>
      </p:sp>
      <p:cxnSp>
        <p:nvCxnSpPr>
          <p:cNvPr id="315" name="Google Shape;315;p36"/>
          <p:cNvCxnSpPr/>
          <p:nvPr/>
        </p:nvCxnSpPr>
        <p:spPr>
          <a:xfrm flipH="1">
            <a:off x="4193650" y="2378087"/>
            <a:ext cx="2278200" cy="532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9" y="789607"/>
            <a:ext cx="7940842" cy="4242559"/>
          </a:xfrm>
          <a:prstGeom prst="rect">
            <a:avLst/>
          </a:prstGeom>
        </p:spPr>
      </p:pic>
      <p:sp>
        <p:nvSpPr>
          <p:cNvPr id="9" name="Скругленный прямоугольник 8">
            <a:hlinkClick r:id="rId4" action="ppaction://hlinksldjump"/>
          </p:cNvPr>
          <p:cNvSpPr/>
          <p:nvPr/>
        </p:nvSpPr>
        <p:spPr>
          <a:xfrm>
            <a:off x="7475782" y="4579036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0" y="601661"/>
            <a:ext cx="8811933" cy="4444225"/>
          </a:xfrm>
          <a:prstGeom prst="rect">
            <a:avLst/>
          </a:prstGeom>
        </p:spPr>
      </p:pic>
      <p:sp>
        <p:nvSpPr>
          <p:cNvPr id="331" name="Google Shape;331;p38"/>
          <p:cNvSpPr txBox="1">
            <a:spLocks noGrp="1"/>
          </p:cNvSpPr>
          <p:nvPr>
            <p:ph type="title"/>
          </p:nvPr>
        </p:nvSpPr>
        <p:spPr>
          <a:xfrm>
            <a:off x="1545888" y="162023"/>
            <a:ext cx="6063915" cy="377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              </a:t>
            </a:r>
            <a:r>
              <a:rPr lang="en" sz="1800" dirty="0" smtClean="0"/>
              <a:t>O’qituvchilar yuklamasiga doir jadval</a:t>
            </a:r>
            <a:endParaRPr sz="1800" dirty="0"/>
          </a:p>
        </p:txBody>
      </p:sp>
      <p:sp>
        <p:nvSpPr>
          <p:cNvPr id="4" name="Управляющая кнопка: в конец 3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>
            <a:spLocks noGrp="1"/>
          </p:cNvSpPr>
          <p:nvPr>
            <p:ph type="title"/>
          </p:nvPr>
        </p:nvSpPr>
        <p:spPr>
          <a:xfrm>
            <a:off x="1058779" y="632863"/>
            <a:ext cx="7693335" cy="775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jadvalni</a:t>
            </a:r>
            <a:r>
              <a:rPr lang="en-US" sz="1800" dirty="0" smtClean="0"/>
              <a:t> </a:t>
            </a:r>
            <a:r>
              <a:rPr lang="en-US" sz="1800" dirty="0" err="1" smtClean="0"/>
              <a:t>to’ldirish</a:t>
            </a:r>
            <a:r>
              <a:rPr lang="en-US" sz="1800" dirty="0" smtClean="0"/>
              <a:t> </a:t>
            </a:r>
            <a:r>
              <a:rPr lang="en-US" sz="1800" dirty="0" err="1" smtClean="0"/>
              <a:t>uchun</a:t>
            </a:r>
            <a:r>
              <a:rPr lang="en-US" sz="1800" dirty="0" smtClean="0"/>
              <a:t> </a:t>
            </a:r>
            <a:r>
              <a:rPr lang="en-US" sz="1800" dirty="0" err="1" smtClean="0"/>
              <a:t>ta’lim</a:t>
            </a:r>
            <a:r>
              <a:rPr lang="en-US" sz="1800" dirty="0" smtClean="0"/>
              <a:t> </a:t>
            </a:r>
            <a:r>
              <a:rPr lang="en-US" sz="1800" dirty="0" err="1" smtClean="0"/>
              <a:t>turi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 </a:t>
            </a:r>
            <a:r>
              <a:rPr lang="en-US" sz="1800" dirty="0" err="1" smtClean="0"/>
              <a:t>va</a:t>
            </a:r>
            <a:r>
              <a:rPr lang="en-US" sz="1800" dirty="0" smtClean="0"/>
              <a:t> </a:t>
            </a:r>
            <a:r>
              <a:rPr lang="en-US" sz="1800" dirty="0" err="1" smtClean="0"/>
              <a:t>o’qituvchilar</a:t>
            </a:r>
            <a:r>
              <a:rPr lang="en-US" sz="1800" dirty="0" smtClean="0"/>
              <a:t> </a:t>
            </a:r>
            <a:r>
              <a:rPr lang="en-US" sz="1800" dirty="0" err="1" smtClean="0"/>
              <a:t>va</a:t>
            </a:r>
            <a:r>
              <a:rPr lang="en-US" sz="1800" dirty="0" smtClean="0"/>
              <a:t> </a:t>
            </a:r>
            <a:r>
              <a:rPr lang="en-US" sz="1800" dirty="0" err="1" smtClean="0"/>
              <a:t>yo’nalishlar</a:t>
            </a:r>
            <a:r>
              <a:rPr lang="en-US" sz="1800" dirty="0" smtClean="0"/>
              <a:t> </a:t>
            </a:r>
            <a:r>
              <a:rPr lang="en-US" sz="1800" dirty="0" err="1" smtClean="0"/>
              <a:t>aniqlanadi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cxnSp>
        <p:nvCxnSpPr>
          <p:cNvPr id="341" name="Google Shape;341;p39"/>
          <p:cNvCxnSpPr/>
          <p:nvPr/>
        </p:nvCxnSpPr>
        <p:spPr>
          <a:xfrm flipH="1">
            <a:off x="4105837" y="2095889"/>
            <a:ext cx="2301300" cy="29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5" y="1485041"/>
            <a:ext cx="9019832" cy="2967816"/>
          </a:xfrm>
          <a:prstGeom prst="rect">
            <a:avLst/>
          </a:prstGeom>
        </p:spPr>
      </p:pic>
      <p:cxnSp>
        <p:nvCxnSpPr>
          <p:cNvPr id="8" name="Google Shape;170;p18"/>
          <p:cNvCxnSpPr/>
          <p:nvPr/>
        </p:nvCxnSpPr>
        <p:spPr>
          <a:xfrm flipH="1">
            <a:off x="798881" y="2149173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4" y="687520"/>
            <a:ext cx="8937744" cy="4407855"/>
          </a:xfrm>
          <a:prstGeom prst="rect">
            <a:avLst/>
          </a:prstGeom>
        </p:spPr>
      </p:pic>
      <p:sp>
        <p:nvSpPr>
          <p:cNvPr id="346" name="Google Shape;346;p40"/>
          <p:cNvSpPr txBox="1">
            <a:spLocks noGrp="1"/>
          </p:cNvSpPr>
          <p:nvPr>
            <p:ph type="title"/>
          </p:nvPr>
        </p:nvSpPr>
        <p:spPr>
          <a:xfrm>
            <a:off x="660019" y="0"/>
            <a:ext cx="7736442" cy="644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ta’lim</a:t>
            </a:r>
            <a:r>
              <a:rPr lang="en-US" sz="1800" dirty="0" smtClean="0"/>
              <a:t> </a:t>
            </a:r>
            <a:r>
              <a:rPr lang="en-US" sz="1800" dirty="0" err="1" smtClean="0"/>
              <a:t>turi</a:t>
            </a:r>
            <a:r>
              <a:rPr lang="en-US" sz="1800" dirty="0" smtClean="0"/>
              <a:t> </a:t>
            </a:r>
            <a:r>
              <a:rPr lang="en-US" sz="1800" dirty="0" err="1" smtClean="0"/>
              <a:t>bo’yicha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65442"/>
            <a:ext cx="587352" cy="387118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65442"/>
            <a:ext cx="587352" cy="387118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в конец 8">
            <a:hlinkClick r:id="" action="ppaction://hlinkshowjump?jump=nextslide" highlightClick="1"/>
          </p:cNvPr>
          <p:cNvSpPr/>
          <p:nvPr/>
        </p:nvSpPr>
        <p:spPr>
          <a:xfrm>
            <a:off x="8396461" y="4665442"/>
            <a:ext cx="587352" cy="387118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в конец 9">
            <a:hlinkClick r:id="" action="ppaction://hlinkshowjump?jump=nextslide" highlightClick="1"/>
          </p:cNvPr>
          <p:cNvSpPr/>
          <p:nvPr/>
        </p:nvSpPr>
        <p:spPr>
          <a:xfrm>
            <a:off x="8396461" y="4665442"/>
            <a:ext cx="587352" cy="387118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в конец 10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Google Shape;170;p18"/>
          <p:cNvCxnSpPr/>
          <p:nvPr/>
        </p:nvCxnSpPr>
        <p:spPr>
          <a:xfrm flipH="1">
            <a:off x="1185999" y="1561821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3" y="831898"/>
            <a:ext cx="8999620" cy="4284102"/>
          </a:xfrm>
          <a:prstGeom prst="rect">
            <a:avLst/>
          </a:prstGeom>
        </p:spPr>
      </p:pic>
      <p:sp>
        <p:nvSpPr>
          <p:cNvPr id="355" name="Google Shape;355;p41"/>
          <p:cNvSpPr txBox="1">
            <a:spLocks noGrp="1"/>
          </p:cNvSpPr>
          <p:nvPr>
            <p:ph type="title"/>
          </p:nvPr>
        </p:nvSpPr>
        <p:spPr>
          <a:xfrm>
            <a:off x="1100030" y="55001"/>
            <a:ext cx="7432077" cy="776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fakultetdagi</a:t>
            </a:r>
            <a:r>
              <a:rPr lang="en-US" sz="1800" dirty="0" smtClean="0"/>
              <a:t> </a:t>
            </a:r>
            <a:r>
              <a:rPr lang="en-US" sz="1800" dirty="0" err="1"/>
              <a:t>kafedralar</a:t>
            </a:r>
            <a:r>
              <a:rPr lang="en-US" sz="1800" dirty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100030" y="2089103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5" y="1237534"/>
            <a:ext cx="8970205" cy="3815227"/>
          </a:xfrm>
          <a:prstGeom prst="rect">
            <a:avLst/>
          </a:prstGeom>
        </p:spPr>
      </p:pic>
      <p:sp>
        <p:nvSpPr>
          <p:cNvPr id="364" name="Google Shape;364;p42"/>
          <p:cNvSpPr txBox="1">
            <a:spLocks noGrp="1"/>
          </p:cNvSpPr>
          <p:nvPr>
            <p:ph type="title"/>
          </p:nvPr>
        </p:nvSpPr>
        <p:spPr>
          <a:xfrm>
            <a:off x="1072528" y="178700"/>
            <a:ext cx="7528332" cy="941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kafedraning</a:t>
            </a:r>
            <a:r>
              <a:rPr lang="en-US" sz="1800" dirty="0" smtClean="0"/>
              <a:t> </a:t>
            </a:r>
            <a:r>
              <a:rPr lang="en-US" sz="1800" dirty="0" err="1" smtClean="0"/>
              <a:t>o’qituvchilari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</a:t>
            </a:r>
            <a:endParaRPr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072528" y="2589687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2" y="779431"/>
            <a:ext cx="9038095" cy="4295238"/>
          </a:xfrm>
          <a:prstGeom prst="rect">
            <a:avLst/>
          </a:prstGeom>
        </p:spPr>
      </p:pic>
      <p:sp>
        <p:nvSpPr>
          <p:cNvPr id="373" name="Google Shape;373;p43"/>
          <p:cNvSpPr txBox="1">
            <a:spLocks noGrp="1"/>
          </p:cNvSpPr>
          <p:nvPr>
            <p:ph type="title"/>
          </p:nvPr>
        </p:nvSpPr>
        <p:spPr>
          <a:xfrm>
            <a:off x="715019" y="96253"/>
            <a:ext cx="8195223" cy="6831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fakultetning</a:t>
            </a:r>
            <a:r>
              <a:rPr lang="en-US" sz="1800" dirty="0" smtClean="0"/>
              <a:t> </a:t>
            </a:r>
            <a:r>
              <a:rPr lang="en-US" sz="1800" dirty="0" err="1" smtClean="0"/>
              <a:t>yo’nalishlari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sp>
        <p:nvSpPr>
          <p:cNvPr id="7" name="Управляющая кнопка: в конец 6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112580" y="3277156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7" y="1003778"/>
            <a:ext cx="9033997" cy="4063210"/>
          </a:xfrm>
          <a:prstGeom prst="rect">
            <a:avLst/>
          </a:prstGeom>
        </p:spPr>
      </p:pic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914400" y="234358"/>
            <a:ext cx="7872090" cy="69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nn-NO" sz="1800" dirty="0" smtClean="0"/>
              <a:t>Tanlangan ta’lim yo‘nalishiga doir kurslar ro’yxati keltirilgan.</a:t>
            </a:r>
            <a:endParaRPr lang="nn-NO" sz="1800" dirty="0"/>
          </a:p>
        </p:txBody>
      </p:sp>
      <p:sp>
        <p:nvSpPr>
          <p:cNvPr id="9" name="Управляющая кнопка: в конец 8">
            <a:hlinkClick r:id="" action="ppaction://hlinkshowjump?jump=nextslide" highlightClick="1"/>
          </p:cNvPr>
          <p:cNvSpPr/>
          <p:nvPr/>
        </p:nvSpPr>
        <p:spPr>
          <a:xfrm>
            <a:off x="8403336" y="46312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012463" y="3343900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5" y="845648"/>
            <a:ext cx="8793365" cy="4207615"/>
          </a:xfrm>
          <a:prstGeom prst="rect">
            <a:avLst/>
          </a:prstGeom>
        </p:spPr>
      </p:pic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852523" y="123752"/>
            <a:ext cx="8002719" cy="700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Quyidagi</a:t>
            </a:r>
            <a:r>
              <a:rPr lang="en-US" sz="1800" dirty="0" smtClean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</a:t>
            </a:r>
            <a:r>
              <a:rPr lang="en-US" sz="1800" dirty="0" err="1" smtClean="0"/>
              <a:t>semestrlar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ro’yxati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 (1-kurs </a:t>
            </a:r>
            <a:r>
              <a:rPr lang="en-US" sz="1800" dirty="0"/>
              <a:t>(1, 2), 2-kurs (3, 4), …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hokazo</a:t>
            </a:r>
            <a:r>
              <a:rPr lang="en-US" sz="1800" dirty="0" smtClean="0"/>
              <a:t>.)</a:t>
            </a:r>
            <a:endParaRPr sz="1800" dirty="0"/>
          </a:p>
        </p:txBody>
      </p:sp>
      <p:sp>
        <p:nvSpPr>
          <p:cNvPr id="9" name="Управляющая кнопка: в конец 8">
            <a:hlinkClick r:id="" action="ppaction://hlinkshowjump?jump=nextslide" highlightClick="1"/>
          </p:cNvPr>
          <p:cNvSpPr/>
          <p:nvPr/>
        </p:nvSpPr>
        <p:spPr>
          <a:xfrm>
            <a:off x="8341461" y="464501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079207" y="3564158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6751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2" y="886899"/>
            <a:ext cx="8905389" cy="4191697"/>
          </a:xfrm>
          <a:prstGeom prst="rect">
            <a:avLst/>
          </a:prstGeom>
        </p:spPr>
      </p:pic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818147" y="120726"/>
            <a:ext cx="8133349" cy="701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400" dirty="0" err="1" smtClean="0"/>
              <a:t>Semestrdagi</a:t>
            </a:r>
            <a:r>
              <a:rPr lang="en-US" sz="1400" dirty="0" smtClean="0"/>
              <a:t> </a:t>
            </a:r>
            <a:r>
              <a:rPr lang="en-US" sz="1400" dirty="0" err="1" smtClean="0"/>
              <a:t>kafedra</a:t>
            </a:r>
            <a:r>
              <a:rPr lang="en-US" sz="1400" dirty="0" smtClean="0"/>
              <a:t> </a:t>
            </a:r>
            <a:r>
              <a:rPr lang="en-US" sz="1400" dirty="0" err="1" smtClean="0"/>
              <a:t>yuklamasida</a:t>
            </a:r>
            <a:r>
              <a:rPr lang="en-US" sz="1400" dirty="0" smtClean="0"/>
              <a:t> </a:t>
            </a:r>
            <a:r>
              <a:rPr lang="en-US" sz="1400" dirty="0" err="1" smtClean="0"/>
              <a:t>mavjud</a:t>
            </a:r>
            <a:r>
              <a:rPr lang="en-US" sz="1400" dirty="0" smtClean="0"/>
              <a:t> </a:t>
            </a:r>
            <a:r>
              <a:rPr lang="en-US" sz="1400" dirty="0" err="1" smtClean="0"/>
              <a:t>bo’lgan</a:t>
            </a:r>
            <a:r>
              <a:rPr lang="en-US" sz="1400" dirty="0" smtClean="0"/>
              <a:t> (</a:t>
            </a:r>
            <a:r>
              <a:rPr lang="en-US" sz="1400" dirty="0" err="1" smtClean="0"/>
              <a:t>fanlar</a:t>
            </a:r>
            <a:r>
              <a:rPr lang="en-US" sz="1400" dirty="0" smtClean="0"/>
              <a:t>, </a:t>
            </a:r>
            <a:r>
              <a:rPr lang="en-US" sz="1400" dirty="0" err="1" smtClean="0"/>
              <a:t>amaliyotlar</a:t>
            </a:r>
            <a:r>
              <a:rPr lang="en-US" sz="1400" dirty="0"/>
              <a:t> </a:t>
            </a:r>
            <a:r>
              <a:rPr lang="en-US" sz="1400" dirty="0" err="1" smtClean="0"/>
              <a:t>va</a:t>
            </a:r>
            <a:r>
              <a:rPr lang="en-US" sz="1400" dirty="0" smtClean="0"/>
              <a:t> </a:t>
            </a:r>
            <a:r>
              <a:rPr lang="en-US" sz="1400" dirty="0" err="1" smtClean="0"/>
              <a:t>hokazo</a:t>
            </a:r>
            <a:r>
              <a:rPr lang="en-US" sz="1400" dirty="0" smtClean="0"/>
              <a:t>) </a:t>
            </a:r>
            <a:r>
              <a:rPr lang="en-US" sz="1400" dirty="0" err="1" smtClean="0"/>
              <a:t>ma’lumotlar</a:t>
            </a:r>
            <a:r>
              <a:rPr lang="en-US" sz="1400" dirty="0" smtClean="0"/>
              <a:t> </a:t>
            </a:r>
            <a:r>
              <a:rPr lang="en-US" sz="1400" dirty="0" err="1" smtClean="0"/>
              <a:t>keltirilgan</a:t>
            </a:r>
            <a:r>
              <a:rPr lang="en-US" sz="1400" dirty="0" smtClean="0"/>
              <a:t>. Bu </a:t>
            </a:r>
            <a:r>
              <a:rPr lang="en-US" sz="1400" dirty="0" err="1" smtClean="0"/>
              <a:t>ma’lumotlar</a:t>
            </a:r>
            <a:r>
              <a:rPr lang="en-US" sz="1400" dirty="0" smtClean="0"/>
              <a:t> </a:t>
            </a:r>
            <a:r>
              <a:rPr lang="en-US" sz="1400" dirty="0" err="1" smtClean="0"/>
              <a:t>barcha</a:t>
            </a:r>
            <a:r>
              <a:rPr lang="en-US" sz="1400" dirty="0" smtClean="0"/>
              <a:t> </a:t>
            </a:r>
            <a:r>
              <a:rPr lang="en-US" sz="1400" dirty="0" err="1" smtClean="0"/>
              <a:t>yo’nalish</a:t>
            </a:r>
            <a:r>
              <a:rPr lang="en-US" sz="1400" dirty="0" smtClean="0"/>
              <a:t> </a:t>
            </a:r>
            <a:r>
              <a:rPr lang="en-US" sz="1400" dirty="0" err="1" smtClean="0"/>
              <a:t>bandidan</a:t>
            </a:r>
            <a:r>
              <a:rPr lang="en-US" sz="1400" dirty="0" smtClean="0"/>
              <a:t> </a:t>
            </a:r>
            <a:r>
              <a:rPr lang="en-US" sz="1400" dirty="0" err="1" smtClean="0"/>
              <a:t>olinadi</a:t>
            </a:r>
            <a:r>
              <a:rPr lang="en-US" sz="1400" dirty="0" smtClean="0"/>
              <a:t>. </a:t>
            </a:r>
            <a:endParaRPr sz="1400" dirty="0"/>
          </a:p>
        </p:txBody>
      </p:sp>
      <p:sp>
        <p:nvSpPr>
          <p:cNvPr id="10" name="Управляющая кнопка: в конец 9">
            <a:hlinkClick r:id="" action="ppaction://hlinkshowjump?jump=nextslide" highlightClick="1"/>
          </p:cNvPr>
          <p:cNvSpPr/>
          <p:nvPr/>
        </p:nvSpPr>
        <p:spPr>
          <a:xfrm>
            <a:off x="8382711" y="4651893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032486" y="3924578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04353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1058779" y="584288"/>
            <a:ext cx="7445829" cy="1278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Tanlangan</a:t>
            </a:r>
            <a:r>
              <a:rPr lang="en-US" sz="1800" dirty="0" smtClean="0"/>
              <a:t> </a:t>
            </a:r>
            <a:r>
              <a:rPr lang="en-US" sz="1800" dirty="0" err="1" smtClean="0"/>
              <a:t>fanga</a:t>
            </a:r>
            <a:r>
              <a:rPr lang="en-US" sz="1800" dirty="0" smtClean="0"/>
              <a:t> </a:t>
            </a:r>
            <a:r>
              <a:rPr lang="en-US" sz="1800" dirty="0" err="1" smtClean="0"/>
              <a:t>oid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</a:t>
            </a:r>
            <a:r>
              <a:rPr lang="en-US" sz="1800" dirty="0" smtClean="0"/>
              <a:t> (</a:t>
            </a:r>
            <a:r>
              <a:rPr lang="en-US" sz="1800" dirty="0" err="1"/>
              <a:t>maruza</a:t>
            </a:r>
            <a:r>
              <a:rPr lang="en-US" sz="1800" dirty="0"/>
              <a:t>, </a:t>
            </a:r>
            <a:r>
              <a:rPr lang="en-US" sz="1800" dirty="0" err="1"/>
              <a:t>amaliy</a:t>
            </a:r>
            <a:r>
              <a:rPr lang="en-US" sz="1800" dirty="0"/>
              <a:t> </a:t>
            </a:r>
            <a:r>
              <a:rPr lang="en-US" sz="1800" dirty="0" err="1"/>
              <a:t>mashg‘ulot</a:t>
            </a:r>
            <a:r>
              <a:rPr lang="en-US" sz="1800" dirty="0"/>
              <a:t>, </a:t>
            </a:r>
            <a:r>
              <a:rPr lang="en-US" sz="1800" dirty="0" err="1"/>
              <a:t>laboratoriya</a:t>
            </a:r>
            <a:r>
              <a:rPr lang="en-US" sz="1800" dirty="0"/>
              <a:t>, seminar) </a:t>
            </a:r>
            <a:r>
              <a:rPr lang="en-US" sz="1800" dirty="0" err="1" smtClean="0"/>
              <a:t>dan</a:t>
            </a:r>
            <a:r>
              <a:rPr lang="en-US" sz="1800" dirty="0" smtClean="0"/>
              <a:t> </a:t>
            </a:r>
            <a:r>
              <a:rPr lang="en-US" sz="1800" dirty="0" err="1" smtClean="0"/>
              <a:t>biri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, </a:t>
            </a:r>
            <a:r>
              <a:rPr lang="en-US" sz="1800" dirty="0" err="1" smtClean="0"/>
              <a:t>guruhlar</a:t>
            </a:r>
            <a:r>
              <a:rPr lang="en-US" sz="1800" dirty="0"/>
              <a:t> </a:t>
            </a:r>
            <a:r>
              <a:rPr lang="en-US" sz="1800" dirty="0" err="1" smtClean="0"/>
              <a:t>belgilanadi</a:t>
            </a:r>
            <a:r>
              <a:rPr lang="en-US" sz="1800" dirty="0" smtClean="0"/>
              <a:t>, </a:t>
            </a:r>
            <a:r>
              <a:rPr lang="en-US" sz="1800" dirty="0" err="1" smtClean="0"/>
              <a:t>o’qituvchilarga</a:t>
            </a:r>
            <a:r>
              <a:rPr lang="en-US" sz="1800" dirty="0" smtClean="0"/>
              <a:t> </a:t>
            </a:r>
            <a:r>
              <a:rPr lang="en-US" sz="1800" dirty="0" err="1" smtClean="0"/>
              <a:t>tegishli</a:t>
            </a:r>
            <a:r>
              <a:rPr lang="en-US" sz="1800" dirty="0" smtClean="0"/>
              <a:t> </a:t>
            </a:r>
            <a:r>
              <a:rPr lang="en-US" sz="1800" dirty="0" err="1" smtClean="0"/>
              <a:t>soatlar</a:t>
            </a:r>
            <a:r>
              <a:rPr lang="en-US" sz="1800" dirty="0" smtClean="0"/>
              <a:t> </a:t>
            </a:r>
            <a:r>
              <a:rPr lang="en-US" sz="1800" dirty="0" err="1" smtClean="0"/>
              <a:t>aniqlashtiriladi</a:t>
            </a:r>
            <a:r>
              <a:rPr lang="en-US" sz="1800" dirty="0" smtClean="0"/>
              <a:t> </a:t>
            </a:r>
            <a:r>
              <a:rPr lang="en-US" sz="1800" dirty="0" err="1" smtClean="0"/>
              <a:t>va</a:t>
            </a:r>
            <a:r>
              <a:rPr lang="en-US" sz="1800" dirty="0" smtClean="0"/>
              <a:t> </a:t>
            </a:r>
            <a:r>
              <a:rPr lang="en-US" sz="1800" dirty="0" err="1" smtClean="0"/>
              <a:t>saqlanadi</a:t>
            </a:r>
            <a:r>
              <a:rPr lang="en-US" sz="1800" dirty="0" smtClean="0"/>
              <a:t>.</a:t>
            </a:r>
            <a:endParaRPr sz="1800" dirty="0"/>
          </a:p>
        </p:txBody>
      </p:sp>
      <p:cxnSp>
        <p:nvCxnSpPr>
          <p:cNvPr id="386" name="Google Shape;386;p44"/>
          <p:cNvCxnSpPr/>
          <p:nvPr/>
        </p:nvCxnSpPr>
        <p:spPr>
          <a:xfrm flipH="1">
            <a:off x="3171333" y="2850368"/>
            <a:ext cx="922686" cy="42276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Скругленный прямоугольник 7">
            <a:hlinkClick r:id="rId3" action="ppaction://hlinksldjump"/>
          </p:cNvPr>
          <p:cNvSpPr/>
          <p:nvPr/>
        </p:nvSpPr>
        <p:spPr>
          <a:xfrm>
            <a:off x="7567612" y="4615215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  <p:cxnSp>
        <p:nvCxnSpPr>
          <p:cNvPr id="13" name="Google Shape;386;p44"/>
          <p:cNvCxnSpPr/>
          <p:nvPr/>
        </p:nvCxnSpPr>
        <p:spPr>
          <a:xfrm flipH="1">
            <a:off x="3611216" y="2850368"/>
            <a:ext cx="922686" cy="42276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386;p44"/>
          <p:cNvCxnSpPr/>
          <p:nvPr/>
        </p:nvCxnSpPr>
        <p:spPr>
          <a:xfrm flipH="1">
            <a:off x="4094019" y="2850368"/>
            <a:ext cx="922686" cy="42276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93" y="1863072"/>
            <a:ext cx="8895238" cy="2533333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220257" y="2489571"/>
            <a:ext cx="8630067" cy="907725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8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>
            <a:spLocks noGrp="1"/>
          </p:cNvSpPr>
          <p:nvPr>
            <p:ph type="title"/>
          </p:nvPr>
        </p:nvSpPr>
        <p:spPr>
          <a:xfrm>
            <a:off x="2004149" y="710301"/>
            <a:ext cx="5135700" cy="571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/>
            <a:r>
              <a:rPr lang="en-US" sz="1800" dirty="0" err="1"/>
              <a:t>Quyidagi</a:t>
            </a:r>
            <a:r>
              <a:rPr lang="en-US" sz="1800" dirty="0"/>
              <a:t> </a:t>
            </a:r>
            <a:r>
              <a:rPr lang="en-US" sz="1800" dirty="0" err="1" smtClean="0"/>
              <a:t>jadvalda</a:t>
            </a:r>
            <a:r>
              <a:rPr lang="en-US" sz="1800" dirty="0" smtClean="0"/>
              <a:t> o</a:t>
            </a:r>
            <a:r>
              <a:rPr lang="en" sz="1800" dirty="0" smtClean="0"/>
              <a:t>’qituvchining yuklamasi shakllantiriladi </a:t>
            </a:r>
            <a:endParaRPr sz="1800" dirty="0"/>
          </a:p>
        </p:txBody>
      </p:sp>
      <p:sp>
        <p:nvSpPr>
          <p:cNvPr id="4" name="Управляющая кнопка: в конец 3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6" y="1646586"/>
            <a:ext cx="9020247" cy="2768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3" y="1359353"/>
            <a:ext cx="8951495" cy="3237596"/>
          </a:xfrm>
          <a:prstGeom prst="rect">
            <a:avLst/>
          </a:prstGeom>
        </p:spPr>
      </p:pic>
      <p:sp>
        <p:nvSpPr>
          <p:cNvPr id="397" name="Google Shape;397;p46"/>
          <p:cNvSpPr txBox="1">
            <a:spLocks noGrp="1"/>
          </p:cNvSpPr>
          <p:nvPr>
            <p:ph type="title"/>
          </p:nvPr>
        </p:nvSpPr>
        <p:spPr>
          <a:xfrm>
            <a:off x="1058778" y="618766"/>
            <a:ext cx="7741461" cy="6787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 smtClean="0"/>
              <a:t>Universitet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ro‘yxatidan</a:t>
            </a:r>
            <a:r>
              <a:rPr lang="en-US" sz="1800" dirty="0" smtClean="0"/>
              <a:t> </a:t>
            </a:r>
            <a:r>
              <a:rPr lang="en-US" sz="1800" dirty="0" err="1" smtClean="0"/>
              <a:t>kerakli</a:t>
            </a:r>
            <a:r>
              <a:rPr lang="en-US" sz="1800" dirty="0" smtClean="0"/>
              <a:t> </a:t>
            </a:r>
            <a:r>
              <a:rPr lang="en-US" sz="1800" dirty="0" err="1" smtClean="0"/>
              <a:t>fakultet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endParaRPr sz="1800" dirty="0"/>
          </a:p>
        </p:txBody>
      </p: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833421" y="1715334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>
            <a:spLocks noGrp="1"/>
          </p:cNvSpPr>
          <p:nvPr>
            <p:ph type="title"/>
          </p:nvPr>
        </p:nvSpPr>
        <p:spPr>
          <a:xfrm>
            <a:off x="1038155" y="665127"/>
            <a:ext cx="7821906" cy="67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/>
              <a:t>F</a:t>
            </a:r>
            <a:r>
              <a:rPr lang="en-US" sz="1800" dirty="0" err="1" smtClean="0"/>
              <a:t>akultetdan</a:t>
            </a:r>
            <a:r>
              <a:rPr lang="en-US" sz="1800" dirty="0" smtClean="0"/>
              <a:t> </a:t>
            </a:r>
            <a:r>
              <a:rPr lang="en-US" sz="1800" dirty="0" err="1" smtClean="0"/>
              <a:t>kafedra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cxnSp>
        <p:nvCxnSpPr>
          <p:cNvPr id="412" name="Google Shape;412;p47"/>
          <p:cNvCxnSpPr/>
          <p:nvPr/>
        </p:nvCxnSpPr>
        <p:spPr>
          <a:xfrm flipH="1">
            <a:off x="3463800" y="2516950"/>
            <a:ext cx="1534227" cy="40259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0" y="1394634"/>
            <a:ext cx="9054623" cy="3207771"/>
          </a:xfrm>
          <a:prstGeom prst="rect">
            <a:avLst/>
          </a:prstGeom>
        </p:spPr>
      </p:pic>
      <p:cxnSp>
        <p:nvCxnSpPr>
          <p:cNvPr id="6" name="Google Shape;170;p18"/>
          <p:cNvCxnSpPr/>
          <p:nvPr/>
        </p:nvCxnSpPr>
        <p:spPr>
          <a:xfrm flipH="1">
            <a:off x="952394" y="2329287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2" y="1287270"/>
            <a:ext cx="9088998" cy="3843188"/>
          </a:xfrm>
          <a:prstGeom prst="rect">
            <a:avLst/>
          </a:prstGeom>
        </p:spPr>
      </p:pic>
      <p:sp>
        <p:nvSpPr>
          <p:cNvPr id="417" name="Google Shape;417;p48"/>
          <p:cNvSpPr txBox="1">
            <a:spLocks noGrp="1"/>
          </p:cNvSpPr>
          <p:nvPr>
            <p:ph type="title"/>
          </p:nvPr>
        </p:nvSpPr>
        <p:spPr>
          <a:xfrm>
            <a:off x="1058778" y="550014"/>
            <a:ext cx="7762087" cy="652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 err="1" smtClean="0"/>
              <a:t>Kafedra</a:t>
            </a:r>
            <a:r>
              <a:rPr lang="en-US" sz="1800" dirty="0" smtClean="0"/>
              <a:t>   professor </a:t>
            </a:r>
            <a:r>
              <a:rPr lang="en-US" sz="1800" dirty="0" err="1" smtClean="0"/>
              <a:t>o‘qituvchilar</a:t>
            </a:r>
            <a:r>
              <a:rPr lang="en-US" sz="1800" dirty="0" smtClean="0"/>
              <a:t> </a:t>
            </a:r>
            <a:r>
              <a:rPr lang="en-US" sz="1800" dirty="0" err="1" smtClean="0"/>
              <a:t>ro‘yxatidan</a:t>
            </a:r>
            <a:r>
              <a:rPr lang="en-US" sz="1800" dirty="0" smtClean="0"/>
              <a:t> </a:t>
            </a:r>
            <a:r>
              <a:rPr lang="en-US" sz="1800" dirty="0" err="1" smtClean="0"/>
              <a:t>biri</a:t>
            </a:r>
            <a:r>
              <a:rPr lang="en-US" sz="1800" dirty="0" smtClean="0"/>
              <a:t> </a:t>
            </a:r>
            <a:r>
              <a:rPr lang="en-US" sz="1800" dirty="0" err="1" smtClean="0"/>
              <a:t>tanlanadi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8" name="Управляющая кнопка: в конец 7">
            <a:hlinkClick r:id="" action="ppaction://hlinkshowjump?jump=nextslide" highlightClick="1"/>
          </p:cNvPr>
          <p:cNvSpPr/>
          <p:nvPr/>
        </p:nvSpPr>
        <p:spPr>
          <a:xfrm>
            <a:off x="8396461" y="4658768"/>
            <a:ext cx="587352" cy="387118"/>
          </a:xfrm>
          <a:prstGeom prst="actionButtonE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Google Shape;170;p18"/>
          <p:cNvCxnSpPr/>
          <p:nvPr/>
        </p:nvCxnSpPr>
        <p:spPr>
          <a:xfrm flipH="1">
            <a:off x="1452977" y="2683129"/>
            <a:ext cx="1049943" cy="37532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5" y="1205145"/>
            <a:ext cx="9075247" cy="3391419"/>
          </a:xfrm>
          <a:prstGeom prst="rect">
            <a:avLst/>
          </a:prstGeom>
        </p:spPr>
      </p:pic>
      <p:sp>
        <p:nvSpPr>
          <p:cNvPr id="427" name="Google Shape;427;p49"/>
          <p:cNvSpPr txBox="1">
            <a:spLocks noGrp="1"/>
          </p:cNvSpPr>
          <p:nvPr>
            <p:ph type="title"/>
          </p:nvPr>
        </p:nvSpPr>
        <p:spPr>
          <a:xfrm>
            <a:off x="1072529" y="508763"/>
            <a:ext cx="7892716" cy="643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err="1"/>
              <a:t>Quyidagi</a:t>
            </a:r>
            <a:r>
              <a:rPr lang="en-US" sz="1800" dirty="0"/>
              <a:t> </a:t>
            </a:r>
            <a:r>
              <a:rPr lang="en-US" sz="1800" dirty="0" err="1"/>
              <a:t>jadvalda</a:t>
            </a:r>
            <a:r>
              <a:rPr lang="en-US" sz="1800" dirty="0"/>
              <a:t> </a:t>
            </a:r>
            <a:r>
              <a:rPr lang="en-US" sz="1800" dirty="0" err="1" smtClean="0"/>
              <a:t>o’qituvchining</a:t>
            </a:r>
            <a:r>
              <a:rPr lang="en-US" sz="1800" dirty="0" smtClean="0"/>
              <a:t> </a:t>
            </a:r>
            <a:r>
              <a:rPr lang="en-US" sz="1800" dirty="0" err="1" smtClean="0"/>
              <a:t>yuklamasi</a:t>
            </a:r>
            <a:r>
              <a:rPr lang="en-US" sz="1800" dirty="0" smtClean="0"/>
              <a:t> </a:t>
            </a:r>
            <a:r>
              <a:rPr lang="en-US" sz="1800" dirty="0" err="1" smtClean="0"/>
              <a:t>keltirilgan</a:t>
            </a:r>
            <a:r>
              <a:rPr lang="en-US" sz="1800" dirty="0" smtClean="0"/>
              <a:t>. (</a:t>
            </a:r>
            <a:r>
              <a:rPr lang="en-US" sz="1800" dirty="0" err="1" smtClean="0"/>
              <a:t>Yuqoridagi</a:t>
            </a:r>
            <a:r>
              <a:rPr lang="en-US" sz="1800" dirty="0" smtClean="0"/>
              <a:t> </a:t>
            </a:r>
            <a:r>
              <a:rPr lang="en-US" sz="1800" dirty="0" err="1" smtClean="0"/>
              <a:t>ma’lumotlarga</a:t>
            </a:r>
            <a:r>
              <a:rPr lang="en-US" sz="1800" dirty="0" smtClean="0"/>
              <a:t> </a:t>
            </a:r>
            <a:r>
              <a:rPr lang="en-US" sz="1800" dirty="0" err="1" smtClean="0"/>
              <a:t>asoslangan</a:t>
            </a:r>
            <a:r>
              <a:rPr lang="en-US" sz="1800" dirty="0" smtClean="0"/>
              <a:t> </a:t>
            </a:r>
            <a:r>
              <a:rPr lang="en-US" sz="1800" dirty="0" err="1" smtClean="0"/>
              <a:t>holda</a:t>
            </a:r>
            <a:r>
              <a:rPr lang="en-US" sz="1800" dirty="0" smtClean="0"/>
              <a:t>)</a:t>
            </a:r>
            <a:endParaRPr sz="1800" dirty="0"/>
          </a:p>
        </p:txBody>
      </p:sp>
      <p:sp>
        <p:nvSpPr>
          <p:cNvPr id="8" name="Скругленный прямоугольник 7">
            <a:hlinkClick r:id="rId4" action="ppaction://hlinksldjump"/>
          </p:cNvPr>
          <p:cNvSpPr/>
          <p:nvPr/>
        </p:nvSpPr>
        <p:spPr>
          <a:xfrm>
            <a:off x="7574487" y="4628965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954446" y="2029034"/>
            <a:ext cx="7582178" cy="847656"/>
          </a:xfrm>
        </p:spPr>
        <p:txBody>
          <a:bodyPr>
            <a:normAutofit/>
          </a:bodyPr>
          <a:lstStyle/>
          <a:p>
            <a:pPr marL="146050" indent="0" algn="ctr">
              <a:buNone/>
            </a:pPr>
            <a:r>
              <a:rPr lang="en-US" sz="330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Etiboringiz</a:t>
            </a:r>
            <a:r>
              <a:rPr lang="en-US" sz="33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30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uchun</a:t>
            </a:r>
            <a:r>
              <a:rPr lang="en-US" sz="33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300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rahmat</a:t>
            </a:r>
            <a:endParaRPr lang="ru-RU" sz="3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Скругленный прямоугольник 4">
            <a:hlinkClick r:id="rId2" action="ppaction://hlinksldjump"/>
          </p:cNvPr>
          <p:cNvSpPr/>
          <p:nvPr/>
        </p:nvSpPr>
        <p:spPr>
          <a:xfrm>
            <a:off x="7494394" y="4555546"/>
            <a:ext cx="1548888" cy="49391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Bosh </a:t>
            </a:r>
            <a:r>
              <a:rPr lang="en-US" dirty="0" err="1" smtClean="0"/>
              <a:t>tuzulma</a:t>
            </a:r>
            <a:r>
              <a:rPr lang="en-US" dirty="0" smtClean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6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551</Words>
  <Application>Microsoft Office PowerPoint</Application>
  <PresentationFormat>Экран (16:9)</PresentationFormat>
  <Paragraphs>65</Paragraphs>
  <Slides>45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9" baseType="lpstr">
      <vt:lpstr>Arial</vt:lpstr>
      <vt:lpstr>Montserrat</vt:lpstr>
      <vt:lpstr>Lato</vt:lpstr>
      <vt:lpstr>Focus</vt:lpstr>
      <vt:lpstr>Oliy ta'lim professor-o‘qituvchilarining yuklamasini raqamlashtirish dasturi</vt:lpstr>
      <vt:lpstr>Презентация PowerPoint</vt:lpstr>
      <vt:lpstr>OTM da talabalar soni, guruhlar soni, oqimlar soni, ta'lim tili, ta'lim turi va yo‘nalishlar bo‘yicha ma'lumotlarni kiritish.</vt:lpstr>
      <vt:lpstr>Jadvalning birinchi bo’limida universitetda mavjud bo’lgan ta’lim turlari ro’yxati kelib chiqadi va ulardan biri tanlanadi:</vt:lpstr>
      <vt:lpstr>OTM ning barcha fakultetlari ro'yxati chiqadi va undan fakultet tanlanadi.</vt:lpstr>
      <vt:lpstr>Fakultetning yo‘nalishlari ro'yxatidan ixtiyoriy yo‘nalish tanlanadi.</vt:lpstr>
      <vt:lpstr>Kurslar ro’yxatidan keraklisi tanlanadi</vt:lpstr>
      <vt:lpstr>Tanlangan kursning semestri bo’yicha ro’yxatidan keraklisi tanlanadi.(Bu yerda 1-kurs tanlangan)</vt:lpstr>
      <vt:lpstr>Talabalar soni, guruhlar soni va oqimlar soni kiritiladi, so‘ngra ulardan mos guruh tanlanadi.(Bu yerda 1-semester, talabalar soni 50 ta, guruh soni 2 ta va patok 1 ta kiritilgan)</vt:lpstr>
      <vt:lpstr>Navbatdagi bosqichda kurslardagi talabalar soni guruhlarga ajratiladi.(Guruhlar nomlari, ularning talabalar soni aniqlanadi)</vt:lpstr>
      <vt:lpstr>Yuqorida keltirilgan jadvaldagi malumotlar kompyuter xotirasida quyidagicha saqlanadi </vt:lpstr>
      <vt:lpstr>Yo‘nalishlarning ishchi o‘quv rejalari tuzilmasi</vt:lpstr>
      <vt:lpstr>Ta'lim turini tanlash orqali quyidagi jadval to’ldiriladi. (Bu yerda “Boshqa turlar” deganda fan kiritish, amaliyot, yadak va hokazo) </vt:lpstr>
      <vt:lpstr>Ta'lim turiga doir fakultetlar ro‘yxati quyidagi jadvalda keltirilgan.</vt:lpstr>
      <vt:lpstr>Quyidagi jadvalda tanlangan fakultetdagi yo’nalishlar ro’yxati keltirilgan. </vt:lpstr>
      <vt:lpstr>Quyidagi jadvalda tanlangan yo’nalishga doir kurslar ro’yxati ko’rsatilgan.</vt:lpstr>
      <vt:lpstr>Navbatdagi bosqichda semestrlar ro’yxati tanlanadi. Masalan: 1-kurs (1, 2), 2-kurs (3, 4), … va hokazo.</vt:lpstr>
      <vt:lpstr>Navbatdagi bosqichda kafedralar ro’yxatidan biri tanlanadi.</vt:lpstr>
      <vt:lpstr>Navbatdagi bosqichda boshqa turlarga tegishli ma’lumotlardan biri tanlanadi.</vt:lpstr>
      <vt:lpstr>Fanga doir ma’lumotlar kiritiladi.</vt:lpstr>
      <vt:lpstr>Malakaviy amaliyotga doir ma’lumotlar kiritiladi.</vt:lpstr>
      <vt:lpstr>YADAK tanlanganda quyidagi jadvalga ma’lumotlar kiritish ko’rsatilgan.</vt:lpstr>
      <vt:lpstr>     OTM ning ishchi o’quv reja </vt:lpstr>
      <vt:lpstr>OTMning ishchi o’quv rejasidan fakultet tanlanadi.</vt:lpstr>
      <vt:lpstr>Fakultetdan kafedra ro’yxati tanlanadi.</vt:lpstr>
      <vt:lpstr>OTMning ishchi o’quv rejasidan fakultet tanlanadi.</vt:lpstr>
      <vt:lpstr>Navbatdagi bosqichda kafedra o’qituvchilari ma’lumotlarini kiritiladi</vt:lpstr>
      <vt:lpstr>Quyidagi javalda kafedra o’qituvchilari ma’lumotlari kiritiladi.</vt:lpstr>
      <vt:lpstr>Quyidagi jadvalda kafedra o’qituvchilari yuklamasiga doir ma’lumotlar bazasi ko’rsatilgan.</vt:lpstr>
      <vt:lpstr>              O’qituvchilar yuklamasiga doir jadval</vt:lpstr>
      <vt:lpstr>Quyidagi jadvalni to’ldirish uchun ta’lim turi tanlanadi va o’qituvchilar va yo’nalishlar aniqlanadi.</vt:lpstr>
      <vt:lpstr>Quyidagi jadvalda ta’lim turi bo’yicha fakultetlar ro’yxati keltirilgan.</vt:lpstr>
      <vt:lpstr>Tanlangan fakultetdagi kafedralar ro’yxati keltirilgan.</vt:lpstr>
      <vt:lpstr>Quyidagi jadvalda tanlangan kafedraning o’qituvchilari ro’yxati keltirilgan.</vt:lpstr>
      <vt:lpstr>Quyidagi jadvalda tanlangan fakultetning yo’nalishlari ro’yxati keltirilgan </vt:lpstr>
      <vt:lpstr>Tanlangan ta’lim yo‘nalishiga doir kurslar ro’yxati keltirilgan.</vt:lpstr>
      <vt:lpstr>Quyidagi jadvalda semestrlar ro’yxati keltirilgan. (1-kurs (1, 2), 2-kurs (3, 4), … va hokazo.)</vt:lpstr>
      <vt:lpstr>Semestrdagi kafedra yuklamasida mavjud bo’lgan (fanlar, amaliyotlar va hokazo) ma’lumotlar keltirilgan. Bu ma’lumotlar barcha yo’nalish bandidan olinadi. </vt:lpstr>
      <vt:lpstr>Tanlangan fanga oid ma’lumotlar (maruza, amaliy mashg‘ulot, laboratoriya, seminar) dan biri tanlanadi, guruhlar belgilanadi, o’qituvchilarga tegishli soatlar aniqlashtiriladi va saqlanadi.</vt:lpstr>
      <vt:lpstr>Quyidagi jadvalda o’qituvchining yuklamasi shakllantiriladi </vt:lpstr>
      <vt:lpstr>Universitet fakultetlar ro‘yxatidan kerakli fakultet tanlanadi</vt:lpstr>
      <vt:lpstr>Fakultetdan kafedra tanlanadi.</vt:lpstr>
      <vt:lpstr>Kafedra   professor o‘qituvchilar ro‘yxatidan biri tanlanadi.</vt:lpstr>
      <vt:lpstr>Quyidagi jadvalda o’qituvchining yuklamasi keltirilgan. (Yuqoridagi ma’lumotlarga asoslangan holda)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Sharof Rashidov nomidagi Samarqand davlat universiteti "Media-Markaz"da professor o'qituvchilarning yuklamasini hisoblaydigan elektron dastur</dc:title>
  <dc:creator>User</dc:creator>
  <cp:lastModifiedBy>User</cp:lastModifiedBy>
  <cp:revision>60</cp:revision>
  <dcterms:modified xsi:type="dcterms:W3CDTF">2024-10-04T05:25:35Z</dcterms:modified>
</cp:coreProperties>
</file>