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7"/>
  </p:notesMasterIdLst>
  <p:handoutMasterIdLst>
    <p:handoutMasterId r:id="rId8"/>
  </p:handoutMasterIdLst>
  <p:sldIdLst>
    <p:sldId id="295" r:id="rId2"/>
    <p:sldId id="310" r:id="rId3"/>
    <p:sldId id="309" r:id="rId4"/>
    <p:sldId id="296" r:id="rId5"/>
    <p:sldId id="318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D0858"/>
    <a:srgbClr val="66FFCC"/>
    <a:srgbClr val="00FFFF"/>
    <a:srgbClr val="00CCFF"/>
    <a:srgbClr val="33CCFF"/>
    <a:srgbClr val="A8F6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88364" autoAdjust="0"/>
  </p:normalViewPr>
  <p:slideViewPr>
    <p:cSldViewPr>
      <p:cViewPr varScale="1">
        <p:scale>
          <a:sx n="61" d="100"/>
          <a:sy n="61" d="100"/>
        </p:scale>
        <p:origin x="39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3" d="100"/>
          <a:sy n="53" d="100"/>
        </p:scale>
        <p:origin x="2844" y="90"/>
      </p:cViewPr>
      <p:guideLst/>
    </p:cSldViewPr>
  </p:notesViewPr>
  <p:gridSpacing cx="360000" cy="360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1A589-07A7-4118-9A53-C0E458AF49EE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FA6DE-97ED-426D-97D3-9947FB6DE26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2809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5432F6-DA97-4F5C-94B7-E6FD8B3ACAB3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94F2B-E143-49E5-A572-471AB384BD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254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068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591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76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1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233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08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01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526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7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8200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4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E6190D-782D-4A88-99EC-EABABB626A90}" type="datetimeFigureOut">
              <a:rPr lang="ru-RU" smtClean="0"/>
              <a:t>16.10.2024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36CFC-584A-450C-9623-4213DB6EFB4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6538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461.png"/><Relationship Id="rId3" Type="http://schemas.openxmlformats.org/officeDocument/2006/relationships/image" Target="../media/image361.png"/><Relationship Id="rId7" Type="http://schemas.openxmlformats.org/officeDocument/2006/relationships/image" Target="../media/image401.png"/><Relationship Id="rId12" Type="http://schemas.openxmlformats.org/officeDocument/2006/relationships/image" Target="../media/image45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1.png"/><Relationship Id="rId11" Type="http://schemas.openxmlformats.org/officeDocument/2006/relationships/image" Target="../media/image443.png"/><Relationship Id="rId5" Type="http://schemas.openxmlformats.org/officeDocument/2006/relationships/image" Target="../media/image381.png"/><Relationship Id="rId15" Type="http://schemas.openxmlformats.org/officeDocument/2006/relationships/image" Target="../media/image481.png"/><Relationship Id="rId10" Type="http://schemas.openxmlformats.org/officeDocument/2006/relationships/image" Target="../media/image432.png"/><Relationship Id="rId4" Type="http://schemas.openxmlformats.org/officeDocument/2006/relationships/image" Target="../media/image371.png"/><Relationship Id="rId9" Type="http://schemas.openxmlformats.org/officeDocument/2006/relationships/image" Target="../media/image421.png"/><Relationship Id="rId14" Type="http://schemas.openxmlformats.org/officeDocument/2006/relationships/image" Target="../media/image47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32.png"/><Relationship Id="rId7" Type="http://schemas.openxmlformats.org/officeDocument/2006/relationships/image" Target="../media/image149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10" Type="http://schemas.openxmlformats.org/officeDocument/2006/relationships/image" Target="../media/image155.png"/><Relationship Id="rId4" Type="http://schemas.openxmlformats.org/officeDocument/2006/relationships/image" Target="../media/image137.png"/><Relationship Id="rId9" Type="http://schemas.openxmlformats.org/officeDocument/2006/relationships/image" Target="../media/image15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0.png"/><Relationship Id="rId3" Type="http://schemas.openxmlformats.org/officeDocument/2006/relationships/image" Target="../media/image113.png"/><Relationship Id="rId7" Type="http://schemas.openxmlformats.org/officeDocument/2006/relationships/image" Target="../media/image1390.png"/><Relationship Id="rId12" Type="http://schemas.openxmlformats.org/officeDocument/2006/relationships/image" Target="../media/image116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80.png"/><Relationship Id="rId11" Type="http://schemas.openxmlformats.org/officeDocument/2006/relationships/image" Target="../media/image115.png"/><Relationship Id="rId5" Type="http://schemas.openxmlformats.org/officeDocument/2006/relationships/image" Target="../media/image1370.png"/><Relationship Id="rId10" Type="http://schemas.openxmlformats.org/officeDocument/2006/relationships/image" Target="../media/image1540.png"/><Relationship Id="rId4" Type="http://schemas.openxmlformats.org/officeDocument/2006/relationships/image" Target="../media/image114.png"/><Relationship Id="rId9" Type="http://schemas.openxmlformats.org/officeDocument/2006/relationships/image" Target="../media/image15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5.png"/><Relationship Id="rId3" Type="http://schemas.openxmlformats.org/officeDocument/2006/relationships/image" Target="../media/image1134.png"/><Relationship Id="rId7" Type="http://schemas.openxmlformats.org/officeDocument/2006/relationships/image" Target="../media/image117.png"/><Relationship Id="rId12" Type="http://schemas.openxmlformats.org/officeDocument/2006/relationships/image" Target="../media/image124.png"/><Relationship Id="rId2" Type="http://schemas.openxmlformats.org/officeDocument/2006/relationships/image" Target="../media/image11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4.png"/><Relationship Id="rId11" Type="http://schemas.openxmlformats.org/officeDocument/2006/relationships/image" Target="../media/image123.png"/><Relationship Id="rId5" Type="http://schemas.openxmlformats.org/officeDocument/2006/relationships/image" Target="../media/image1154.png"/><Relationship Id="rId15" Type="http://schemas.openxmlformats.org/officeDocument/2006/relationships/image" Target="../media/image7.png"/><Relationship Id="rId10" Type="http://schemas.openxmlformats.org/officeDocument/2006/relationships/image" Target="../media/image121.png"/><Relationship Id="rId4" Type="http://schemas.openxmlformats.org/officeDocument/2006/relationships/image" Target="../media/image1144.png"/><Relationship Id="rId9" Type="http://schemas.openxmlformats.org/officeDocument/2006/relationships/image" Target="../media/image119.png"/><Relationship Id="rId14" Type="http://schemas.openxmlformats.org/officeDocument/2006/relationships/image" Target="../media/image1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13" Type="http://schemas.openxmlformats.org/officeDocument/2006/relationships/image" Target="../media/image188.png"/><Relationship Id="rId18" Type="http://schemas.openxmlformats.org/officeDocument/2006/relationships/image" Target="../media/image198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7.png"/><Relationship Id="rId17" Type="http://schemas.openxmlformats.org/officeDocument/2006/relationships/image" Target="../media/image197.png"/><Relationship Id="rId2" Type="http://schemas.openxmlformats.org/officeDocument/2006/relationships/image" Target="../media/image175.png"/><Relationship Id="rId16" Type="http://schemas.openxmlformats.org/officeDocument/2006/relationships/image" Target="../media/image19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9.png"/><Relationship Id="rId11" Type="http://schemas.openxmlformats.org/officeDocument/2006/relationships/image" Target="../media/image186.png"/><Relationship Id="rId5" Type="http://schemas.openxmlformats.org/officeDocument/2006/relationships/image" Target="../media/image178.png"/><Relationship Id="rId15" Type="http://schemas.openxmlformats.org/officeDocument/2006/relationships/image" Target="../media/image195.png"/><Relationship Id="rId10" Type="http://schemas.openxmlformats.org/officeDocument/2006/relationships/image" Target="../media/image185.png"/><Relationship Id="rId19" Type="http://schemas.openxmlformats.org/officeDocument/2006/relationships/image" Target="../media/image127.png"/><Relationship Id="rId4" Type="http://schemas.openxmlformats.org/officeDocument/2006/relationships/image" Target="../media/image177.png"/><Relationship Id="rId9" Type="http://schemas.openxmlformats.org/officeDocument/2006/relationships/image" Target="../media/image184.png"/><Relationship Id="rId14" Type="http://schemas.openxmlformats.org/officeDocument/2006/relationships/image" Target="../media/image1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300" b="1" dirty="0" smtClean="0"/>
              <a:t>Funksiya </a:t>
            </a:r>
            <a:r>
              <a:rPr lang="en-US" sz="3300" b="1" dirty="0" err="1" smtClean="0"/>
              <a:t>limitining</a:t>
            </a:r>
            <a:r>
              <a:rPr lang="en-US" sz="3300" b="1" dirty="0" smtClean="0"/>
              <a:t> </a:t>
            </a:r>
            <a:r>
              <a:rPr lang="en-US" sz="3300" b="1" dirty="0" err="1"/>
              <a:t>Koshi</a:t>
            </a:r>
            <a:r>
              <a:rPr lang="en-US" sz="3300" b="1" dirty="0"/>
              <a:t> </a:t>
            </a:r>
            <a:r>
              <a:rPr lang="en-US" sz="3300" b="1" dirty="0" err="1"/>
              <a:t>ta’rifi</a:t>
            </a:r>
            <a:endParaRPr lang="ru-RU" sz="33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690688"/>
                <a:ext cx="5028077" cy="4351338"/>
              </a:xfrm>
            </p:spPr>
            <p:txBody>
              <a:bodyPr>
                <a:normAutofit fontScale="92500"/>
              </a:bodyPr>
              <a:lstStyle/>
              <a:p>
                <a:pPr marL="0" indent="0" algn="just">
                  <a:buNone/>
                </a:pPr>
                <a:r>
                  <a:rPr lang="en-US" b="1" dirty="0" smtClean="0"/>
                  <a:t> </a:t>
                </a:r>
                <a:endParaRPr lang="ru-RU" dirty="0">
                  <a:solidFill>
                    <a:srgbClr val="002060"/>
                  </a:solidFill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funksiya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nuqtaning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biror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atrofida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aniqlangan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bo‘lsin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nuqtaning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o‘zida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aniqlanmagan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bo‘lishi</a:t>
                </a:r>
                <a:r>
                  <a:rPr lang="en-US" sz="2400" dirty="0">
                    <a:solidFill>
                      <a:schemeClr val="tx1"/>
                    </a:solidFill>
                  </a:rPr>
                  <a:t> ham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mumkin</a:t>
                </a:r>
                <a:r>
                  <a:rPr lang="en-US" sz="2400" dirty="0">
                    <a:solidFill>
                      <a:schemeClr val="tx1"/>
                    </a:solidFill>
                  </a:rPr>
                  <a:t>).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sz="2400" b="1" dirty="0" err="1"/>
                  <a:t>Ta’rif</a:t>
                </a:r>
                <a:r>
                  <a:rPr lang="en-US" sz="2400" b="1" dirty="0"/>
                  <a:t>.</a:t>
                </a:r>
                <a:r>
                  <a:rPr lang="en-US" sz="2400" dirty="0"/>
                  <a:t> Agar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soni</a:t>
                </a:r>
                <a:r>
                  <a:rPr lang="en-US" sz="2400" dirty="0">
                    <a:solidFill>
                      <a:schemeClr val="tx1"/>
                    </a:solidFill>
                  </a:rPr>
                  <a:t> uchun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soni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topilsaki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 err="1">
                    <a:solidFill>
                      <a:schemeClr val="tx1"/>
                    </a:solidFill>
                  </a:rPr>
                  <a:t>munosabatni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qanoatlantiruvchi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lar </a:t>
                </a:r>
                <a:r>
                  <a:rPr lang="en-US" sz="2400" dirty="0" err="1" smtClean="0">
                    <a:solidFill>
                      <a:schemeClr val="tx1"/>
                    </a:solidFill>
                  </a:rPr>
                  <a:t>uchun</a:t>
                </a:r>
                <a:endParaRPr lang="en-US" sz="2400" dirty="0" smtClean="0">
                  <a:solidFill>
                    <a:schemeClr val="tx1"/>
                  </a:solidFill>
                </a:endParaRPr>
              </a:p>
              <a:p>
                <a:pPr marL="0" indent="0" algn="just"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tengsizlik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bajarilsa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,</a:t>
                </a:r>
              </a:p>
              <a:p>
                <a:pPr marL="0" indent="0" algn="just">
                  <a:buNone/>
                </a:pPr>
                <a:r>
                  <a:rPr lang="en-US" sz="2400" dirty="0" smtClean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u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holda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soniga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funksiyaning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nuqtadagi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limiti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 err="1">
                    <a:solidFill>
                      <a:schemeClr val="tx1"/>
                    </a:solidFill>
                  </a:rPr>
                  <a:t>deyiladi</a:t>
                </a:r>
                <a:r>
                  <a:rPr lang="en-US" sz="2400" dirty="0" smtClean="0">
                    <a:solidFill>
                      <a:schemeClr val="tx1"/>
                    </a:solidFill>
                  </a:rPr>
                  <a:t>.</a:t>
                </a:r>
                <a:r>
                  <a:rPr lang="en-US" sz="2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ru-RU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ru-RU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ru-RU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690688"/>
                <a:ext cx="5028077" cy="4351338"/>
              </a:xfrm>
              <a:blipFill>
                <a:blip r:embed="rId2"/>
                <a:stretch>
                  <a:fillRect l="-1578" r="-1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Прямая со стрелкой 7"/>
          <p:cNvCxnSpPr/>
          <p:nvPr/>
        </p:nvCxnSpPr>
        <p:spPr>
          <a:xfrm flipV="1">
            <a:off x="7578436" y="2452255"/>
            <a:ext cx="0" cy="3394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6774873" y="5278582"/>
            <a:ext cx="4433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8875268" y="5278582"/>
                <a:ext cx="23552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268" y="5278582"/>
                <a:ext cx="235527" cy="369332"/>
              </a:xfrm>
              <a:prstGeom prst="rect">
                <a:avLst/>
              </a:prstGeom>
              <a:blipFill>
                <a:blip r:embed="rId3"/>
                <a:stretch>
                  <a:fillRect r="-179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7849303" y="5293606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849303" y="5293606"/>
                <a:ext cx="8271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9406807" y="5287697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06807" y="5287697"/>
                <a:ext cx="82711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6838368" y="4578677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38368" y="4578677"/>
                <a:ext cx="82711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6848474" y="3164669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48474" y="3164669"/>
                <a:ext cx="82711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6989274" y="3944481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89274" y="3944481"/>
                <a:ext cx="82711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 rot="16200000">
            <a:off x="8374949" y="3920975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………………………………………..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829138" y="3920976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………………………………………..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84812" y="4541104"/>
            <a:ext cx="3137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 ……………………………....................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84812" y="3158248"/>
            <a:ext cx="3137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 ……………………………....................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7" name="Полилиния 6"/>
          <p:cNvSpPr/>
          <p:nvPr/>
        </p:nvSpPr>
        <p:spPr>
          <a:xfrm>
            <a:off x="7159172" y="3032123"/>
            <a:ext cx="4194628" cy="1915886"/>
          </a:xfrm>
          <a:custGeom>
            <a:avLst/>
            <a:gdLst>
              <a:gd name="connsiteX0" fmla="*/ 0 w 4194628"/>
              <a:gd name="connsiteY0" fmla="*/ 0 h 1915886"/>
              <a:gd name="connsiteX1" fmla="*/ 943428 w 4194628"/>
              <a:gd name="connsiteY1" fmla="*/ 246743 h 1915886"/>
              <a:gd name="connsiteX2" fmla="*/ 1524000 w 4194628"/>
              <a:gd name="connsiteY2" fmla="*/ 769257 h 1915886"/>
              <a:gd name="connsiteX3" fmla="*/ 2554514 w 4194628"/>
              <a:gd name="connsiteY3" fmla="*/ 1611086 h 1915886"/>
              <a:gd name="connsiteX4" fmla="*/ 2960914 w 4194628"/>
              <a:gd name="connsiteY4" fmla="*/ 1785257 h 1915886"/>
              <a:gd name="connsiteX5" fmla="*/ 4194628 w 4194628"/>
              <a:gd name="connsiteY5" fmla="*/ 1915886 h 1915886"/>
              <a:gd name="connsiteX6" fmla="*/ 4194628 w 4194628"/>
              <a:gd name="connsiteY6" fmla="*/ 1915886 h 191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4628" h="1915886">
                <a:moveTo>
                  <a:pt x="0" y="0"/>
                </a:moveTo>
                <a:cubicBezTo>
                  <a:pt x="344714" y="59266"/>
                  <a:pt x="689428" y="118533"/>
                  <a:pt x="943428" y="246743"/>
                </a:cubicBezTo>
                <a:cubicBezTo>
                  <a:pt x="1197428" y="374953"/>
                  <a:pt x="1255486" y="541867"/>
                  <a:pt x="1524000" y="769257"/>
                </a:cubicBezTo>
                <a:cubicBezTo>
                  <a:pt x="1792514" y="996647"/>
                  <a:pt x="2315028" y="1441753"/>
                  <a:pt x="2554514" y="1611086"/>
                </a:cubicBezTo>
                <a:cubicBezTo>
                  <a:pt x="2794000" y="1780419"/>
                  <a:pt x="2687562" y="1734457"/>
                  <a:pt x="2960914" y="1785257"/>
                </a:cubicBezTo>
                <a:cubicBezTo>
                  <a:pt x="3234266" y="1836057"/>
                  <a:pt x="4194628" y="1915886"/>
                  <a:pt x="4194628" y="1915886"/>
                </a:cubicBezTo>
                <a:lnTo>
                  <a:pt x="4194628" y="1915886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/>
          <p:cNvSpPr/>
          <p:nvPr/>
        </p:nvSpPr>
        <p:spPr>
          <a:xfrm>
            <a:off x="8978356" y="4059827"/>
            <a:ext cx="114567" cy="11194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Блок-схема: узел 25"/>
          <p:cNvSpPr/>
          <p:nvPr/>
        </p:nvSpPr>
        <p:spPr>
          <a:xfrm>
            <a:off x="8388053" y="3536322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Блок-схема: узел 26"/>
          <p:cNvSpPr/>
          <p:nvPr/>
        </p:nvSpPr>
        <p:spPr>
          <a:xfrm>
            <a:off x="8574669" y="3702861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Блок-схема: узел 27"/>
          <p:cNvSpPr/>
          <p:nvPr/>
        </p:nvSpPr>
        <p:spPr>
          <a:xfrm>
            <a:off x="8785434" y="3865613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Блок-схема: узел 28"/>
          <p:cNvSpPr/>
          <p:nvPr/>
        </p:nvSpPr>
        <p:spPr>
          <a:xfrm>
            <a:off x="9196065" y="4224978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Блок-схема: узел 29"/>
          <p:cNvSpPr/>
          <p:nvPr/>
        </p:nvSpPr>
        <p:spPr>
          <a:xfrm>
            <a:off x="9415350" y="4410936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Блок-схема: узел 30"/>
          <p:cNvSpPr/>
          <p:nvPr/>
        </p:nvSpPr>
        <p:spPr>
          <a:xfrm>
            <a:off x="9629136" y="4575933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11116258" y="4586189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116258" y="4586189"/>
                <a:ext cx="827118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10898427" y="5242866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898427" y="5242866"/>
                <a:ext cx="82711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6989274" y="2220881"/>
                <a:ext cx="8271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89274" y="2220881"/>
                <a:ext cx="827118" cy="369332"/>
              </a:xfrm>
              <a:prstGeom prst="rect">
                <a:avLst/>
              </a:prstGeom>
              <a:blipFill>
                <a:blip r:embed="rId11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 flipH="1">
                <a:off x="8656756" y="4978143"/>
                <a:ext cx="38302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656756" y="4978143"/>
                <a:ext cx="38302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 flipH="1">
                <a:off x="9015102" y="4969496"/>
                <a:ext cx="3047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15102" y="4969496"/>
                <a:ext cx="30479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 flipH="1">
                <a:off x="7413361" y="3695992"/>
                <a:ext cx="4599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13361" y="3695992"/>
                <a:ext cx="459989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 flipH="1">
                <a:off x="7421616" y="4112712"/>
                <a:ext cx="4599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21616" y="4112712"/>
                <a:ext cx="45998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flipH="1">
            <a:off x="8884704" y="5181311"/>
            <a:ext cx="1985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70C0"/>
                </a:solidFill>
              </a:rPr>
              <a:t>| </a:t>
            </a:r>
            <a:endParaRPr lang="ru-RU" sz="10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rot="5400000" flipV="1">
            <a:off x="7473095" y="4020281"/>
            <a:ext cx="251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0070C0"/>
                </a:solidFill>
              </a:rPr>
              <a:t>| </a:t>
            </a:r>
            <a:endParaRPr lang="ru-RU" sz="1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54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3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5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5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5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50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500"/>
                            </p:stCondLst>
                            <p:childTnLst>
                              <p:par>
                                <p:cTn id="9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950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20500"/>
                            </p:stCondLst>
                            <p:childTnLst>
                              <p:par>
                                <p:cTn id="10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1.85185E-6 L 2.70833E-6 0.00023 L 0.03333 1.85185E-6 L 0.03333 0.00023 L 0.03333 1.85185E-6 " pathEditMode="relative" rAng="0" ptsTypes="AAAAA">
                                      <p:cBhvr>
                                        <p:cTn id="104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67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2539 -0.00324 -0.01393 -0.00255 -0.03463 -0.00255 " pathEditMode="relative" ptsTypes="AAA">
                                      <p:cBhvr>
                                        <p:cTn id="10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39 -0.01343 0.00052 -0.02709 0.00117 -0.04028 C 0.00247 -0.06621 0.00234 -0.03866 0.00234 -0.04885 L 0.00234 -0.04885 " pathEditMode="relative" ptsTypes="AAAAA">
                                      <p:cBhvr>
                                        <p:cTn id="11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0.00039 0.01736 0.00117 0.03496 0.00117 0.05278 " pathEditMode="relative" ptsTypes="AAA">
                                      <p:cBhvr>
                                        <p:cTn id="11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22500"/>
                            </p:stCondLst>
                            <p:childTnLst>
                              <p:par>
                                <p:cTn id="136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3000"/>
                            </p:stCondLst>
                            <p:childTnLst>
                              <p:par>
                                <p:cTn id="14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3500"/>
                            </p:stCondLst>
                            <p:childTnLst>
                              <p:par>
                                <p:cTn id="1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24000"/>
                            </p:stCondLst>
                            <p:childTnLst>
                              <p:par>
                                <p:cTn id="14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5" grpId="1"/>
      <p:bldP spid="16" grpId="0"/>
      <p:bldP spid="16" grpId="1"/>
      <p:bldP spid="20" grpId="0"/>
      <p:bldP spid="20" grpId="1"/>
      <p:bldP spid="21" grpId="0"/>
      <p:bldP spid="21" grpId="1"/>
      <p:bldP spid="22" grpId="0"/>
      <p:bldP spid="19" grpId="0"/>
      <p:bldP spid="19" grpId="1"/>
      <p:bldP spid="23" grpId="0"/>
      <p:bldP spid="23" grpId="1"/>
      <p:bldP spid="24" grpId="0"/>
      <p:bldP spid="24" grpId="1"/>
      <p:bldP spid="25" grpId="0"/>
      <p:bldP spid="25" grpId="1"/>
      <p:bldP spid="7" grpId="0" animBg="1"/>
      <p:bldP spid="6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 animBg="1"/>
      <p:bldP spid="30" grpId="0" animBg="1"/>
      <p:bldP spid="30" grpId="1" animBg="1"/>
      <p:bldP spid="31" grpId="0" animBg="1"/>
      <p:bldP spid="31" grpId="1" animBg="1"/>
      <p:bldP spid="32" grpId="0"/>
      <p:bldP spid="33" grpId="0"/>
      <p:bldP spid="34" grpId="0"/>
      <p:bldP spid="35" grpId="0"/>
      <p:bldP spid="36" grpId="0"/>
      <p:bldP spid="37" grpId="0"/>
      <p:bldP spid="38" grpId="0"/>
      <p:bldP spid="4" grpId="0"/>
      <p:bldP spid="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3970965" y="1551928"/>
            <a:ext cx="0" cy="3829049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167402" y="4812940"/>
            <a:ext cx="5448598" cy="0"/>
          </a:xfrm>
          <a:prstGeom prst="straightConnector1">
            <a:avLst/>
          </a:prstGeom>
          <a:ln>
            <a:solidFill>
              <a:schemeClr val="accent3">
                <a:lumMod val="20000"/>
                <a:lumOff val="8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204187" y="4732163"/>
                <a:ext cx="2355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ru-RU" sz="32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4187" y="4732163"/>
                <a:ext cx="235527" cy="461665"/>
              </a:xfrm>
              <a:prstGeom prst="rect">
                <a:avLst/>
              </a:prstGeom>
              <a:blipFill>
                <a:blip r:embed="rId2"/>
                <a:stretch>
                  <a:fillRect r="-44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3736479" y="4795608"/>
                <a:ext cx="156957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736479" y="4795608"/>
                <a:ext cx="156957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5718591" y="4792499"/>
                <a:ext cx="149162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718591" y="4792499"/>
                <a:ext cx="149162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 flipH="1">
                <a:off x="2499553" y="4224079"/>
                <a:ext cx="19343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499553" y="4224079"/>
                <a:ext cx="193439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2667942" y="2791828"/>
                <a:ext cx="15242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667942" y="2791828"/>
                <a:ext cx="152424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 flipH="1">
                <a:off x="3381803" y="3478839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ru-RU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81803" y="3478839"/>
                <a:ext cx="827118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 rot="16200000">
            <a:off x="4046128" y="3378390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2"/>
                </a:solidFill>
              </a:rPr>
              <a:t> ………………………………………..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2500316" y="3378391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2"/>
                </a:solidFill>
              </a:rPr>
              <a:t> ………………………………………..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877341" y="4075462"/>
            <a:ext cx="4826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77341" y="2692606"/>
            <a:ext cx="48269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tx2"/>
                </a:solidFill>
              </a:rPr>
              <a:t> ……………………………....................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7" name="Полилиния 6"/>
          <p:cNvSpPr/>
          <p:nvPr/>
        </p:nvSpPr>
        <p:spPr>
          <a:xfrm>
            <a:off x="3551701" y="2566481"/>
            <a:ext cx="4194628" cy="1915886"/>
          </a:xfrm>
          <a:custGeom>
            <a:avLst/>
            <a:gdLst>
              <a:gd name="connsiteX0" fmla="*/ 0 w 4194628"/>
              <a:gd name="connsiteY0" fmla="*/ 0 h 1915886"/>
              <a:gd name="connsiteX1" fmla="*/ 943428 w 4194628"/>
              <a:gd name="connsiteY1" fmla="*/ 246743 h 1915886"/>
              <a:gd name="connsiteX2" fmla="*/ 1524000 w 4194628"/>
              <a:gd name="connsiteY2" fmla="*/ 769257 h 1915886"/>
              <a:gd name="connsiteX3" fmla="*/ 2554514 w 4194628"/>
              <a:gd name="connsiteY3" fmla="*/ 1611086 h 1915886"/>
              <a:gd name="connsiteX4" fmla="*/ 2960914 w 4194628"/>
              <a:gd name="connsiteY4" fmla="*/ 1785257 h 1915886"/>
              <a:gd name="connsiteX5" fmla="*/ 4194628 w 4194628"/>
              <a:gd name="connsiteY5" fmla="*/ 1915886 h 1915886"/>
              <a:gd name="connsiteX6" fmla="*/ 4194628 w 4194628"/>
              <a:gd name="connsiteY6" fmla="*/ 1915886 h 1915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4628" h="1915886">
                <a:moveTo>
                  <a:pt x="0" y="0"/>
                </a:moveTo>
                <a:cubicBezTo>
                  <a:pt x="344714" y="59266"/>
                  <a:pt x="689428" y="118533"/>
                  <a:pt x="943428" y="246743"/>
                </a:cubicBezTo>
                <a:cubicBezTo>
                  <a:pt x="1197428" y="374953"/>
                  <a:pt x="1255486" y="541867"/>
                  <a:pt x="1524000" y="769257"/>
                </a:cubicBezTo>
                <a:cubicBezTo>
                  <a:pt x="1792514" y="996647"/>
                  <a:pt x="2315028" y="1441753"/>
                  <a:pt x="2554514" y="1611086"/>
                </a:cubicBezTo>
                <a:cubicBezTo>
                  <a:pt x="2794000" y="1780419"/>
                  <a:pt x="2687562" y="1734457"/>
                  <a:pt x="2960914" y="1785257"/>
                </a:cubicBezTo>
                <a:cubicBezTo>
                  <a:pt x="3234266" y="1836057"/>
                  <a:pt x="4194628" y="1915886"/>
                  <a:pt x="4194628" y="1915886"/>
                </a:cubicBezTo>
                <a:lnTo>
                  <a:pt x="4194628" y="1915886"/>
                </a:lnTo>
              </a:path>
            </a:pathLst>
          </a:custGeom>
          <a:noFill/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6" name="Овал 5"/>
          <p:cNvSpPr/>
          <p:nvPr/>
        </p:nvSpPr>
        <p:spPr>
          <a:xfrm>
            <a:off x="5370885" y="3594185"/>
            <a:ext cx="114567" cy="11194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26" name="Блок-схема: узел 25"/>
          <p:cNvSpPr/>
          <p:nvPr/>
        </p:nvSpPr>
        <p:spPr>
          <a:xfrm>
            <a:off x="4780582" y="3070680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27" name="Блок-схема: узел 26"/>
          <p:cNvSpPr/>
          <p:nvPr/>
        </p:nvSpPr>
        <p:spPr>
          <a:xfrm>
            <a:off x="4967198" y="3237219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28" name="Блок-схема: узел 27"/>
          <p:cNvSpPr/>
          <p:nvPr/>
        </p:nvSpPr>
        <p:spPr>
          <a:xfrm>
            <a:off x="5177963" y="3399971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29" name="Блок-схема: узел 28"/>
          <p:cNvSpPr/>
          <p:nvPr/>
        </p:nvSpPr>
        <p:spPr>
          <a:xfrm>
            <a:off x="5588594" y="3759336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30" name="Блок-схема: узел 29"/>
          <p:cNvSpPr/>
          <p:nvPr/>
        </p:nvSpPr>
        <p:spPr>
          <a:xfrm>
            <a:off x="5807879" y="3945294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p:sp>
        <p:nvSpPr>
          <p:cNvPr id="31" name="Блок-схема: узел 30"/>
          <p:cNvSpPr/>
          <p:nvPr/>
        </p:nvSpPr>
        <p:spPr>
          <a:xfrm>
            <a:off x="6021665" y="4110291"/>
            <a:ext cx="89834" cy="80345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 flipH="1">
                <a:off x="6581162" y="3886717"/>
                <a:ext cx="827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81162" y="3886717"/>
                <a:ext cx="827118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 flipH="1">
                <a:off x="8190105" y="4670608"/>
                <a:ext cx="827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190105" y="4670608"/>
                <a:ext cx="827118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 flipH="1">
                <a:off x="3365066" y="1376331"/>
                <a:ext cx="82711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65066" y="1376331"/>
                <a:ext cx="827118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 flipH="1">
            <a:off x="5277233" y="4715669"/>
            <a:ext cx="198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 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rot="5400000" flipV="1">
            <a:off x="3865624" y="3546943"/>
            <a:ext cx="251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smtClean="0">
                <a:solidFill>
                  <a:schemeClr val="tx2"/>
                </a:solidFill>
              </a:rPr>
              <a:t>| </a:t>
            </a:r>
            <a:endParaRPr lang="ru-RU" sz="1100" dirty="0">
              <a:solidFill>
                <a:schemeClr val="tx2"/>
              </a:solidFill>
            </a:endParaRPr>
          </a:p>
        </p:txBody>
      </p:sp>
      <p:sp>
        <p:nvSpPr>
          <p:cNvPr id="5" name="Овал 4"/>
          <p:cNvSpPr/>
          <p:nvPr/>
        </p:nvSpPr>
        <p:spPr>
          <a:xfrm>
            <a:off x="5334876" y="4775569"/>
            <a:ext cx="79780" cy="7612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4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500"/>
                            </p:stCondLst>
                            <p:childTnLst>
                              <p:par>
                                <p:cTn id="3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500"/>
                            </p:stCondLst>
                            <p:childTnLst>
                              <p:par>
                                <p:cTn id="4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9000"/>
                            </p:stCondLst>
                            <p:childTnLst>
                              <p:par>
                                <p:cTn id="5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1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2000"/>
                            </p:stCondLst>
                            <p:childTnLst>
                              <p:par>
                                <p:cTn id="6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3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3500"/>
                            </p:stCondLst>
                            <p:childTnLst>
                              <p:par>
                                <p:cTn id="7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4000"/>
                            </p:stCondLst>
                            <p:childTnLst>
                              <p:par>
                                <p:cTn id="7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4500"/>
                            </p:stCondLst>
                            <p:childTnLst>
                              <p:par>
                                <p:cTn id="7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5500"/>
                            </p:stCondLst>
                            <p:childTnLst>
                              <p:par>
                                <p:cTn id="8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6500"/>
                            </p:stCondLst>
                            <p:childTnLst>
                              <p:par>
                                <p:cTn id="8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7500"/>
                            </p:stCondLst>
                            <p:childTnLst>
                              <p:par>
                                <p:cTn id="9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8500"/>
                            </p:stCondLst>
                            <p:childTnLst>
                              <p:par>
                                <p:cTn id="9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950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20" grpId="0"/>
      <p:bldP spid="21" grpId="0"/>
      <p:bldP spid="22" grpId="0"/>
      <p:bldP spid="19" grpId="0"/>
      <p:bldP spid="23" grpId="0"/>
      <p:bldP spid="24" grpId="0"/>
      <p:bldP spid="25" grpId="0"/>
      <p:bldP spid="7" grpId="0" animBg="1"/>
      <p:bldP spid="6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4" grpId="0"/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890245" y="396527"/>
                <a:ext cx="10515600" cy="884560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 err="1" smtClean="0"/>
                  <a:t>Misol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→2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ekanligini</a:t>
                </a:r>
                <a:r>
                  <a:rPr lang="en-US" dirty="0"/>
                  <a:t> </a:t>
                </a:r>
                <a:r>
                  <a:rPr lang="en-US" dirty="0" err="1"/>
                  <a:t>isbotlang</a:t>
                </a:r>
                <a:endParaRPr lang="ru-RU" dirty="0"/>
              </a:p>
            </p:txBody>
          </p:sp>
        </mc:Choice>
        <mc:Fallback xmlns="">
          <p:sp>
            <p:nvSpPr>
              <p:cNvPr id="2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90245" y="396527"/>
                <a:ext cx="10515600" cy="884560"/>
              </a:xfrm>
              <a:blipFill>
                <a:blip r:embed="rId2"/>
                <a:stretch>
                  <a:fillRect t="-13103" b="-8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flipH="1">
                <a:off x="7112887" y="1405796"/>
                <a:ext cx="183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12887" y="1405796"/>
                <a:ext cx="1836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Прямоугольник 8"/>
              <p:cNvSpPr/>
              <p:nvPr/>
            </p:nvSpPr>
            <p:spPr>
              <a:xfrm>
                <a:off x="1560000" y="2336686"/>
                <a:ext cx="324000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 err="1"/>
                  <a:t>munosabatni</a:t>
                </a:r>
                <a:r>
                  <a:rPr lang="en-US" dirty="0"/>
                  <a:t> </a:t>
                </a:r>
                <a:r>
                  <a:rPr lang="en-US" dirty="0" err="1"/>
                  <a:t>qanoatlantiruvchi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lar </a:t>
                </a:r>
                <a:r>
                  <a:rPr lang="en-US" dirty="0" err="1"/>
                  <a:t>uchun</a:t>
                </a:r>
                <a:endParaRPr lang="en-US" dirty="0"/>
              </a:p>
            </p:txBody>
          </p:sp>
        </mc:Choice>
        <mc:Fallback xmlns="">
          <p:sp>
            <p:nvSpPr>
              <p:cNvPr id="9" name="Прямоугольник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000" y="2336686"/>
                <a:ext cx="3240000" cy="646331"/>
              </a:xfrm>
              <a:prstGeom prst="rect">
                <a:avLst/>
              </a:prstGeom>
              <a:blipFill>
                <a:blip r:embed="rId4"/>
                <a:stretch>
                  <a:fillRect l="-1695" t="-4717" r="-150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6614955" y="2080946"/>
                <a:ext cx="33080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14955" y="2080946"/>
                <a:ext cx="330801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7264006" y="2795145"/>
                <a:ext cx="183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bo‘lsin</a:t>
                </a:r>
                <a:endParaRPr 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64006" y="2795145"/>
                <a:ext cx="1836000" cy="369332"/>
              </a:xfrm>
              <a:prstGeom prst="rect">
                <a:avLst/>
              </a:prstGeom>
              <a:blipFill>
                <a:blip r:embed="rId6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flipH="1">
                <a:off x="7212812" y="3239213"/>
                <a:ext cx="1836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12812" y="3239213"/>
                <a:ext cx="1836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 flipH="1">
                <a:off x="6148045" y="3768730"/>
                <a:ext cx="45531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−2+4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+4&lt;5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48045" y="3768730"/>
                <a:ext cx="455319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 flipH="1">
                <a:off x="6448399" y="4387480"/>
                <a:ext cx="3467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∙|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−2|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48399" y="4387480"/>
                <a:ext cx="3467214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 flipH="1">
                <a:off x="7027277" y="4937428"/>
                <a:ext cx="1836000" cy="4629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27277" y="4937428"/>
                <a:ext cx="1836000" cy="462947"/>
              </a:xfrm>
              <a:prstGeom prst="rect">
                <a:avLst/>
              </a:prstGeom>
              <a:blipFill>
                <a:blip r:embed="rId10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 flipH="1">
                <a:off x="7027277" y="5588332"/>
                <a:ext cx="1836000" cy="5666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min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⁡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1;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r>
                                <a:rPr lang="en-US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27277" y="5588332"/>
                <a:ext cx="1836000" cy="56669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/>
              <p:cNvSpPr/>
              <p:nvPr/>
            </p:nvSpPr>
            <p:spPr>
              <a:xfrm>
                <a:off x="1368291" y="3774468"/>
                <a:ext cx="343170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tengsizlik</a:t>
                </a:r>
                <a:r>
                  <a:rPr lang="en-US" dirty="0"/>
                  <a:t> </a:t>
                </a:r>
                <a:r>
                  <a:rPr lang="en-US" dirty="0" err="1"/>
                  <a:t>bajarilsa</a:t>
                </a:r>
                <a:endParaRPr lang="en-US" dirty="0"/>
              </a:p>
            </p:txBody>
          </p:sp>
        </mc:Choice>
        <mc:Fallback xmlns="">
          <p:sp>
            <p:nvSpPr>
              <p:cNvPr id="3" name="Прямоугольник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8291" y="3774468"/>
                <a:ext cx="3431709" cy="369332"/>
              </a:xfrm>
              <a:prstGeom prst="rect">
                <a:avLst/>
              </a:prstGeom>
              <a:blipFill>
                <a:blip r:embed="rId12"/>
                <a:stretch>
                  <a:fillRect t="-8197" r="-88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55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5080141" y="1728585"/>
            <a:ext cx="0" cy="365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984082" y="5150073"/>
            <a:ext cx="4433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63497" y="5076867"/>
                <a:ext cx="23552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21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497" y="5076867"/>
                <a:ext cx="235527" cy="415498"/>
              </a:xfrm>
              <a:prstGeom prst="rect">
                <a:avLst/>
              </a:prstGeom>
              <a:blipFill>
                <a:blip r:embed="rId2"/>
                <a:stretch>
                  <a:fillRect r="-4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5217035" y="5114357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1.8</m:t>
                      </m:r>
                    </m:oMath>
                  </m:oMathPara>
                </a14:m>
                <a:endParaRPr lang="ru-R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217035" y="5114357"/>
                <a:ext cx="466418" cy="400110"/>
              </a:xfrm>
              <a:prstGeom prst="rect">
                <a:avLst/>
              </a:prstGeom>
              <a:blipFill>
                <a:blip r:embed="rId3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6681605" y="5105384"/>
                <a:ext cx="5655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2.2</m:t>
                      </m:r>
                    </m:oMath>
                  </m:oMathPara>
                </a14:m>
                <a:endParaRPr lang="ru-R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81605" y="5105384"/>
                <a:ext cx="56554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311769" y="5046465"/>
            <a:ext cx="4542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>
                <a:solidFill>
                  <a:srgbClr val="FF0000"/>
                </a:solidFill>
              </a:rPr>
              <a:t> |</a:t>
            </a:r>
            <a:endParaRPr lang="ru-RU" sz="105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82292" y="5040545"/>
            <a:ext cx="370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 </a:t>
            </a:r>
            <a:r>
              <a:rPr lang="en-US" sz="1050" dirty="0" smtClean="0">
                <a:solidFill>
                  <a:srgbClr val="FF0000"/>
                </a:solidFill>
              </a:rPr>
              <a:t>|</a:t>
            </a:r>
            <a:endParaRPr lang="ru-RU" sz="105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flipH="1">
            <a:off x="4770210" y="4451997"/>
            <a:ext cx="30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</a:rPr>
              <a:t>3</a:t>
            </a:r>
            <a:endParaRPr lang="ru-RU" sz="20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4692979" y="2209808"/>
                <a:ext cx="387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ru-RU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92979" y="2209808"/>
                <a:ext cx="3871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 flipH="1">
            <a:off x="4757150" y="3454037"/>
            <a:ext cx="330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00B050"/>
                </a:solidFill>
              </a:rPr>
              <a:t>4</a:t>
            </a:r>
            <a:endParaRPr lang="ru-RU" sz="2000" dirty="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4868981" y="2208276"/>
            <a:ext cx="4542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FF0000"/>
                </a:solidFill>
              </a:rPr>
              <a:t>|</a:t>
            </a:r>
            <a:endParaRPr lang="ru-RU" sz="12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 rot="16200000">
            <a:off x="4974950" y="3534596"/>
            <a:ext cx="3675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B050"/>
                </a:solidFill>
              </a:rPr>
              <a:t> |</a:t>
            </a:r>
            <a:endParaRPr lang="ru-RU" sz="12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5552952" y="5096931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1.9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52952" y="5096931"/>
                <a:ext cx="466418" cy="400110"/>
              </a:xfrm>
              <a:prstGeom prst="rect">
                <a:avLst/>
              </a:prstGeom>
              <a:blipFill>
                <a:blip r:embed="rId6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6263929" y="5086676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2.1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63929" y="5086676"/>
                <a:ext cx="466418" cy="400110"/>
              </a:xfrm>
              <a:prstGeom prst="rect">
                <a:avLst/>
              </a:prstGeom>
              <a:blipFill>
                <a:blip r:embed="rId7"/>
                <a:stretch>
                  <a:fillRect r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4554513" y="2938935"/>
                <a:ext cx="7572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4.41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54513" y="2938935"/>
                <a:ext cx="75725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 flipH="1">
                <a:off x="4295262" y="4149822"/>
                <a:ext cx="84562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3.61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95262" y="4149822"/>
                <a:ext cx="84562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975948" y="5032095"/>
            <a:ext cx="3700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</a:t>
            </a:r>
            <a:r>
              <a:rPr lang="en-US" sz="1200" dirty="0" smtClean="0">
                <a:solidFill>
                  <a:srgbClr val="00B050"/>
                </a:solidFill>
              </a:rPr>
              <a:t>|</a:t>
            </a:r>
            <a:endParaRPr lang="ru-RU" sz="1200" dirty="0">
              <a:solidFill>
                <a:srgbClr val="00B050"/>
              </a:solidFill>
            </a:endParaRPr>
          </a:p>
        </p:txBody>
      </p:sp>
      <p:sp>
        <p:nvSpPr>
          <p:cNvPr id="13" name="Полилиния 12"/>
          <p:cNvSpPr/>
          <p:nvPr/>
        </p:nvSpPr>
        <p:spPr>
          <a:xfrm>
            <a:off x="4642061" y="1694289"/>
            <a:ext cx="2248010" cy="3455784"/>
          </a:xfrm>
          <a:custGeom>
            <a:avLst/>
            <a:gdLst>
              <a:gd name="connsiteX0" fmla="*/ 0 w 1785257"/>
              <a:gd name="connsiteY0" fmla="*/ 3338285 h 3412772"/>
              <a:gd name="connsiteX1" fmla="*/ 783771 w 1785257"/>
              <a:gd name="connsiteY1" fmla="*/ 2975428 h 3412772"/>
              <a:gd name="connsiteX2" fmla="*/ 1785257 w 1785257"/>
              <a:gd name="connsiteY2" fmla="*/ 0 h 3412772"/>
              <a:gd name="connsiteX3" fmla="*/ 1785257 w 1785257"/>
              <a:gd name="connsiteY3" fmla="*/ 0 h 341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257" h="3412772">
                <a:moveTo>
                  <a:pt x="0" y="3338285"/>
                </a:moveTo>
                <a:cubicBezTo>
                  <a:pt x="243114" y="3435047"/>
                  <a:pt x="486228" y="3531809"/>
                  <a:pt x="783771" y="2975428"/>
                </a:cubicBezTo>
                <a:cubicBezTo>
                  <a:pt x="1081314" y="2419047"/>
                  <a:pt x="1785257" y="0"/>
                  <a:pt x="1785257" y="0"/>
                </a:cubicBezTo>
                <a:lnTo>
                  <a:pt x="1785257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30" name="TextBox 29"/>
          <p:cNvSpPr txBox="1"/>
          <p:nvPr/>
        </p:nvSpPr>
        <p:spPr>
          <a:xfrm>
            <a:off x="5696869" y="5046465"/>
            <a:ext cx="37004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 |</a:t>
            </a:r>
            <a:endParaRPr lang="ru-RU" sz="1050" dirty="0"/>
          </a:p>
        </p:txBody>
      </p:sp>
      <p:sp>
        <p:nvSpPr>
          <p:cNvPr id="4" name="Блок-схема: узел 3"/>
          <p:cNvSpPr/>
          <p:nvPr/>
        </p:nvSpPr>
        <p:spPr>
          <a:xfrm>
            <a:off x="5723714" y="4294780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33" name="Блок-схема: узел 32"/>
          <p:cNvSpPr/>
          <p:nvPr/>
        </p:nvSpPr>
        <p:spPr>
          <a:xfrm>
            <a:off x="5979802" y="3723357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34" name="Блок-схема: узел 33"/>
          <p:cNvSpPr/>
          <p:nvPr/>
        </p:nvSpPr>
        <p:spPr>
          <a:xfrm>
            <a:off x="6280454" y="3031097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800"/>
          </a:p>
        </p:txBody>
      </p:sp>
      <p:sp>
        <p:nvSpPr>
          <p:cNvPr id="35" name="TextBox 34"/>
          <p:cNvSpPr txBox="1"/>
          <p:nvPr/>
        </p:nvSpPr>
        <p:spPr>
          <a:xfrm>
            <a:off x="6304436" y="5032455"/>
            <a:ext cx="4542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 smtClean="0"/>
              <a:t> |</a:t>
            </a:r>
            <a:endParaRPr lang="ru-RU" sz="1050" dirty="0"/>
          </a:p>
        </p:txBody>
      </p:sp>
      <p:sp>
        <p:nvSpPr>
          <p:cNvPr id="36" name="TextBox 35"/>
          <p:cNvSpPr txBox="1"/>
          <p:nvPr/>
        </p:nvSpPr>
        <p:spPr>
          <a:xfrm rot="16200000">
            <a:off x="4823887" y="2835138"/>
            <a:ext cx="4542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1600" dirty="0" smtClean="0"/>
              <a:t>|</a:t>
            </a:r>
            <a:endParaRPr lang="ru-RU" sz="1600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4960820" y="4570621"/>
            <a:ext cx="328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 |</a:t>
            </a:r>
            <a:endParaRPr lang="ru-RU" sz="12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4839434" y="4186106"/>
            <a:ext cx="407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 |</a:t>
            </a:r>
            <a:endParaRPr lang="ru-RU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033607" y="4371231"/>
            <a:ext cx="3273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rgbClr val="0070C0"/>
                </a:solidFill>
              </a:rPr>
              <a:t> ……………………………...</a:t>
            </a:r>
            <a:endParaRPr lang="ru-RU" sz="2800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35809" y="2051336"/>
            <a:ext cx="3274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……………………………...</a:t>
            </a:r>
            <a:endParaRPr lang="ru-RU" sz="2800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2890271" y="3484995"/>
            <a:ext cx="4921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………………………………………………..</a:t>
            </a:r>
            <a:endParaRPr lang="ru-RU" sz="28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rot="16200000">
            <a:off x="4408473" y="3452400"/>
            <a:ext cx="49215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0070C0"/>
                </a:solidFill>
              </a:rPr>
              <a:t>………………………………………………..</a:t>
            </a:r>
            <a:endParaRPr lang="ru-RU" sz="28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6655725" y="1831734"/>
                <a:ext cx="8271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655725" y="1831734"/>
                <a:ext cx="827118" cy="400110"/>
              </a:xfrm>
              <a:prstGeom prst="rect">
                <a:avLst/>
              </a:prstGeom>
              <a:blipFill>
                <a:blip r:embed="rId10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32"/>
              <p:cNvSpPr txBox="1"/>
              <p:nvPr/>
            </p:nvSpPr>
            <p:spPr>
              <a:xfrm flipH="1">
                <a:off x="8003977" y="5080331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1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8003977" y="5080331"/>
                <a:ext cx="827118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 flipH="1">
                <a:off x="4557416" y="1517787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57416" y="1517787"/>
                <a:ext cx="827118" cy="461665"/>
              </a:xfrm>
              <a:prstGeom prst="rect">
                <a:avLst/>
              </a:prstGeom>
              <a:blipFill>
                <a:blip r:embed="rId12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 flipH="1">
                <a:off x="633004" y="1612646"/>
                <a:ext cx="4073815" cy="6705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ε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3004" y="1612646"/>
                <a:ext cx="4073815" cy="67050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flipH="1">
                <a:off x="1892904" y="5080331"/>
                <a:ext cx="14892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0.2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892904" y="5080331"/>
                <a:ext cx="1489257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Заголовок 1"/>
              <p:cNvSpPr>
                <a:spLocks noGrp="1"/>
              </p:cNvSpPr>
              <p:nvPr>
                <p:ph type="title"/>
              </p:nvPr>
            </p:nvSpPr>
            <p:spPr>
              <a:xfrm>
                <a:off x="890245" y="396527"/>
                <a:ext cx="10515600" cy="774315"/>
              </a:xfrm>
            </p:spPr>
            <p:txBody>
              <a:bodyPr>
                <a:normAutofit fontScale="90000"/>
              </a:bodyPr>
              <a:lstStyle/>
              <a:p>
                <a:pPr algn="ctr"/>
                <a:r>
                  <a:rPr lang="en-US" dirty="0" err="1" smtClean="0"/>
                  <a:t>Misol</a:t>
                </a:r>
                <a:r>
                  <a:rPr lang="en-US" dirty="0" smtClean="0"/>
                  <a:t>.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→2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=4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ekanligini</a:t>
                </a:r>
                <a:r>
                  <a:rPr lang="en-US" dirty="0"/>
                  <a:t> </a:t>
                </a:r>
                <a:r>
                  <a:rPr lang="en-US" dirty="0" err="1"/>
                  <a:t>isbotlang</a:t>
                </a:r>
                <a:endParaRPr lang="ru-RU" dirty="0"/>
              </a:p>
            </p:txBody>
          </p:sp>
        </mc:Choice>
        <mc:Fallback xmlns="">
          <p:sp>
            <p:nvSpPr>
              <p:cNvPr id="43" name="Заголовок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90245" y="396527"/>
                <a:ext cx="10515600" cy="774315"/>
              </a:xfrm>
              <a:blipFill>
                <a:blip r:embed="rId15"/>
                <a:stretch>
                  <a:fillRect t="-22047" b="-165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212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25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5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75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250"/>
                            </p:stCondLst>
                            <p:childTnLst>
                              <p:par>
                                <p:cTn id="8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750"/>
                            </p:stCondLst>
                            <p:childTnLst>
                              <p:par>
                                <p:cTn id="8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000"/>
                            </p:stCondLst>
                            <p:childTnLst>
                              <p:par>
                                <p:cTn id="9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825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9500"/>
                            </p:stCondLst>
                            <p:childTnLst>
                              <p:par>
                                <p:cTn id="10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750"/>
                            </p:stCondLst>
                            <p:childTnLst>
                              <p:par>
                                <p:cTn id="10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4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3250"/>
                            </p:stCondLst>
                            <p:childTnLst>
                              <p:par>
                                <p:cTn id="12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13" grpId="0" animBg="1"/>
      <p:bldP spid="30" grpId="0"/>
      <p:bldP spid="4" grpId="0" animBg="1"/>
      <p:bldP spid="33" grpId="0" animBg="1"/>
      <p:bldP spid="34" grpId="0" animBg="1"/>
      <p:bldP spid="35" grpId="0"/>
      <p:bldP spid="36" grpId="0"/>
      <p:bldP spid="5" grpId="0"/>
      <p:bldP spid="31" grpId="0"/>
      <p:bldP spid="32" grpId="0"/>
      <p:bldP spid="39" grpId="0"/>
      <p:bldP spid="40" grpId="0"/>
      <p:bldP spid="41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Прямая со стрелкой 7"/>
          <p:cNvCxnSpPr/>
          <p:nvPr/>
        </p:nvCxnSpPr>
        <p:spPr>
          <a:xfrm flipV="1">
            <a:off x="4850273" y="1835888"/>
            <a:ext cx="0" cy="3659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3754214" y="5257376"/>
            <a:ext cx="44334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30523" y="5202126"/>
                <a:ext cx="2355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ru-RU" sz="24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0523" y="5202126"/>
                <a:ext cx="235527" cy="461665"/>
              </a:xfrm>
              <a:prstGeom prst="rect">
                <a:avLst/>
              </a:prstGeom>
              <a:blipFill>
                <a:blip r:embed="rId2"/>
                <a:stretch>
                  <a:fillRect l="-5128" r="-56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 flipH="1">
                <a:off x="4987167" y="5221660"/>
                <a:ext cx="4664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1.4</m:t>
                      </m:r>
                    </m:oMath>
                  </m:oMathPara>
                </a14:m>
                <a:endParaRPr lang="ru-R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987167" y="5221660"/>
                <a:ext cx="466418" cy="461665"/>
              </a:xfrm>
              <a:prstGeom prst="rect">
                <a:avLst/>
              </a:prstGeom>
              <a:blipFill>
                <a:blip r:embed="rId3"/>
                <a:stretch>
                  <a:fillRect l="-2597" r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flipH="1">
                <a:off x="6850806" y="5214560"/>
                <a:ext cx="5655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2.6</m:t>
                      </m:r>
                    </m:oMath>
                  </m:oMathPara>
                </a14:m>
                <a:endParaRPr lang="ru-R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850806" y="5214560"/>
                <a:ext cx="565542" cy="461665"/>
              </a:xfrm>
              <a:prstGeom prst="rect">
                <a:avLst/>
              </a:prstGeom>
              <a:blipFill>
                <a:blip r:embed="rId4"/>
                <a:stretch>
                  <a:fillRect l="-3226" r="-5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081901" y="5153768"/>
            <a:ext cx="454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FF0000"/>
                </a:solidFill>
              </a:rPr>
              <a:t> |</a:t>
            </a:r>
            <a:endParaRPr lang="ru-RU" sz="10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97050" y="5145458"/>
            <a:ext cx="3700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</a:t>
            </a:r>
            <a:r>
              <a:rPr lang="en-US" sz="1000" dirty="0" smtClean="0">
                <a:solidFill>
                  <a:srgbClr val="FF0000"/>
                </a:solidFill>
              </a:rPr>
              <a:t>|</a:t>
            </a:r>
            <a:endParaRPr lang="ru-RU" sz="1000" dirty="0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 flipH="1">
            <a:off x="4556157" y="4732729"/>
            <a:ext cx="30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1</a:t>
            </a:r>
            <a:endParaRPr lang="ru-RU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 flipH="1">
                <a:off x="4504768" y="2331841"/>
                <a:ext cx="3871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ru-RU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504768" y="2331841"/>
                <a:ext cx="38716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 flipH="1">
            <a:off x="4525832" y="3801261"/>
            <a:ext cx="330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4</a:t>
            </a:r>
            <a:endParaRPr lang="ru-RU" sz="2400" dirty="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 rot="16200000">
            <a:off x="4594019" y="2237999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|</a:t>
            </a:r>
            <a:endParaRPr lang="ru-RU" sz="1400" dirty="0">
              <a:solidFill>
                <a:srgbClr val="FF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 rot="16200000">
            <a:off x="4607252" y="3760784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1400" dirty="0" smtClean="0">
                <a:solidFill>
                  <a:srgbClr val="00B050"/>
                </a:solidFill>
              </a:rPr>
              <a:t>|</a:t>
            </a:r>
            <a:endParaRPr lang="ru-RU" sz="1400" dirty="0">
              <a:solidFill>
                <a:srgbClr val="00B05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 flipH="1">
                <a:off x="5369475" y="5221660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1.5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369475" y="5221660"/>
                <a:ext cx="466418" cy="400110"/>
              </a:xfrm>
              <a:prstGeom prst="rect">
                <a:avLst/>
              </a:prstGeom>
              <a:blipFill>
                <a:blip r:embed="rId6"/>
                <a:stretch>
                  <a:fillRect r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 flipH="1">
                <a:off x="6080419" y="5221660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2.1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80419" y="5221660"/>
                <a:ext cx="466418" cy="400110"/>
              </a:xfrm>
              <a:prstGeom prst="rect">
                <a:avLst/>
              </a:prstGeom>
              <a:blipFill>
                <a:blip r:embed="rId7"/>
                <a:stretch>
                  <a:fillRect r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 flipH="1">
                <a:off x="4107801" y="3307769"/>
                <a:ext cx="6401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4.41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07801" y="3307769"/>
                <a:ext cx="640148" cy="400110"/>
              </a:xfrm>
              <a:prstGeom prst="rect">
                <a:avLst/>
              </a:prstGeom>
              <a:blipFill>
                <a:blip r:embed="rId8"/>
                <a:stretch>
                  <a:fillRect r="-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 flipH="1">
            <a:off x="4148525" y="4448323"/>
            <a:ext cx="8386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2.25</a:t>
            </a:r>
            <a:endParaRPr lang="ru-RU" sz="2000" dirty="0"/>
          </a:p>
        </p:txBody>
      </p:sp>
      <p:sp>
        <p:nvSpPr>
          <p:cNvPr id="29" name="TextBox 28"/>
          <p:cNvSpPr txBox="1"/>
          <p:nvPr/>
        </p:nvSpPr>
        <p:spPr>
          <a:xfrm>
            <a:off x="5830523" y="4965353"/>
            <a:ext cx="370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1000" dirty="0" smtClean="0">
                <a:solidFill>
                  <a:srgbClr val="00B050"/>
                </a:solidFill>
              </a:rPr>
              <a:t>|</a:t>
            </a:r>
            <a:endParaRPr lang="ru-RU" sz="1000" dirty="0">
              <a:solidFill>
                <a:srgbClr val="00B050"/>
              </a:solidFill>
            </a:endParaRPr>
          </a:p>
        </p:txBody>
      </p:sp>
      <p:sp>
        <p:nvSpPr>
          <p:cNvPr id="13" name="Полилиния 12"/>
          <p:cNvSpPr/>
          <p:nvPr/>
        </p:nvSpPr>
        <p:spPr>
          <a:xfrm>
            <a:off x="4107801" y="2175192"/>
            <a:ext cx="2968829" cy="3054696"/>
          </a:xfrm>
          <a:custGeom>
            <a:avLst/>
            <a:gdLst>
              <a:gd name="connsiteX0" fmla="*/ 0 w 1785257"/>
              <a:gd name="connsiteY0" fmla="*/ 3338285 h 3412772"/>
              <a:gd name="connsiteX1" fmla="*/ 783771 w 1785257"/>
              <a:gd name="connsiteY1" fmla="*/ 2975428 h 3412772"/>
              <a:gd name="connsiteX2" fmla="*/ 1785257 w 1785257"/>
              <a:gd name="connsiteY2" fmla="*/ 0 h 3412772"/>
              <a:gd name="connsiteX3" fmla="*/ 1785257 w 1785257"/>
              <a:gd name="connsiteY3" fmla="*/ 0 h 3412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5257" h="3412772">
                <a:moveTo>
                  <a:pt x="0" y="3338285"/>
                </a:moveTo>
                <a:cubicBezTo>
                  <a:pt x="243114" y="3435047"/>
                  <a:pt x="486228" y="3531809"/>
                  <a:pt x="783771" y="2975428"/>
                </a:cubicBezTo>
                <a:cubicBezTo>
                  <a:pt x="1081314" y="2419047"/>
                  <a:pt x="1785257" y="0"/>
                  <a:pt x="1785257" y="0"/>
                </a:cubicBezTo>
                <a:lnTo>
                  <a:pt x="1785257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0" name="TextBox 29"/>
          <p:cNvSpPr txBox="1"/>
          <p:nvPr/>
        </p:nvSpPr>
        <p:spPr>
          <a:xfrm>
            <a:off x="5467001" y="5153768"/>
            <a:ext cx="3700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|</a:t>
            </a:r>
            <a:endParaRPr lang="ru-RU" sz="1000" dirty="0"/>
          </a:p>
        </p:txBody>
      </p:sp>
      <p:sp>
        <p:nvSpPr>
          <p:cNvPr id="4" name="Блок-схема: узел 3"/>
          <p:cNvSpPr/>
          <p:nvPr/>
        </p:nvSpPr>
        <p:spPr>
          <a:xfrm>
            <a:off x="5477001" y="4579828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3" name="Блок-схема: узел 32"/>
          <p:cNvSpPr/>
          <p:nvPr/>
        </p:nvSpPr>
        <p:spPr>
          <a:xfrm>
            <a:off x="5881107" y="4015326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4" name="Блок-схема: узел 33"/>
          <p:cNvSpPr/>
          <p:nvPr/>
        </p:nvSpPr>
        <p:spPr>
          <a:xfrm>
            <a:off x="6209498" y="3455734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sp>
        <p:nvSpPr>
          <p:cNvPr id="35" name="TextBox 34"/>
          <p:cNvSpPr txBox="1"/>
          <p:nvPr/>
        </p:nvSpPr>
        <p:spPr>
          <a:xfrm>
            <a:off x="6247116" y="5018357"/>
            <a:ext cx="22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|</a:t>
            </a:r>
            <a:endParaRPr lang="ru-RU" sz="1000" dirty="0"/>
          </a:p>
        </p:txBody>
      </p:sp>
      <p:sp>
        <p:nvSpPr>
          <p:cNvPr id="36" name="TextBox 35"/>
          <p:cNvSpPr txBox="1"/>
          <p:nvPr/>
        </p:nvSpPr>
        <p:spPr>
          <a:xfrm rot="16200000">
            <a:off x="4579576" y="3191632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1400" dirty="0" smtClean="0"/>
              <a:t>|</a:t>
            </a:r>
            <a:endParaRPr lang="ru-RU" sz="1400" dirty="0"/>
          </a:p>
        </p:txBody>
      </p:sp>
      <p:sp>
        <p:nvSpPr>
          <p:cNvPr id="37" name="TextBox 36"/>
          <p:cNvSpPr txBox="1"/>
          <p:nvPr/>
        </p:nvSpPr>
        <p:spPr>
          <a:xfrm rot="16200000">
            <a:off x="4613617" y="4669508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 </a:t>
            </a:r>
            <a:r>
              <a:rPr lang="en-US" sz="1400" dirty="0" smtClean="0">
                <a:solidFill>
                  <a:srgbClr val="FF0000"/>
                </a:solidFill>
              </a:rPr>
              <a:t>|</a:t>
            </a:r>
            <a:endParaRPr lang="ru-RU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4605346" y="4374069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1400" dirty="0" smtClean="0"/>
              <a:t>|</a:t>
            </a:r>
            <a:endParaRPr lang="ru-RU" sz="1400" dirty="0"/>
          </a:p>
        </p:txBody>
      </p:sp>
      <p:sp>
        <p:nvSpPr>
          <p:cNvPr id="5" name="TextBox 4"/>
          <p:cNvSpPr txBox="1"/>
          <p:nvPr/>
        </p:nvSpPr>
        <p:spPr>
          <a:xfrm>
            <a:off x="4832494" y="4623804"/>
            <a:ext cx="34099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solidFill>
                  <a:srgbClr val="0070C0"/>
                </a:solidFill>
              </a:rPr>
              <a:t> ………………………..…………...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821166" y="2268708"/>
            <a:ext cx="32736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……………………………...…...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 rot="16200000">
            <a:off x="3077803" y="3525835"/>
            <a:ext cx="4245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………………………………………………..</a:t>
            </a:r>
            <a:endParaRPr lang="ru-RU" sz="2400" dirty="0">
              <a:solidFill>
                <a:srgbClr val="0070C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 rot="16200000">
            <a:off x="4741305" y="3551666"/>
            <a:ext cx="42450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0070C0"/>
                </a:solidFill>
              </a:rPr>
              <a:t>………………………………………………..</a:t>
            </a:r>
            <a:endParaRPr lang="ru-RU" sz="24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 flipH="1">
                <a:off x="6425857" y="1939037"/>
                <a:ext cx="8271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25857" y="1939037"/>
                <a:ext cx="827118" cy="400110"/>
              </a:xfrm>
              <a:prstGeom prst="rect">
                <a:avLst/>
              </a:prstGeom>
              <a:blipFill>
                <a:blip r:embed="rId9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32"/>
              <p:cNvSpPr txBox="1"/>
              <p:nvPr/>
            </p:nvSpPr>
            <p:spPr>
              <a:xfrm flipH="1">
                <a:off x="7774109" y="5187634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ru-RU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1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774109" y="5187634"/>
                <a:ext cx="827118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 flipH="1">
                <a:off x="4327548" y="1625090"/>
                <a:ext cx="8271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327548" y="1625090"/>
                <a:ext cx="827118" cy="461665"/>
              </a:xfrm>
              <a:prstGeom prst="rect">
                <a:avLst/>
              </a:prstGeom>
              <a:blipFill>
                <a:blip r:embed="rId11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 flipH="1">
                <a:off x="6470546" y="5198044"/>
                <a:ext cx="4664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2.5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70546" y="5198044"/>
                <a:ext cx="466418" cy="400110"/>
              </a:xfrm>
              <a:prstGeom prst="rect">
                <a:avLst/>
              </a:prstGeom>
              <a:blipFill>
                <a:blip r:embed="rId12"/>
                <a:stretch>
                  <a:fillRect r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Блок-схема: узел 43"/>
          <p:cNvSpPr/>
          <p:nvPr/>
        </p:nvSpPr>
        <p:spPr>
          <a:xfrm>
            <a:off x="6545721" y="2939458"/>
            <a:ext cx="179667" cy="143066"/>
          </a:xfrm>
          <a:prstGeom prst="flowChartConnector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 flipH="1">
                <a:off x="4182277" y="2748575"/>
                <a:ext cx="58593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6.25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82277" y="2748575"/>
                <a:ext cx="585934" cy="400110"/>
              </a:xfrm>
              <a:prstGeom prst="rect">
                <a:avLst/>
              </a:prstGeom>
              <a:blipFill>
                <a:blip r:embed="rId13"/>
                <a:stretch>
                  <a:fillRect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/>
          <p:cNvSpPr txBox="1"/>
          <p:nvPr/>
        </p:nvSpPr>
        <p:spPr>
          <a:xfrm rot="16200000">
            <a:off x="4613517" y="2705316"/>
            <a:ext cx="454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1400" dirty="0" smtClean="0"/>
              <a:t>|</a:t>
            </a:r>
            <a:endParaRPr lang="ru-RU" sz="1400" dirty="0"/>
          </a:p>
        </p:txBody>
      </p:sp>
      <p:sp>
        <p:nvSpPr>
          <p:cNvPr id="47" name="TextBox 46"/>
          <p:cNvSpPr txBox="1"/>
          <p:nvPr/>
        </p:nvSpPr>
        <p:spPr>
          <a:xfrm>
            <a:off x="6248942" y="5018357"/>
            <a:ext cx="22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|</a:t>
            </a:r>
            <a:endParaRPr lang="ru-RU" sz="1000" dirty="0"/>
          </a:p>
        </p:txBody>
      </p:sp>
      <p:sp>
        <p:nvSpPr>
          <p:cNvPr id="48" name="TextBox 47"/>
          <p:cNvSpPr txBox="1"/>
          <p:nvPr/>
        </p:nvSpPr>
        <p:spPr>
          <a:xfrm>
            <a:off x="6604272" y="5025481"/>
            <a:ext cx="2271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|</a:t>
            </a:r>
            <a:endParaRPr lang="ru-RU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56500" y="4497236"/>
                <a:ext cx="11257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(1,5;2,25)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6500" y="4497236"/>
                <a:ext cx="1125718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5685720" y="3957384"/>
                <a:ext cx="11257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(2;4)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5720" y="3957384"/>
                <a:ext cx="1125718" cy="338554"/>
              </a:xfrm>
              <a:prstGeom prst="rect">
                <a:avLst/>
              </a:prstGeom>
              <a:blipFill>
                <a:blip r:embed="rId1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002074" y="3491606"/>
                <a:ext cx="11257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(2,1;4,41)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2074" y="3491606"/>
                <a:ext cx="1125718" cy="338554"/>
              </a:xfrm>
              <a:prstGeom prst="rect">
                <a:avLst/>
              </a:prstGeom>
              <a:blipFill>
                <a:blip r:embed="rId16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063159" y="2719149"/>
                <a:ext cx="112571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(2,5;6,25)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159" y="2719149"/>
                <a:ext cx="1125718" cy="338554"/>
              </a:xfrm>
              <a:prstGeom prst="rect">
                <a:avLst/>
              </a:prstGeom>
              <a:blipFill>
                <a:blip r:embed="rId17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Заголовок 6"/>
              <p:cNvSpPr>
                <a:spLocks noGrp="1"/>
              </p:cNvSpPr>
              <p:nvPr>
                <p:ph type="title"/>
              </p:nvPr>
            </p:nvSpPr>
            <p:spPr>
              <a:xfrm>
                <a:off x="7707565" y="3314231"/>
                <a:ext cx="2020217" cy="747484"/>
              </a:xfr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→2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=4</m:t>
                          </m:r>
                        </m:e>
                      </m:func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7" name="Заголовок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707565" y="3314231"/>
                <a:ext cx="2020217" cy="747484"/>
              </a:xfr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/>
              <p:cNvSpPr/>
              <p:nvPr/>
            </p:nvSpPr>
            <p:spPr>
              <a:xfrm>
                <a:off x="1033238" y="1572334"/>
                <a:ext cx="2458044" cy="5667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</m:t>
                      </m:r>
                      <m:r>
                        <a:rPr lang="en-US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ru-RU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Прямоугольник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238" y="1572334"/>
                <a:ext cx="2458044" cy="566758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0069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75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250"/>
                            </p:stCondLst>
                            <p:childTnLst>
                              <p:par>
                                <p:cTn id="26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750"/>
                            </p:stCondLst>
                            <p:childTnLst>
                              <p:par>
                                <p:cTn id="40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90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5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750"/>
                            </p:stCondLst>
                            <p:childTnLst>
                              <p:par>
                                <p:cTn id="6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3000"/>
                            </p:stCondLst>
                            <p:childTnLst>
                              <p:par>
                                <p:cTn id="6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350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40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250"/>
                            </p:stCondLst>
                            <p:childTnLst>
                              <p:par>
                                <p:cTn id="8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750"/>
                            </p:stCondLst>
                            <p:childTnLst>
                              <p:par>
                                <p:cTn id="8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000"/>
                            </p:stCondLst>
                            <p:childTnLst>
                              <p:par>
                                <p:cTn id="9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8250"/>
                            </p:stCondLst>
                            <p:childTnLst>
                              <p:par>
                                <p:cTn id="99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1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9500"/>
                            </p:stCondLst>
                            <p:childTnLst>
                              <p:par>
                                <p:cTn id="103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750"/>
                            </p:stCondLst>
                            <p:childTnLst>
                              <p:par>
                                <p:cTn id="107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22000"/>
                            </p:stCondLst>
                            <p:childTnLst>
                              <p:par>
                                <p:cTn id="114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23250"/>
                            </p:stCondLst>
                            <p:childTnLst>
                              <p:par>
                                <p:cTn id="121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4500"/>
                            </p:stCondLst>
                            <p:childTnLst>
                              <p:par>
                                <p:cTn id="125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7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5750"/>
                            </p:stCondLst>
                            <p:childTnLst>
                              <p:par>
                                <p:cTn id="132" presetID="16" presetClass="entr" presetSubtype="2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4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7000"/>
                            </p:stCondLst>
                            <p:childTnLst>
                              <p:par>
                                <p:cTn id="13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1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16" grpId="0"/>
      <p:bldP spid="17" grpId="0"/>
      <p:bldP spid="18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13" grpId="0" animBg="1"/>
      <p:bldP spid="30" grpId="0"/>
      <p:bldP spid="4" grpId="0" animBg="1"/>
      <p:bldP spid="33" grpId="0" animBg="1"/>
      <p:bldP spid="34" grpId="0" animBg="1"/>
      <p:bldP spid="35" grpId="0"/>
      <p:bldP spid="36" grpId="0"/>
      <p:bldP spid="5" grpId="0"/>
      <p:bldP spid="31" grpId="0"/>
      <p:bldP spid="32" grpId="0"/>
      <p:bldP spid="39" grpId="0"/>
      <p:bldP spid="40" grpId="0"/>
      <p:bldP spid="41" grpId="0"/>
      <p:bldP spid="42" grpId="0"/>
      <p:bldP spid="43" grpId="0"/>
      <p:bldP spid="44" grpId="0" animBg="1"/>
      <p:bldP spid="45" grpId="0"/>
      <p:bldP spid="46" grpId="0"/>
      <p:bldP spid="47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rgbClr val="00B05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74173</TotalTime>
  <Words>251</Words>
  <Application>Microsoft Office PowerPoint</Application>
  <PresentationFormat>Широкоэкранный</PresentationFormat>
  <Paragraphs>120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Funksiya limitining Koshi ta’rifi</vt:lpstr>
      <vt:lpstr>Презентация PowerPoint</vt:lpstr>
      <vt:lpstr>Misol. lim┬(x→2)⁡〖x^2=4〗 ekanligini isbotlang</vt:lpstr>
      <vt:lpstr>Misol. lim┬(x→2)⁡〖x^2=4〗 ekanligini isbotlang</vt:lpstr>
      <vt:lpstr>lim┬(x→2)⁡〖x^2=4〗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Toshiba</dc:creator>
  <cp:lastModifiedBy>Toshiba</cp:lastModifiedBy>
  <cp:revision>814</cp:revision>
  <dcterms:created xsi:type="dcterms:W3CDTF">2023-02-22T05:18:19Z</dcterms:created>
  <dcterms:modified xsi:type="dcterms:W3CDTF">2024-10-16T12:04:09Z</dcterms:modified>
</cp:coreProperties>
</file>