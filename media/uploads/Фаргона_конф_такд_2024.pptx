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6" r:id="rId19"/>
    <p:sldId id="277"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3" d="100"/>
          <a:sy n="83" d="100"/>
        </p:scale>
        <p:origin x="5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ru-RU"/>
              <a:t>Образец заголовка</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64516EB5-2EB5-44E0-83BD-83520BFD83A9}" type="datetimeFigureOut">
              <a:rPr lang="ru-RU" smtClean="0"/>
              <a:t>20.05.2024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372112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ru-RU"/>
              <a:t>Образец заголовка</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4516EB5-2EB5-44E0-83BD-83520BFD83A9}" type="datetimeFigureOut">
              <a:rPr lang="ru-RU" smtClean="0"/>
              <a:t>20.05.2024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33124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ru-RU"/>
              <a:t>Образец заголовка</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64516EB5-2EB5-44E0-83BD-83520BFD83A9}" type="datetimeFigureOut">
              <a:rPr lang="ru-RU" smtClean="0"/>
              <a:t>20.05.2024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634315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ru-RU"/>
              <a:t>Образец заголовка</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604083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Content Placeholder 3"/>
          <p:cNvSpPr>
            <a:spLocks noGrp="1"/>
          </p:cNvSpPr>
          <p:nvPr>
            <p:ph sz="quarter" idx="13"/>
          </p:nvPr>
        </p:nvSpPr>
        <p:spPr>
          <a:xfrm>
            <a:off x="913774" y="3051012"/>
            <a:ext cx="5106027" cy="274018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3" name="Content Placeholder 5"/>
          <p:cNvSpPr>
            <a:spLocks noGrp="1"/>
          </p:cNvSpPr>
          <p:nvPr>
            <p:ph sz="quarter" idx="14"/>
          </p:nvPr>
        </p:nvSpPr>
        <p:spPr>
          <a:xfrm>
            <a:off x="6172200" y="3051012"/>
            <a:ext cx="5105401" cy="274018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64516EB5-2EB5-44E0-83BD-83520BFD83A9}" type="datetimeFigureOut">
              <a:rPr lang="ru-RU" smtClean="0"/>
              <a:t>20.05.2024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486030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64516EB5-2EB5-44E0-83BD-83520BFD83A9}" type="datetimeFigureOut">
              <a:rPr lang="ru-RU" smtClean="0"/>
              <a:t>20.05.2024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34886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4516EB5-2EB5-44E0-83BD-83520BFD83A9}" type="datetimeFigureOut">
              <a:rPr lang="ru-RU" smtClean="0"/>
              <a:t>20.05.2024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920645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ru-RU"/>
              <a:t>Образец заголовка</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450346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345961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960320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4227192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2718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4516EB5-2EB5-44E0-83BD-83520BFD83A9}" type="datetimeFigureOut">
              <a:rPr lang="ru-RU" smtClean="0"/>
              <a:t>20.05.2024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1939166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ru-RU"/>
              <a:t>Образец заголовка</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64516EB5-2EB5-44E0-83BD-83520BFD83A9}" type="datetimeFigureOut">
              <a:rPr lang="ru-RU" smtClean="0"/>
              <a:t>20.05.2024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2240663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64516EB5-2EB5-44E0-83BD-83520BFD83A9}" type="datetimeFigureOut">
              <a:rPr lang="ru-RU" smtClean="0"/>
              <a:t>20.05.2024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3507748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ru-RU"/>
              <a:t>Образец заголовка</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4516EB5-2EB5-44E0-83BD-83520BFD83A9}" type="datetimeFigureOut">
              <a:rPr lang="ru-RU" smtClean="0"/>
              <a:t>20.05.2024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2924114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ru-RU"/>
              <a:t>Образец заголовка</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4516EB5-2EB5-44E0-83BD-83520BFD83A9}" type="datetimeFigureOut">
              <a:rPr lang="ru-RU" smtClean="0"/>
              <a:t>20.05.2024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3395396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4516EB5-2EB5-44E0-83BD-83520BFD83A9}" type="datetimeFigureOut">
              <a:rPr lang="ru-RU" smtClean="0"/>
              <a:t>20.05.2024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19D0571-30EE-4BE2-AECD-702C7964911F}" type="slidenum">
              <a:rPr lang="ru-RU" smtClean="0"/>
              <a:t>‹#›</a:t>
            </a:fld>
            <a:endParaRPr lang="ru-RU"/>
          </a:p>
        </p:txBody>
      </p:sp>
    </p:spTree>
    <p:extLst>
      <p:ext uri="{BB962C8B-B14F-4D97-AF65-F5344CB8AC3E}">
        <p14:creationId xmlns:p14="http://schemas.microsoft.com/office/powerpoint/2010/main" val="856065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4516EB5-2EB5-44E0-83BD-83520BFD83A9}" type="datetimeFigureOut">
              <a:rPr lang="ru-RU" smtClean="0"/>
              <a:t>20.05.2024</a:t>
            </a:fld>
            <a:endParaRPr lang="ru-RU"/>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ru-RU"/>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19D0571-30EE-4BE2-AECD-702C7964911F}" type="slidenum">
              <a:rPr lang="ru-RU" smtClean="0"/>
              <a:t>‹#›</a:t>
            </a:fld>
            <a:endParaRPr lang="ru-RU"/>
          </a:p>
        </p:txBody>
      </p:sp>
    </p:spTree>
    <p:extLst>
      <p:ext uri="{BB962C8B-B14F-4D97-AF65-F5344CB8AC3E}">
        <p14:creationId xmlns:p14="http://schemas.microsoft.com/office/powerpoint/2010/main" val="64767908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idc.com/getdoc.jsp?containerId=prUS48881422" TargetMode="Externa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hyperlink" Target="https://www.sap.com/central-asia-caucasus/insights/hr-tech-trends.html" TargetMode="External"/><Relationship Id="rId2" Type="http://schemas.openxmlformats.org/officeDocument/2006/relationships/hyperlink" Target="https://news.gallup.com/poll/241649/employee-engagement-rise.aspx" TargetMode="Externa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695592" y="1514763"/>
            <a:ext cx="9083243" cy="1768762"/>
          </a:xfrm>
        </p:spPr>
        <p:txBody>
          <a:bodyPr>
            <a:normAutofit/>
          </a:bodyPr>
          <a:lstStyle/>
          <a:p>
            <a:r>
              <a:rPr lang="en-US" sz="4000" b="1" i="1" dirty="0" err="1">
                <a:solidFill>
                  <a:srgbClr val="002060"/>
                </a:solidFill>
              </a:rPr>
              <a:t>Oliy</a:t>
            </a:r>
            <a:r>
              <a:rPr lang="en-US" sz="4000" b="1" i="1" dirty="0">
                <a:solidFill>
                  <a:srgbClr val="002060"/>
                </a:solidFill>
              </a:rPr>
              <a:t> </a:t>
            </a:r>
            <a:r>
              <a:rPr lang="en-US" sz="4000" b="1" i="1" dirty="0" err="1">
                <a:solidFill>
                  <a:srgbClr val="002060"/>
                </a:solidFill>
              </a:rPr>
              <a:t>ta’lim</a:t>
            </a:r>
            <a:r>
              <a:rPr lang="en-US" sz="4000" b="1" i="1" dirty="0">
                <a:solidFill>
                  <a:srgbClr val="002060"/>
                </a:solidFill>
              </a:rPr>
              <a:t> </a:t>
            </a:r>
            <a:r>
              <a:rPr lang="en-US" sz="4000" b="1" i="1" dirty="0" err="1">
                <a:solidFill>
                  <a:srgbClr val="002060"/>
                </a:solidFill>
              </a:rPr>
              <a:t>tizimida</a:t>
            </a:r>
            <a:r>
              <a:rPr lang="en-US" sz="4000" b="1" i="1" dirty="0">
                <a:solidFill>
                  <a:srgbClr val="002060"/>
                </a:solidFill>
              </a:rPr>
              <a:t> </a:t>
            </a:r>
            <a:r>
              <a:rPr lang="en-US" sz="4000" b="1" i="1" dirty="0" err="1">
                <a:solidFill>
                  <a:srgbClr val="002060"/>
                </a:solidFill>
              </a:rPr>
              <a:t>suniy</a:t>
            </a:r>
            <a:r>
              <a:rPr lang="en-US" sz="4000" b="1" i="1" dirty="0">
                <a:solidFill>
                  <a:srgbClr val="002060"/>
                </a:solidFill>
              </a:rPr>
              <a:t> </a:t>
            </a:r>
            <a:r>
              <a:rPr lang="en-US" sz="4000" b="1" i="1" dirty="0" err="1">
                <a:solidFill>
                  <a:srgbClr val="002060"/>
                </a:solidFill>
              </a:rPr>
              <a:t>intelLekt</a:t>
            </a:r>
            <a:r>
              <a:rPr lang="en-US" sz="4000" b="1" i="1" dirty="0">
                <a:solidFill>
                  <a:srgbClr val="002060"/>
                </a:solidFill>
              </a:rPr>
              <a:t> </a:t>
            </a:r>
            <a:r>
              <a:rPr lang="en-US" sz="4000" b="1" i="1" dirty="0" err="1">
                <a:solidFill>
                  <a:srgbClr val="002060"/>
                </a:solidFill>
              </a:rPr>
              <a:t>yaratish</a:t>
            </a:r>
            <a:r>
              <a:rPr lang="en-US" sz="4000" b="1" i="1" dirty="0">
                <a:solidFill>
                  <a:srgbClr val="002060"/>
                </a:solidFill>
              </a:rPr>
              <a:t> </a:t>
            </a:r>
            <a:r>
              <a:rPr lang="en-US" sz="4000" b="1" i="1" dirty="0" err="1">
                <a:solidFill>
                  <a:srgbClr val="002060"/>
                </a:solidFill>
              </a:rPr>
              <a:t>masalari</a:t>
            </a:r>
            <a:endParaRPr lang="ru-RU" sz="4000" dirty="0"/>
          </a:p>
        </p:txBody>
      </p:sp>
      <p:sp>
        <p:nvSpPr>
          <p:cNvPr id="3" name="Подзаголовок 2"/>
          <p:cNvSpPr>
            <a:spLocks noGrp="1"/>
          </p:cNvSpPr>
          <p:nvPr>
            <p:ph type="subTitle" idx="1"/>
          </p:nvPr>
        </p:nvSpPr>
        <p:spPr>
          <a:xfrm>
            <a:off x="411739" y="3664527"/>
            <a:ext cx="8689976" cy="1371599"/>
          </a:xfrm>
        </p:spPr>
        <p:txBody>
          <a:bodyPr>
            <a:normAutofit fontScale="92500" lnSpcReduction="20000"/>
          </a:bodyPr>
          <a:lstStyle/>
          <a:p>
            <a:r>
              <a:rPr lang="en-US" b="1" i="1" dirty="0" err="1">
                <a:solidFill>
                  <a:srgbClr val="002060"/>
                </a:solidFill>
              </a:rPr>
              <a:t>Lutfillayev</a:t>
            </a:r>
            <a:r>
              <a:rPr lang="en-US" b="1" i="1" dirty="0">
                <a:solidFill>
                  <a:srgbClr val="002060"/>
                </a:solidFill>
              </a:rPr>
              <a:t> M.X., </a:t>
            </a:r>
            <a:r>
              <a:rPr lang="en-US" b="1" i="1" dirty="0" err="1">
                <a:solidFill>
                  <a:srgbClr val="002060"/>
                </a:solidFill>
              </a:rPr>
              <a:t>Lutfillayev</a:t>
            </a:r>
            <a:r>
              <a:rPr lang="en-US" b="1" i="1" dirty="0">
                <a:solidFill>
                  <a:srgbClr val="002060"/>
                </a:solidFill>
              </a:rPr>
              <a:t> U.M., </a:t>
            </a:r>
            <a:r>
              <a:rPr lang="en-US" b="1" i="1" dirty="0" err="1">
                <a:solidFill>
                  <a:srgbClr val="002060"/>
                </a:solidFill>
              </a:rPr>
              <a:t>Xasanov</a:t>
            </a:r>
            <a:r>
              <a:rPr lang="en-US" b="1" i="1" dirty="0">
                <a:solidFill>
                  <a:srgbClr val="002060"/>
                </a:solidFill>
              </a:rPr>
              <a:t> </a:t>
            </a:r>
            <a:r>
              <a:rPr lang="en-US" b="1" i="1" dirty="0" err="1">
                <a:solidFill>
                  <a:srgbClr val="002060"/>
                </a:solidFill>
              </a:rPr>
              <a:t>Sh.M</a:t>
            </a:r>
            <a:r>
              <a:rPr lang="en-US" b="1" i="1" dirty="0">
                <a:solidFill>
                  <a:srgbClr val="002060"/>
                </a:solidFill>
              </a:rPr>
              <a:t>.</a:t>
            </a:r>
            <a:br>
              <a:rPr lang="en-US" b="1" i="1" dirty="0">
                <a:solidFill>
                  <a:srgbClr val="002060"/>
                </a:solidFill>
              </a:rPr>
            </a:br>
            <a:r>
              <a:rPr lang="en-US" b="1" i="1" dirty="0" err="1">
                <a:solidFill>
                  <a:srgbClr val="002060"/>
                </a:solidFill>
              </a:rPr>
              <a:t>Sharof</a:t>
            </a:r>
            <a:r>
              <a:rPr lang="en-US" b="1" i="1" dirty="0">
                <a:solidFill>
                  <a:srgbClr val="002060"/>
                </a:solidFill>
              </a:rPr>
              <a:t> </a:t>
            </a:r>
            <a:r>
              <a:rPr lang="en-US" b="1" i="1" dirty="0" err="1">
                <a:solidFill>
                  <a:srgbClr val="002060"/>
                </a:solidFill>
              </a:rPr>
              <a:t>Rashidov</a:t>
            </a:r>
            <a:r>
              <a:rPr lang="en-US" b="1" i="1" dirty="0">
                <a:solidFill>
                  <a:srgbClr val="002060"/>
                </a:solidFill>
              </a:rPr>
              <a:t> </a:t>
            </a:r>
            <a:r>
              <a:rPr lang="en-US" b="1" i="1" dirty="0" err="1">
                <a:solidFill>
                  <a:srgbClr val="002060"/>
                </a:solidFill>
              </a:rPr>
              <a:t>nomidagi</a:t>
            </a:r>
            <a:r>
              <a:rPr lang="en-US" b="1" i="1" dirty="0">
                <a:solidFill>
                  <a:srgbClr val="002060"/>
                </a:solidFill>
              </a:rPr>
              <a:t> Samarqand </a:t>
            </a:r>
            <a:r>
              <a:rPr lang="en-US" b="1" i="1" dirty="0" err="1">
                <a:solidFill>
                  <a:srgbClr val="002060"/>
                </a:solidFill>
              </a:rPr>
              <a:t>davlat</a:t>
            </a:r>
            <a:r>
              <a:rPr lang="en-US" b="1" i="1" dirty="0">
                <a:solidFill>
                  <a:srgbClr val="002060"/>
                </a:solidFill>
              </a:rPr>
              <a:t> </a:t>
            </a:r>
            <a:r>
              <a:rPr lang="en-US" b="1" i="1" dirty="0" err="1">
                <a:solidFill>
                  <a:srgbClr val="002060"/>
                </a:solidFill>
              </a:rPr>
              <a:t>universiteti</a:t>
            </a:r>
            <a:r>
              <a:rPr lang="en-US" b="1" i="1" dirty="0">
                <a:solidFill>
                  <a:srgbClr val="002060"/>
                </a:solidFill>
              </a:rPr>
              <a:t> </a:t>
            </a:r>
            <a:r>
              <a:rPr lang="en-US" b="1" i="1" dirty="0" err="1">
                <a:solidFill>
                  <a:srgbClr val="002060"/>
                </a:solidFill>
              </a:rPr>
              <a:t>professori</a:t>
            </a:r>
            <a:r>
              <a:rPr lang="en-US" b="1" i="1" dirty="0">
                <a:solidFill>
                  <a:srgbClr val="002060"/>
                </a:solidFill>
              </a:rPr>
              <a:t>,  </a:t>
            </a:r>
            <a:r>
              <a:rPr lang="en-US" b="1" i="1" dirty="0" err="1">
                <a:solidFill>
                  <a:srgbClr val="002060"/>
                </a:solidFill>
              </a:rPr>
              <a:t>doktorant</a:t>
            </a:r>
            <a:r>
              <a:rPr lang="en-US" b="1" i="1" dirty="0">
                <a:solidFill>
                  <a:srgbClr val="002060"/>
                </a:solidFill>
              </a:rPr>
              <a:t>, </a:t>
            </a:r>
            <a:r>
              <a:rPr lang="en-US" b="1" i="1" dirty="0" err="1">
                <a:solidFill>
                  <a:srgbClr val="002060"/>
                </a:solidFill>
              </a:rPr>
              <a:t>muxandis</a:t>
            </a:r>
            <a:r>
              <a:rPr lang="en-US" b="1" i="1" dirty="0">
                <a:solidFill>
                  <a:srgbClr val="002060"/>
                </a:solidFill>
              </a:rPr>
              <a:t> </a:t>
            </a:r>
            <a:r>
              <a:rPr lang="en-US" b="1" i="1" dirty="0" err="1">
                <a:solidFill>
                  <a:srgbClr val="002060"/>
                </a:solidFill>
              </a:rPr>
              <a:t>dasturlovchi</a:t>
            </a:r>
            <a:br>
              <a:rPr lang="ru-RU" dirty="0">
                <a:solidFill>
                  <a:srgbClr val="002060"/>
                </a:solidFill>
              </a:rPr>
            </a:br>
            <a:endParaRPr lang="ru-RU" dirty="0">
              <a:solidFill>
                <a:srgbClr val="002060"/>
              </a:solidFill>
            </a:endParaRPr>
          </a:p>
        </p:txBody>
      </p:sp>
    </p:spTree>
    <p:extLst>
      <p:ext uri="{BB962C8B-B14F-4D97-AF65-F5344CB8AC3E}">
        <p14:creationId xmlns:p14="http://schemas.microsoft.com/office/powerpoint/2010/main" val="2767058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49195" y="1804572"/>
            <a:ext cx="7111014" cy="1653594"/>
          </a:xfrm>
          <a:prstGeom prst="rect">
            <a:avLst/>
          </a:prstGeom>
        </p:spPr>
        <p:txBody>
          <a:bodyPr wrap="square">
            <a:spAutoFit/>
          </a:bodyPr>
          <a:lstStyle/>
          <a:p>
            <a:pPr algn="just">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uz-Latn-UZ"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Sun'iy intellekt (AI) birinchi bo'lib uning asoschilaridan biri Marvin Minski tomonidan ta'riflangan bo'lib, u uni "aql</a:t>
            </a:r>
            <a:r>
              <a:rPr lang="uz-Cyrl-UZ"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r>
              <a:rPr lang="uz-Latn-UZ"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talab qiladigan narsalarni mashinalarni bajarishga majburlash haqidagi fan deb ta'riflagan. </a:t>
            </a:r>
            <a:endParaRPr lang="ru-RU"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9D0B5EC4-BC18-4688-B411-27D66593D1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6" name="Прямоугольник 5">
            <a:extLst>
              <a:ext uri="{FF2B5EF4-FFF2-40B4-BE49-F238E27FC236}">
                <a16:creationId xmlns:a16="http://schemas.microsoft.com/office/drawing/2014/main" id="{44AB0F17-8099-46B3-97AD-0497ECB793A7}"/>
              </a:ext>
            </a:extLst>
          </p:cNvPr>
          <p:cNvSpPr/>
          <p:nvPr/>
        </p:nvSpPr>
        <p:spPr>
          <a:xfrm>
            <a:off x="6248366" y="332808"/>
            <a:ext cx="3573414" cy="584775"/>
          </a:xfrm>
          <a:prstGeom prst="rect">
            <a:avLst/>
          </a:prstGeom>
        </p:spPr>
        <p:txBody>
          <a:bodyPr wrap="none">
            <a:spAutoFit/>
          </a:bodyPr>
          <a:lstStyle/>
          <a:p>
            <a:r>
              <a:rPr lang="uz-Latn-UZ"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Sun'iy intellekt (AI) </a:t>
            </a:r>
            <a:endParaRPr lang="ru-RU" sz="3200" dirty="0">
              <a:solidFill>
                <a:srgbClr val="002060"/>
              </a:solidFill>
            </a:endParaRPr>
          </a:p>
        </p:txBody>
      </p:sp>
      <p:pic>
        <p:nvPicPr>
          <p:cNvPr id="1027" name="Picture 3" descr="Will AI Take Over The World? Or Will You Take Charge Of Your World?">
            <a:extLst>
              <a:ext uri="{FF2B5EF4-FFF2-40B4-BE49-F238E27FC236}">
                <a16:creationId xmlns:a16="http://schemas.microsoft.com/office/drawing/2014/main" id="{64C5612D-D62A-4DE4-B74C-90988F3C3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50" y="1195858"/>
            <a:ext cx="4507663" cy="3213709"/>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3E6FE77-AD53-49DE-89E1-84F4AD15E93B}"/>
              </a:ext>
            </a:extLst>
          </p:cNvPr>
          <p:cNvSpPr/>
          <p:nvPr/>
        </p:nvSpPr>
        <p:spPr>
          <a:xfrm>
            <a:off x="213822" y="4480948"/>
            <a:ext cx="11146904" cy="1631216"/>
          </a:xfrm>
          <a:prstGeom prst="rect">
            <a:avLst/>
          </a:prstGeom>
        </p:spPr>
        <p:txBody>
          <a:bodyPr wrap="square">
            <a:spAutoFit/>
          </a:bodyPr>
          <a:lstStyle/>
          <a:p>
            <a:pPr algn="just"/>
            <a:r>
              <a:rPr lang="uz-Latn-UZ" sz="2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Ushbu ta'rifning mohiyati bugungi kunda ham to'g'ri, ammo zamonaviy kompyuter olimlari biroz uzoqroqqa borib, AI ni o'z atrof-muhitini idrok eta oladigan va maqsadlariga muvaffaqiyatli erishish imkoniyatlarini, shuningdek, ushbu tizimning qobiliyatini maksimal darajada oshirish uchun harakatlar qila oladigan tizim sifatida belgilaydilar. ma'lumotlarni o'rganish va o'z vaqtida moslash mumkin bo'lgan tarzda sharhlash va tahlil </a:t>
            </a:r>
            <a:r>
              <a:rPr lang="uz-Cyrl-UZ" sz="2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qila olish imkoniyatiga ega boʼlgan tizim sifatida tariflaydilar.</a:t>
            </a:r>
            <a:endParaRPr lang="ru-RU" sz="2000" dirty="0"/>
          </a:p>
        </p:txBody>
      </p:sp>
    </p:spTree>
    <p:extLst>
      <p:ext uri="{BB962C8B-B14F-4D97-AF65-F5344CB8AC3E}">
        <p14:creationId xmlns:p14="http://schemas.microsoft.com/office/powerpoint/2010/main" val="357585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32764" y="525820"/>
            <a:ext cx="7389181" cy="3996479"/>
          </a:xfrm>
          <a:prstGeom prst="rect">
            <a:avLst/>
          </a:prstGeom>
        </p:spPr>
        <p:txBody>
          <a:bodyPr wrap="square">
            <a:spAutoFit/>
          </a:bodyPr>
          <a:lstStyle/>
          <a:p>
            <a:pPr algn="ctr">
              <a:lnSpc>
                <a:spcPts val="27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uz-Cyrl-UZ"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Т</a:t>
            </a:r>
            <a:r>
              <a:rPr lang="uz-Latn-UZ"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arixi</a:t>
            </a:r>
            <a:endParaRPr lang="ru-RU" sz="2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US" sz="2000"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	</a:t>
            </a:r>
            <a:r>
              <a:rPr lang="uz-Latn-UZ"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Pigmalion haqidagi yunon afsonasidan Frankenshteynning Viktoriya ertakiga qadar odamlar uzoq vaqtdan beri inson kabi o'ylaydigan va harakat qiladigan inson tomonidan yaratilgan jonzotni yaratish g'oyasi bilan hayratda qolishgan. Kompyuterlarning paydo bo'lishi bilan biz sun'iy intellekt g'oyasi mustaqil ob'ektlar shaklida emas, balki inson ehtiyojlarini to'ldirish va moslashtirishga qodir bo'lgan vositalar va tarmoq texnologiyalari to'plami shaklida amalga oshirilishini angladik.</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2000" dirty="0">
                <a:solidFill>
                  <a:srgbClr val="002060"/>
                </a:solidFill>
                <a:latin typeface="Arial" panose="020B0604020202020204" pitchFamily="34" charset="0"/>
                <a:ea typeface="Times New Roman" panose="02020603050405020304" pitchFamily="18" charset="0"/>
              </a:rPr>
              <a:t>"</a:t>
            </a:r>
            <a:r>
              <a:rPr lang="en-US" sz="2000" dirty="0" err="1">
                <a:solidFill>
                  <a:srgbClr val="002060"/>
                </a:solidFill>
                <a:latin typeface="Arial" panose="020B0604020202020204" pitchFamily="34" charset="0"/>
                <a:ea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intellekt</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atamasi</a:t>
            </a:r>
            <a:r>
              <a:rPr lang="en-US" sz="2000" dirty="0">
                <a:solidFill>
                  <a:srgbClr val="002060"/>
                </a:solidFill>
                <a:latin typeface="Arial" panose="020B0604020202020204" pitchFamily="34" charset="0"/>
                <a:ea typeface="Times New Roman" panose="02020603050405020304" pitchFamily="18" charset="0"/>
              </a:rPr>
              <a:t> </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1956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yilda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Nyu-Xempshir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shtatining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Gannover</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shahridagi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Dartmut</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universitetida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bo'lib</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o'tgan</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ilmiy</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konferentsiyada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kiritilgan</a:t>
            </a:r>
            <a:r>
              <a:rPr lang="en-US" sz="2000" dirty="0">
                <a:solidFill>
                  <a:srgbClr val="002060"/>
                </a:solidFill>
                <a:latin typeface="Arial" panose="020B0604020202020204" pitchFamily="34" charset="0"/>
                <a:ea typeface="Times New Roman" panose="02020603050405020304" pitchFamily="18" charset="0"/>
              </a:rPr>
              <a:t>. </a:t>
            </a:r>
            <a:endParaRPr lang="ru-RU" sz="2000" dirty="0">
              <a:solidFill>
                <a:srgbClr val="002060"/>
              </a:solidFill>
            </a:endParaRPr>
          </a:p>
        </p:txBody>
      </p:sp>
      <p:pic>
        <p:nvPicPr>
          <p:cNvPr id="2050" name="Picture 2" descr="EU AI Act: first regulation on artificial intelligence | Topics | European  Parliament">
            <a:extLst>
              <a:ext uri="{FF2B5EF4-FFF2-40B4-BE49-F238E27FC236}">
                <a16:creationId xmlns:a16="http://schemas.microsoft.com/office/drawing/2014/main" id="{9FEFC927-7B1E-469D-B67D-D33BC8675A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74" y="1166024"/>
            <a:ext cx="4612690" cy="3199907"/>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a:extLst>
              <a:ext uri="{FF2B5EF4-FFF2-40B4-BE49-F238E27FC236}">
                <a16:creationId xmlns:a16="http://schemas.microsoft.com/office/drawing/2014/main" id="{24B063C3-979E-4AC0-B1BE-AE8ADBE66553}"/>
              </a:ext>
            </a:extLst>
          </p:cNvPr>
          <p:cNvSpPr/>
          <p:nvPr/>
        </p:nvSpPr>
        <p:spPr>
          <a:xfrm>
            <a:off x="191273" y="4522299"/>
            <a:ext cx="10818472" cy="1631216"/>
          </a:xfrm>
          <a:prstGeom prst="rect">
            <a:avLst/>
          </a:prstGeom>
        </p:spPr>
        <p:txBody>
          <a:bodyPr wrap="square">
            <a:spAutoFit/>
          </a:bodyPr>
          <a:lstStyle/>
          <a:p>
            <a:pPr algn="just"/>
            <a:r>
              <a:rPr lang="en-US" sz="2000" dirty="0" err="1">
                <a:solidFill>
                  <a:srgbClr val="002060"/>
                </a:solidFill>
                <a:latin typeface="Arial" panose="020B0604020202020204" pitchFamily="34" charset="0"/>
                <a:ea typeface="Times New Roman" panose="02020603050405020304" pitchFamily="18" charset="0"/>
              </a:rPr>
              <a:t>O'shandan</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beri</a:t>
            </a:r>
            <a:r>
              <a:rPr lang="en-US" sz="2000" dirty="0">
                <a:solidFill>
                  <a:srgbClr val="002060"/>
                </a:solidFill>
                <a:latin typeface="Arial" panose="020B0604020202020204" pitchFamily="34" charset="0"/>
                <a:ea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rPr>
              <a:t> ma'lumotlarni </a:t>
            </a:r>
            <a:r>
              <a:rPr lang="en-US" sz="2000" dirty="0" err="1">
                <a:solidFill>
                  <a:srgbClr val="002060"/>
                </a:solidFill>
                <a:latin typeface="Arial" panose="020B0604020202020204" pitchFamily="34" charset="0"/>
                <a:ea typeface="Times New Roman" panose="02020603050405020304" pitchFamily="18" charset="0"/>
              </a:rPr>
              <a:t>boshqarish</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juda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o'zaro</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bog'liq</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holda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rivojlandi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intellekt</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aniq</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tahlilni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amalga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oshirish</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uchun</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juda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katta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hajmdagi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katta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ma'lumotlarni talab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qiladi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a:solidFill>
                  <a:srgbClr val="002060"/>
                </a:solidFill>
                <a:latin typeface="Arial" panose="020B0604020202020204" pitchFamily="34" charset="0"/>
                <a:ea typeface="Times New Roman" panose="02020603050405020304" pitchFamily="18" charset="0"/>
              </a:rPr>
              <a:t>. Katta </a:t>
            </a:r>
            <a:r>
              <a:rPr lang="en-US" sz="2000" dirty="0" err="1">
                <a:solidFill>
                  <a:srgbClr val="002060"/>
                </a:solidFill>
                <a:latin typeface="Arial" panose="020B0604020202020204" pitchFamily="34" charset="0"/>
                <a:ea typeface="Times New Roman" panose="02020603050405020304" pitchFamily="18" charset="0"/>
              </a:rPr>
              <a:t>hajmdagi</a:t>
            </a:r>
            <a:r>
              <a:rPr lang="en-US" sz="2000" dirty="0">
                <a:solidFill>
                  <a:srgbClr val="002060"/>
                </a:solidFill>
                <a:latin typeface="Arial" panose="020B0604020202020204" pitchFamily="34" charset="0"/>
                <a:ea typeface="Times New Roman" panose="02020603050405020304" pitchFamily="18" charset="0"/>
              </a:rPr>
              <a:t> ma'lumotlarni </a:t>
            </a:r>
            <a:r>
              <a:rPr lang="en-US" sz="2000" dirty="0" err="1">
                <a:solidFill>
                  <a:srgbClr val="002060"/>
                </a:solidFill>
                <a:latin typeface="Arial" panose="020B0604020202020204" pitchFamily="34" charset="0"/>
                <a:ea typeface="Times New Roman" panose="02020603050405020304" pitchFamily="18" charset="0"/>
              </a:rPr>
              <a:t>raqamli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qayta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ishlash</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uchun</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esa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tizim</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intellektni</a:t>
            </a:r>
            <a:r>
              <a:rPr lang="en-US" sz="2000" dirty="0">
                <a:solidFill>
                  <a:srgbClr val="002060"/>
                </a:solidFill>
                <a:latin typeface="Arial" panose="020B0604020202020204" pitchFamily="34" charset="0"/>
                <a:ea typeface="Times New Roman" panose="02020603050405020304" pitchFamily="18" charset="0"/>
              </a:rPr>
              <a:t> talab </a:t>
            </a:r>
            <a:r>
              <a:rPr lang="en-US" sz="2000" dirty="0" err="1">
                <a:solidFill>
                  <a:srgbClr val="002060"/>
                </a:solidFill>
                <a:latin typeface="Arial" panose="020B0604020202020204" pitchFamily="34" charset="0"/>
                <a:ea typeface="Times New Roman" panose="02020603050405020304" pitchFamily="18" charset="0"/>
              </a:rPr>
              <a:t>qiladi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Shunday</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qilib</a:t>
            </a:r>
            <a:r>
              <a:rPr lang="en-US" sz="2000" dirty="0">
                <a:solidFill>
                  <a:srgbClr val="002060"/>
                </a:solidFill>
                <a:latin typeface="Arial" panose="020B0604020202020204" pitchFamily="34" charset="0"/>
                <a:ea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rPr>
              <a:t>tarixi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hisoblash</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quvvati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ma'lumotlar</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bazasi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texnologiyasining</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o'sishi</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bilan</a:t>
            </a:r>
            <a:r>
              <a:rPr lang="en-US" sz="2000" dirty="0">
                <a:solidFill>
                  <a:srgbClr val="002060"/>
                </a:solidFill>
                <a:latin typeface="Arial" panose="020B0604020202020204" pitchFamily="34" charset="0"/>
                <a:ea typeface="Times New Roman" panose="02020603050405020304" pitchFamily="18" charset="0"/>
              </a:rPr>
              <a:t> parallel </a:t>
            </a:r>
            <a:r>
              <a:rPr lang="en-US" sz="2000" dirty="0" err="1">
                <a:solidFill>
                  <a:srgbClr val="002060"/>
                </a:solidFill>
                <a:latin typeface="Arial" panose="020B0604020202020204" pitchFamily="34" charset="0"/>
                <a:ea typeface="Times New Roman" panose="02020603050405020304" pitchFamily="18" charset="0"/>
              </a:rPr>
              <a:t>ravishda</a:t>
            </a:r>
            <a:r>
              <a:rPr lang="en-US" sz="2000" dirty="0">
                <a:solidFill>
                  <a:srgbClr val="002060"/>
                </a:solidFill>
                <a:latin typeface="Arial" panose="020B0604020202020204" pitchFamily="34" charset="0"/>
                <a:ea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rPr>
              <a:t>rivojlandi</a:t>
            </a:r>
            <a:r>
              <a:rPr lang="en-US" sz="2000" dirty="0">
                <a:solidFill>
                  <a:srgbClr val="002060"/>
                </a:solidFill>
                <a:latin typeface="Arial" panose="020B0604020202020204" pitchFamily="34" charset="0"/>
                <a:ea typeface="Times New Roman" panose="02020603050405020304" pitchFamily="18" charset="0"/>
              </a:rPr>
              <a:t>.</a:t>
            </a:r>
            <a:endParaRPr lang="ru-RU" sz="2000" dirty="0">
              <a:solidFill>
                <a:srgbClr val="002060"/>
              </a:solidFill>
            </a:endParaRPr>
          </a:p>
        </p:txBody>
      </p:sp>
    </p:spTree>
    <p:extLst>
      <p:ext uri="{BB962C8B-B14F-4D97-AF65-F5344CB8AC3E}">
        <p14:creationId xmlns:p14="http://schemas.microsoft.com/office/powerpoint/2010/main" val="24490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457664" y="1684790"/>
            <a:ext cx="6631710" cy="3337645"/>
          </a:xfrm>
          <a:prstGeom prst="rect">
            <a:avLst/>
          </a:prstGeom>
        </p:spPr>
        <p:txBody>
          <a:bodyPr wrap="square">
            <a:spAutoFit/>
          </a:bodyPr>
          <a:lstStyle/>
          <a:p>
            <a:pPr indent="449580" algn="just">
              <a:lnSpc>
                <a:spcPct val="107000"/>
              </a:lnSpc>
              <a:spcAft>
                <a:spcPts val="0"/>
              </a:spcAft>
            </a:pP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Bugungi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kunda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paytlar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necha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gigabaytlik</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ma'lumotlarni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qayta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ishlay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oladigan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biznes</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tizimlari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terabaytlarni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boshqarishi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natijalarni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qayta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ishlash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real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vaqt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rejimida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tahlil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uchun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AIdan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foydalanishi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mumkin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Qishloqqa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boradigan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yo'lda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oqsoqlanib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yurgan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jonzotdan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farqli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o'laroq</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intellekt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texnologiyalari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moslashuvchan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sezgir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ularning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o'rnini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bosmaydi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balki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sheriklarini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yaxshilash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to'ldirish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uchun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mo'ljallangan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074" name="Picture 2" descr="AI in Indonesia: The current state and its opportunities">
            <a:extLst>
              <a:ext uri="{FF2B5EF4-FFF2-40B4-BE49-F238E27FC236}">
                <a16:creationId xmlns:a16="http://schemas.microsoft.com/office/drawing/2014/main" id="{1D39C44F-7DA1-4C72-ACE7-A03B36896A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626" y="1684790"/>
            <a:ext cx="5355038" cy="3012209"/>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a:extLst>
              <a:ext uri="{FF2B5EF4-FFF2-40B4-BE49-F238E27FC236}">
                <a16:creationId xmlns:a16="http://schemas.microsoft.com/office/drawing/2014/main" id="{861260C7-0E8F-4EA7-B455-762DDE86A83B}"/>
              </a:ext>
            </a:extLst>
          </p:cNvPr>
          <p:cNvSpPr/>
          <p:nvPr/>
        </p:nvSpPr>
        <p:spPr>
          <a:xfrm>
            <a:off x="193961" y="4696999"/>
            <a:ext cx="11129819" cy="1631216"/>
          </a:xfrm>
          <a:prstGeom prst="rect">
            <a:avLst/>
          </a:prstGeom>
        </p:spPr>
        <p:txBody>
          <a:bodyPr wrap="square">
            <a:spAutoFit/>
          </a:bodyPr>
          <a:lstStyle/>
          <a:p>
            <a:pPr algn="just"/>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intellekt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texnologik</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rivojlanishning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tez</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rivojlanayotgan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sohalaridan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biridir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Shunga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qaramay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hatto</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murakkab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modellari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ham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AIning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uchta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turidan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asosiysi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maqsadli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intellekt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foydalanadi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Qolgan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ikki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tur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ham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ilmiy-fantastik</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asar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qolmoqda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hozirda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amaliy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qo'llanilmaydi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Biroq</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kompyuter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fanining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so'nggi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50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yil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ichida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o'sish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sur'atlarini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hisobga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olsak</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kelajakda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ishlanmalari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bizni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qayerga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borishini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aytish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qiyin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a:t>
            </a:r>
            <a:endParaRPr lang="ru-RU" sz="2000" dirty="0"/>
          </a:p>
        </p:txBody>
      </p:sp>
      <p:sp>
        <p:nvSpPr>
          <p:cNvPr id="6" name="Прямоугольник 5">
            <a:extLst>
              <a:ext uri="{FF2B5EF4-FFF2-40B4-BE49-F238E27FC236}">
                <a16:creationId xmlns:a16="http://schemas.microsoft.com/office/drawing/2014/main" id="{0D649E57-1429-4F8F-9CD2-8F2BCF35512D}"/>
              </a:ext>
            </a:extLst>
          </p:cNvPr>
          <p:cNvSpPr/>
          <p:nvPr/>
        </p:nvSpPr>
        <p:spPr>
          <a:xfrm>
            <a:off x="6248366" y="332808"/>
            <a:ext cx="3573414" cy="584775"/>
          </a:xfrm>
          <a:prstGeom prst="rect">
            <a:avLst/>
          </a:prstGeom>
        </p:spPr>
        <p:txBody>
          <a:bodyPr wrap="none">
            <a:spAutoFit/>
          </a:bodyPr>
          <a:lstStyle/>
          <a:p>
            <a:r>
              <a:rPr lang="uz-Latn-UZ"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Sun'iy intellekt (AI) </a:t>
            </a:r>
            <a:endParaRPr lang="ru-RU" sz="3200" dirty="0">
              <a:solidFill>
                <a:srgbClr val="002060"/>
              </a:solidFill>
            </a:endParaRPr>
          </a:p>
        </p:txBody>
      </p:sp>
    </p:spTree>
    <p:extLst>
      <p:ext uri="{BB962C8B-B14F-4D97-AF65-F5344CB8AC3E}">
        <p14:creationId xmlns:p14="http://schemas.microsoft.com/office/powerpoint/2010/main" val="2368604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800435" y="1767754"/>
            <a:ext cx="6096000" cy="3039615"/>
          </a:xfrm>
          <a:prstGeom prst="rect">
            <a:avLst/>
          </a:prstGeom>
        </p:spPr>
        <p:txBody>
          <a:bodyPr>
            <a:spAutoFit/>
          </a:bodyPr>
          <a:lstStyle/>
          <a:p>
            <a:pPr algn="ctr">
              <a:lnSpc>
                <a:spcPct val="107000"/>
              </a:lnSpc>
              <a:spcAft>
                <a:spcPts val="0"/>
              </a:spcAft>
            </a:pPr>
            <a:r>
              <a:rPr lang="en-US" sz="2000" b="1" dirty="0" err="1">
                <a:solidFill>
                  <a:srgbClr val="002060"/>
                </a:solidFill>
                <a:effectLst/>
                <a:latin typeface="Arial" panose="020B0604020202020204" pitchFamily="34" charset="0"/>
                <a:ea typeface="Times New Roman" panose="02020603050405020304" pitchFamily="18" charset="0"/>
                <a:cs typeface="Arial" panose="020B0604020202020204" pitchFamily="34" charset="0"/>
              </a:rPr>
              <a:t>Sun'iy</a:t>
            </a:r>
            <a:r>
              <a:rPr lang="en-US" sz="2000" b="1" dirty="0">
                <a:solidFill>
                  <a:srgbClr val="002060"/>
                </a:solidFill>
                <a:effectLst/>
                <a:latin typeface="Arial" panose="020B0604020202020204" pitchFamily="34" charset="0"/>
                <a:ea typeface="Times New Roman" panose="02020603050405020304" pitchFamily="18" charset="0"/>
                <a:cs typeface="Arial" panose="020B0604020202020204" pitchFamily="34" charset="0"/>
              </a:rPr>
              <a:t> </a:t>
            </a:r>
            <a:r>
              <a:rPr lang="en-US" sz="2000" b="1" dirty="0" err="1">
                <a:solidFill>
                  <a:srgbClr val="002060"/>
                </a:solidFill>
                <a:effectLst/>
                <a:latin typeface="Arial" panose="020B0604020202020204" pitchFamily="34" charset="0"/>
                <a:ea typeface="Times New Roman" panose="02020603050405020304" pitchFamily="18" charset="0"/>
                <a:cs typeface="Arial" panose="020B0604020202020204" pitchFamily="34" charset="0"/>
              </a:rPr>
              <a:t>intellekt</a:t>
            </a:r>
            <a:r>
              <a:rPr lang="en-US" sz="2000" b="1" dirty="0">
                <a:solidFill>
                  <a:srgbClr val="002060"/>
                </a:solidFill>
                <a:effectLst/>
                <a:latin typeface="Arial" panose="020B0604020202020204" pitchFamily="34" charset="0"/>
                <a:ea typeface="Times New Roman" panose="02020603050405020304" pitchFamily="18" charset="0"/>
                <a:cs typeface="Arial" panose="020B0604020202020204" pitchFamily="34" charset="0"/>
              </a:rPr>
              <a:t> (ANI)</a:t>
            </a:r>
            <a:endParaRPr lang="ru-RU" sz="2000" b="1"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p>
            <a:pPr indent="449580" algn="just">
              <a:lnSpc>
                <a:spcPct val="107000"/>
              </a:lnSpc>
              <a:spcAft>
                <a:spcPts val="0"/>
              </a:spcAft>
            </a:pP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Zaif</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sifatida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ham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tanilgan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ANI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bugungi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kunda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mavjud</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Zaif</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bajaradigan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vazifalarni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juda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murakkab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algoritmlar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neyron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tarmoqlar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yordamida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bajarish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mumkin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bo'lsa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-da,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shunga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qaramay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yagona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maqsadga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yo'naltirilgan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qoladi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Yuzni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tanib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internet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qidiruvi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oʻzi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boshqariladigan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avtomobillar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bularning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barchasi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sunʼiy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intellektning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namunasidir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a:extLst>
              <a:ext uri="{FF2B5EF4-FFF2-40B4-BE49-F238E27FC236}">
                <a16:creationId xmlns:a16="http://schemas.microsoft.com/office/drawing/2014/main" id="{614B88D8-F43C-4A3E-96F9-4C9A36AC4CAC}"/>
              </a:ext>
            </a:extLst>
          </p:cNvPr>
          <p:cNvSpPr/>
          <p:nvPr/>
        </p:nvSpPr>
        <p:spPr>
          <a:xfrm>
            <a:off x="4191429" y="535925"/>
            <a:ext cx="4549643" cy="593304"/>
          </a:xfrm>
          <a:prstGeom prst="rect">
            <a:avLst/>
          </a:prstGeom>
        </p:spPr>
        <p:txBody>
          <a:bodyPr wrap="none">
            <a:spAutoFit/>
          </a:bodyPr>
          <a:lstStyle/>
          <a:p>
            <a:pPr algn="just">
              <a:lnSpc>
                <a:spcPct val="107000"/>
              </a:lnSpc>
              <a:spcAft>
                <a:spcPts val="800"/>
              </a:spcAft>
            </a:pPr>
            <a:r>
              <a:rPr lang="en-US" sz="32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AIning</a:t>
            </a:r>
            <a:r>
              <a:rPr lang="en-US" sz="32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uchta</a:t>
            </a:r>
            <a:r>
              <a:rPr lang="en-US" sz="32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asosiy</a:t>
            </a:r>
            <a:r>
              <a:rPr lang="en-US" sz="32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turi</a:t>
            </a:r>
            <a:r>
              <a:rPr lang="uz-Cyrl-UZ" sz="32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ru-RU" sz="2400" b="1" dirty="0">
              <a:solidFill>
                <a:srgbClr val="00206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4098" name="Picture 2" descr="The 15 Most Popular AI Tools In 2023">
            <a:extLst>
              <a:ext uri="{FF2B5EF4-FFF2-40B4-BE49-F238E27FC236}">
                <a16:creationId xmlns:a16="http://schemas.microsoft.com/office/drawing/2014/main" id="{BC7628A1-17FA-42CE-9E80-202F30E119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36" y="1790402"/>
            <a:ext cx="5430981" cy="2972896"/>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1CE90AED-D6BB-4835-AE10-652F5E7E0F18}"/>
              </a:ext>
            </a:extLst>
          </p:cNvPr>
          <p:cNvSpPr/>
          <p:nvPr/>
        </p:nvSpPr>
        <p:spPr>
          <a:xfrm>
            <a:off x="212436" y="4931195"/>
            <a:ext cx="10806546" cy="1323439"/>
          </a:xfrm>
          <a:prstGeom prst="rect">
            <a:avLst/>
          </a:prstGeom>
        </p:spPr>
        <p:txBody>
          <a:bodyPr wrap="square">
            <a:spAutoFit/>
          </a:bodyPr>
          <a:lstStyle/>
          <a:p>
            <a:pPr algn="just"/>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U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zaif</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deb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tasniflanadi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chunki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u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miqyos</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kuchga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emas</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balki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biz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haqiqiy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aqlga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tegishli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insoniy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tarkibiy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qismlarga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bo'lishdan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uzoq</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yo'ldir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Faylasuf</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Jon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Searl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zaif</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intellektni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aql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haqidagi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farazlarni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sinab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ko'rish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uchun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foydalidir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lekin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aslida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aql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emas</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deb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ta'riflaydi</a:t>
            </a:r>
            <a:r>
              <a:rPr lang="en-US" sz="2000" dirty="0">
                <a:solidFill>
                  <a:srgbClr val="3C3C3C"/>
                </a:solidFill>
                <a:latin typeface="Arial" panose="020B0604020202020204" pitchFamily="34" charset="0"/>
                <a:ea typeface="Times New Roman" panose="02020603050405020304" pitchFamily="18" charset="0"/>
                <a:cs typeface="Times New Roman" panose="02020603050405020304" pitchFamily="18" charset="0"/>
              </a:rPr>
              <a:t>.</a:t>
            </a:r>
            <a:endParaRPr lang="ru-RU" sz="2000" dirty="0"/>
          </a:p>
        </p:txBody>
      </p:sp>
    </p:spTree>
    <p:extLst>
      <p:ext uri="{BB962C8B-B14F-4D97-AF65-F5344CB8AC3E}">
        <p14:creationId xmlns:p14="http://schemas.microsoft.com/office/powerpoint/2010/main" val="1650143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5454869" y="901583"/>
            <a:ext cx="6493164" cy="4027577"/>
          </a:xfrm>
          <a:prstGeom prst="rect">
            <a:avLst/>
          </a:prstGeom>
        </p:spPr>
        <p:txBody>
          <a:bodyPr wrap="square">
            <a:spAutoFit/>
          </a:bodyPr>
          <a:lstStyle/>
          <a:p>
            <a:pPr algn="just">
              <a:lnSpc>
                <a:spcPct val="107000"/>
              </a:lnSpc>
              <a:spcAft>
                <a:spcPts val="0"/>
              </a:spcAft>
            </a:pPr>
            <a:r>
              <a:rPr lang="en-US" sz="20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Umumiy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maqsadli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kuchli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inson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oladigan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qanday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aqlli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vazifani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muvaffaqiyatli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bajara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olishi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kerak</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Tor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maqsadli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tizimlari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singari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umumiy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maqsadli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tizimlari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ham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tajribadan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o'rganishi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naqshlarni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aniqlashi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bashorat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qilishi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mumkin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ammo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yana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muhim</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qadamni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qo'yish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qobiliyatiga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bu</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bilimlarni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ilgari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olingan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ma'lumotlar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yoki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mavjud</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algoritmlar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yordamida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qilib</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bo'lmaydigan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keng</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ko'lamli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muammolar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vaziyatlarga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ekstrapolyatsiya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oladilar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US" sz="2000"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 </a:t>
            </a:r>
            <a:endParaRPr lang="ru-RU"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Прямоугольник 1">
            <a:extLst>
              <a:ext uri="{FF2B5EF4-FFF2-40B4-BE49-F238E27FC236}">
                <a16:creationId xmlns:a16="http://schemas.microsoft.com/office/drawing/2014/main" id="{2A42B09E-86E4-4010-B093-ACBAFA06A990}"/>
              </a:ext>
            </a:extLst>
          </p:cNvPr>
          <p:cNvSpPr/>
          <p:nvPr/>
        </p:nvSpPr>
        <p:spPr>
          <a:xfrm>
            <a:off x="4031974" y="252313"/>
            <a:ext cx="4128053" cy="458780"/>
          </a:xfrm>
          <a:prstGeom prst="rect">
            <a:avLst/>
          </a:prstGeom>
        </p:spPr>
        <p:txBody>
          <a:bodyPr wrap="none">
            <a:spAutoFit/>
          </a:bodyPr>
          <a:lstStyle/>
          <a:p>
            <a:pPr algn="just">
              <a:lnSpc>
                <a:spcPct val="107000"/>
              </a:lnSpc>
              <a:spcAft>
                <a:spcPts val="0"/>
              </a:spcAft>
            </a:pPr>
            <a:r>
              <a:rPr lang="en-US" sz="24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Sun'iy</a:t>
            </a:r>
            <a:r>
              <a:rPr lang="en-US" sz="24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4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umumiy</a:t>
            </a:r>
            <a:r>
              <a:rPr lang="en-US" sz="24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4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intellekt</a:t>
            </a:r>
            <a:r>
              <a:rPr lang="en-US" sz="2400" dirty="0">
                <a:solidFill>
                  <a:srgbClr val="002060"/>
                </a:solidFill>
                <a:latin typeface="Arial" panose="020B0604020202020204" pitchFamily="34" charset="0"/>
                <a:ea typeface="Times New Roman" panose="02020603050405020304" pitchFamily="18" charset="0"/>
                <a:cs typeface="Arial" panose="020B0604020202020204" pitchFamily="34" charset="0"/>
              </a:rPr>
              <a:t> (AGI)</a:t>
            </a:r>
            <a:endParaRPr lang="ru-RU"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p:sp>
        <p:nvSpPr>
          <p:cNvPr id="4" name="Прямоугольник 3">
            <a:extLst>
              <a:ext uri="{FF2B5EF4-FFF2-40B4-BE49-F238E27FC236}">
                <a16:creationId xmlns:a16="http://schemas.microsoft.com/office/drawing/2014/main" id="{05101DCD-E9C5-4CC1-90B2-7554ECD23620}"/>
              </a:ext>
            </a:extLst>
          </p:cNvPr>
          <p:cNvSpPr/>
          <p:nvPr/>
        </p:nvSpPr>
        <p:spPr>
          <a:xfrm>
            <a:off x="212436" y="4609970"/>
            <a:ext cx="10972799" cy="1722331"/>
          </a:xfrm>
          <a:prstGeom prst="rect">
            <a:avLst/>
          </a:prstGeom>
        </p:spPr>
        <p:txBody>
          <a:bodyPr wrap="square">
            <a:spAutoFit/>
          </a:bodyPr>
          <a:lstStyle/>
          <a:p>
            <a:pPr indent="449580" algn="just">
              <a:lnSpc>
                <a:spcPct val="107000"/>
              </a:lnSpc>
              <a:spcAft>
                <a:spcPts val="0"/>
              </a:spcAft>
            </a:pP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Summit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superkompyuteri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umumiy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maqsadli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sun'iy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intellektga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dunyodagi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kam</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sonli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shunday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superkompyuterlardan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biridir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U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bir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soniyada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200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kvadrillion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hisoblash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operatsiyalarini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bajarishi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mumkin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bu</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esa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insonga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milliard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yil</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vaqt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oladi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AGI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modellari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ularni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haqiqatga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aylantirish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uchun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bunday</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katta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ishlashga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muhtoj</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emas</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lekin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ular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hozirda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faqat</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superkompyuter</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darajasida</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mavjud</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bo'lgan</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hisoblash</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quvvatini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 talab </a:t>
            </a:r>
            <a:r>
              <a:rPr lang="en-US" sz="2000" dirty="0" err="1">
                <a:solidFill>
                  <a:srgbClr val="002060"/>
                </a:solidFill>
                <a:latin typeface="Arial" panose="020B0604020202020204" pitchFamily="34" charset="0"/>
                <a:ea typeface="Times New Roman" panose="02020603050405020304" pitchFamily="18" charset="0"/>
                <a:cs typeface="Times New Roman" panose="02020603050405020304" pitchFamily="18" charset="0"/>
              </a:rPr>
              <a:t>qiladi</a:t>
            </a:r>
            <a:r>
              <a:rPr lang="en-US" sz="2000" dirty="0">
                <a:solidFill>
                  <a:srgbClr val="002060"/>
                </a:solidFill>
                <a:latin typeface="Arial" panose="020B0604020202020204" pitchFamily="34" charset="0"/>
                <a:ea typeface="Times New Roman" panose="02020603050405020304" pitchFamily="18" charset="0"/>
                <a:cs typeface="Times New Roman" panose="02020603050405020304" pitchFamily="18" charset="0"/>
              </a:rPr>
              <a:t>.</a:t>
            </a:r>
            <a:endParaRPr lang="ru-RU" dirty="0">
              <a:solidFill>
                <a:srgbClr val="00206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122" name="Picture 2" descr="AI Software: 17 Most Popular Products for 2024 - viso.ai">
            <a:extLst>
              <a:ext uri="{FF2B5EF4-FFF2-40B4-BE49-F238E27FC236}">
                <a16:creationId xmlns:a16="http://schemas.microsoft.com/office/drawing/2014/main" id="{A933505D-F973-4BB8-936D-E8246F0F0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967" y="1180043"/>
            <a:ext cx="5013435" cy="3339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621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57091" y="1331563"/>
            <a:ext cx="6834908" cy="3032305"/>
          </a:xfrm>
          <a:prstGeom prst="rect">
            <a:avLst/>
          </a:prstGeom>
        </p:spPr>
        <p:txBody>
          <a:bodyPr wrap="square">
            <a:spAutoFit/>
          </a:bodyPr>
          <a:lstStyle/>
          <a:p>
            <a:pPr algn="just">
              <a:lnSpc>
                <a:spcPct val="107000"/>
              </a:lnSpc>
            </a:pPr>
            <a:r>
              <a:rPr lang="en-US" sz="2000" dirty="0">
                <a:solidFill>
                  <a:srgbClr val="3C3C3C"/>
                </a:solidFill>
                <a:latin typeface="Arial" panose="020B0604020202020204" pitchFamily="34" charset="0"/>
                <a:ea typeface="Times New Roman" panose="02020603050405020304" pitchFamily="18" charset="0"/>
                <a:cs typeface="Arial" panose="020B0604020202020204" pitchFamily="34" charset="0"/>
              </a:rPr>
              <a:t> </a:t>
            </a:r>
            <a:r>
              <a:rPr lang="en-US" sz="2000" dirty="0">
                <a:solidFill>
                  <a:srgbClr val="002060"/>
                </a:solidFill>
                <a:latin typeface="Arial" panose="020B0604020202020204" pitchFamily="34" charset="0"/>
                <a:cs typeface="Arial" panose="020B0604020202020204" pitchFamily="34" charset="0"/>
              </a:rPr>
              <a:t>ASI </a:t>
            </a:r>
            <a:r>
              <a:rPr lang="en-US" sz="2000" dirty="0" err="1">
                <a:solidFill>
                  <a:srgbClr val="002060"/>
                </a:solidFill>
                <a:latin typeface="Arial" panose="020B0604020202020204" pitchFamily="34" charset="0"/>
                <a:cs typeface="Arial" panose="020B0604020202020204" pitchFamily="34" charset="0"/>
              </a:rPr>
              <a:t>kabi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tizimlar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nazariy</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jihatdan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o'zini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to'liq</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anglaydi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Ular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nafaqat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inson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xatti-harakatlariga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taqlid</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qiladilar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yoki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tushunadilar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balki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uni</a:t>
            </a:r>
            <a:r>
              <a:rPr lang="en-US" sz="2000" dirty="0">
                <a:solidFill>
                  <a:srgbClr val="002060"/>
                </a:solidFill>
                <a:latin typeface="Arial" panose="020B0604020202020204" pitchFamily="34" charset="0"/>
                <a:cs typeface="Arial" panose="020B0604020202020204" pitchFamily="34" charset="0"/>
              </a:rPr>
              <a:t> fundamental </a:t>
            </a:r>
            <a:r>
              <a:rPr lang="en-US" sz="2000" dirty="0" err="1">
                <a:solidFill>
                  <a:srgbClr val="002060"/>
                </a:solidFill>
                <a:latin typeface="Arial" panose="020B0604020202020204" pitchFamily="34" charset="0"/>
                <a:cs typeface="Arial" panose="020B0604020202020204" pitchFamily="34" charset="0"/>
              </a:rPr>
              <a:t>darajada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tushunadilar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Ushbu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insonga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o'xshash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xususiyatlar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bilan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ta'minlangan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biznikidan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ancha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yuqori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bo'lgan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hisoblash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analitik</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quvvat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bilan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takomillashtirilgan</a:t>
            </a:r>
            <a:r>
              <a:rPr lang="en-US" sz="2000" dirty="0">
                <a:solidFill>
                  <a:srgbClr val="002060"/>
                </a:solidFill>
                <a:latin typeface="Arial" panose="020B0604020202020204" pitchFamily="34" charset="0"/>
                <a:cs typeface="Arial" panose="020B0604020202020204" pitchFamily="34" charset="0"/>
              </a:rPr>
              <a:t> - super </a:t>
            </a:r>
            <a:r>
              <a:rPr lang="en-US" sz="2000" dirty="0" err="1">
                <a:solidFill>
                  <a:srgbClr val="002060"/>
                </a:solidFill>
                <a:latin typeface="Arial" panose="020B0604020202020204" pitchFamily="34" charset="0"/>
                <a:cs typeface="Arial" panose="020B0604020202020204" pitchFamily="34" charset="0"/>
              </a:rPr>
              <a:t>aqlli</a:t>
            </a:r>
            <a:r>
              <a:rPr lang="en-US" sz="2000" dirty="0">
                <a:solidFill>
                  <a:srgbClr val="002060"/>
                </a:solidFill>
                <a:latin typeface="Arial" panose="020B0604020202020204" pitchFamily="34" charset="0"/>
                <a:cs typeface="Arial" panose="020B0604020202020204" pitchFamily="34" charset="0"/>
              </a:rPr>
              <a:t> AI </a:t>
            </a:r>
            <a:r>
              <a:rPr lang="en-US" sz="2000" dirty="0" err="1">
                <a:solidFill>
                  <a:srgbClr val="002060"/>
                </a:solidFill>
                <a:latin typeface="Arial" panose="020B0604020202020204" pitchFamily="34" charset="0"/>
                <a:cs typeface="Arial" panose="020B0604020202020204" pitchFamily="34" charset="0"/>
              </a:rPr>
              <a:t>tizimlari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odamlar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asta-sekin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ko'proq</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anaxronizmga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aylanib</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borayotgan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kelajak</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haqidagi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ilmiy-fantastik</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distopiyadan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tashqarida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ko'rinishi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mumkin</a:t>
            </a:r>
            <a:r>
              <a:rPr lang="en-US" sz="2000" dirty="0">
                <a:solidFill>
                  <a:srgbClr val="002060"/>
                </a:solidFill>
                <a:latin typeface="Arial" panose="020B0604020202020204" pitchFamily="34" charset="0"/>
                <a:cs typeface="Arial" panose="020B0604020202020204" pitchFamily="34" charset="0"/>
              </a:rPr>
              <a:t>. </a:t>
            </a:r>
            <a:endParaRPr lang="ru-RU" sz="160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3" name="Прямоугольник 2">
            <a:extLst>
              <a:ext uri="{FF2B5EF4-FFF2-40B4-BE49-F238E27FC236}">
                <a16:creationId xmlns:a16="http://schemas.microsoft.com/office/drawing/2014/main" id="{96F14F9A-A7F5-48DF-9BB0-7C4CD2C9A131}"/>
              </a:ext>
            </a:extLst>
          </p:cNvPr>
          <p:cNvSpPr/>
          <p:nvPr/>
        </p:nvSpPr>
        <p:spPr>
          <a:xfrm>
            <a:off x="4206283" y="138544"/>
            <a:ext cx="3779433" cy="468077"/>
          </a:xfrm>
          <a:prstGeom prst="rect">
            <a:avLst/>
          </a:prstGeom>
        </p:spPr>
        <p:txBody>
          <a:bodyPr wrap="none">
            <a:spAutoFit/>
          </a:bodyPr>
          <a:lstStyle/>
          <a:p>
            <a:pPr algn="just">
              <a:lnSpc>
                <a:spcPct val="107000"/>
              </a:lnSpc>
              <a:spcAft>
                <a:spcPts val="0"/>
              </a:spcAft>
            </a:pPr>
            <a:r>
              <a:rPr lang="en-US" sz="24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Sun'iy</a:t>
            </a:r>
            <a:r>
              <a:rPr lang="en-US" sz="24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super </a:t>
            </a:r>
            <a:r>
              <a:rPr lang="en-US" sz="2400" b="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intellekt</a:t>
            </a:r>
            <a:r>
              <a:rPr lang="en-US" sz="24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(ASI)</a:t>
            </a:r>
            <a:endParaRPr lang="ru-RU" b="1" dirty="0">
              <a:solidFill>
                <a:srgbClr val="00206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 name="Прямоугольник 3">
            <a:extLst>
              <a:ext uri="{FF2B5EF4-FFF2-40B4-BE49-F238E27FC236}">
                <a16:creationId xmlns:a16="http://schemas.microsoft.com/office/drawing/2014/main" id="{72D62016-9737-4126-AF5F-4B7078E402BA}"/>
              </a:ext>
            </a:extLst>
          </p:cNvPr>
          <p:cNvSpPr/>
          <p:nvPr/>
        </p:nvSpPr>
        <p:spPr>
          <a:xfrm>
            <a:off x="175491" y="4434467"/>
            <a:ext cx="11000508" cy="2044342"/>
          </a:xfrm>
          <a:prstGeom prst="rect">
            <a:avLst/>
          </a:prstGeom>
        </p:spPr>
        <p:txBody>
          <a:bodyPr wrap="square">
            <a:spAutoFit/>
          </a:bodyPr>
          <a:lstStyle/>
          <a:p>
            <a:pPr algn="just">
              <a:lnSpc>
                <a:spcPct val="107000"/>
              </a:lnSpc>
            </a:pPr>
            <a:r>
              <a:rPr lang="en-US" sz="2000" dirty="0" err="1">
                <a:solidFill>
                  <a:srgbClr val="002060"/>
                </a:solidFill>
                <a:latin typeface="Arial" panose="020B0604020202020204" pitchFamily="34" charset="0"/>
                <a:cs typeface="Arial" panose="020B0604020202020204" pitchFamily="34" charset="0"/>
              </a:rPr>
              <a:t>Bunday</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dunyoni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bugun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tirik</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odam</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ko'rishi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dargumon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Biroq</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sun'iy</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intellekt</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shu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qadar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jadal</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rivojlanmoqdaki</a:t>
            </a:r>
            <a:r>
              <a:rPr lang="en-US" sz="2000" dirty="0">
                <a:solidFill>
                  <a:srgbClr val="002060"/>
                </a:solidFill>
                <a:latin typeface="Arial" panose="020B0604020202020204" pitchFamily="34" charset="0"/>
                <a:cs typeface="Arial" panose="020B0604020202020204" pitchFamily="34" charset="0"/>
              </a:rPr>
              <a:t>, biz </a:t>
            </a:r>
            <a:r>
              <a:rPr lang="en-US" sz="2000" dirty="0" err="1">
                <a:solidFill>
                  <a:srgbClr val="002060"/>
                </a:solidFill>
                <a:latin typeface="Arial" panose="020B0604020202020204" pitchFamily="34" charset="0"/>
                <a:cs typeface="Arial" panose="020B0604020202020204" pitchFamily="34" charset="0"/>
              </a:rPr>
              <a:t>sun'iy</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intellektning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paydo</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bo'lishini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kutgan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holda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axloqiy</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me'yorlar</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mas'uliyatli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boshqaruv</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mexanizmlarini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ko'rib</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chiqishimiz</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kerak</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bu</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deyarli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barcha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o'lchanadigan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jihatlarda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bizdan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ustun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turadi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Stiven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Xoking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aytganidek</a:t>
            </a:r>
            <a:r>
              <a:rPr lang="en-US" sz="2000" dirty="0">
                <a:solidFill>
                  <a:srgbClr val="002060"/>
                </a:solidFill>
                <a:latin typeface="Arial" panose="020B0604020202020204" pitchFamily="34" charset="0"/>
                <a:cs typeface="Arial" panose="020B0604020202020204" pitchFamily="34" charset="0"/>
              </a:rPr>
              <a:t> : "</a:t>
            </a:r>
            <a:r>
              <a:rPr lang="en-US" sz="2000" dirty="0" err="1">
                <a:solidFill>
                  <a:srgbClr val="002060"/>
                </a:solidFill>
                <a:latin typeface="Arial" panose="020B0604020202020204" pitchFamily="34" charset="0"/>
                <a:cs typeface="Arial" panose="020B0604020202020204" pitchFamily="34" charset="0"/>
              </a:rPr>
              <a:t>AIning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ulkan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salohiyati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tufayli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mumkin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bo'lgan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tuzoqlardan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qochish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va</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uning</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afzalliklaridan</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qanday</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foydalanishni</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o'rganish</a:t>
            </a:r>
            <a:r>
              <a:rPr lang="en-US" sz="2000" dirty="0">
                <a:solidFill>
                  <a:srgbClr val="002060"/>
                </a:solidFill>
                <a:latin typeface="Arial" panose="020B0604020202020204" pitchFamily="34" charset="0"/>
                <a:cs typeface="Arial" panose="020B0604020202020204" pitchFamily="34" charset="0"/>
              </a:rPr>
              <a:t> </a:t>
            </a:r>
            <a:r>
              <a:rPr lang="en-US" sz="2000" dirty="0" err="1">
                <a:solidFill>
                  <a:srgbClr val="002060"/>
                </a:solidFill>
                <a:latin typeface="Arial" panose="020B0604020202020204" pitchFamily="34" charset="0"/>
                <a:cs typeface="Arial" panose="020B0604020202020204" pitchFamily="34" charset="0"/>
              </a:rPr>
              <a:t>muhimdir</a:t>
            </a:r>
            <a:r>
              <a:rPr lang="en-US" sz="2000" dirty="0">
                <a:solidFill>
                  <a:srgbClr val="002060"/>
                </a:solidFill>
                <a:latin typeface="Arial" panose="020B0604020202020204" pitchFamily="34" charset="0"/>
                <a:cs typeface="Arial" panose="020B0604020202020204" pitchFamily="34" charset="0"/>
              </a:rPr>
              <a:t>."</a:t>
            </a:r>
            <a:endParaRPr lang="ru-RU" sz="2000" dirty="0">
              <a:solidFill>
                <a:srgbClr val="002060"/>
              </a:solidFill>
              <a:latin typeface="Arial" panose="020B0604020202020204" pitchFamily="34" charset="0"/>
              <a:cs typeface="Arial" panose="020B0604020202020204" pitchFamily="34" charset="0"/>
            </a:endParaRPr>
          </a:p>
        </p:txBody>
      </p:sp>
      <p:pic>
        <p:nvPicPr>
          <p:cNvPr id="6146" name="Picture 2" descr="ARTIFICIAL INTELLIGENCE: NEXT FRONTIERS FOR TECHNOLOGY – THISDAYLIVE">
            <a:extLst>
              <a:ext uri="{FF2B5EF4-FFF2-40B4-BE49-F238E27FC236}">
                <a16:creationId xmlns:a16="http://schemas.microsoft.com/office/drawing/2014/main" id="{6BA2DB66-A1BA-407C-A843-1706C2EA61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326" y="1445998"/>
            <a:ext cx="4996873" cy="2803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664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3774" y="184408"/>
            <a:ext cx="10364451" cy="748465"/>
          </a:xfrm>
        </p:spPr>
        <p:txBody>
          <a:bodyPr>
            <a:normAutofit/>
          </a:bodyPr>
          <a:lstStyle/>
          <a:p>
            <a:pPr algn="ctr"/>
            <a:r>
              <a:rPr lang="en-US" sz="2800" dirty="0">
                <a:solidFill>
                  <a:srgbClr val="002060"/>
                </a:solidFill>
                <a:latin typeface="Arial" panose="020B0604020202020204" pitchFamily="34" charset="0"/>
                <a:cs typeface="Arial" panose="020B0604020202020204" pitchFamily="34" charset="0"/>
              </a:rPr>
              <a:t>AI</a:t>
            </a:r>
            <a:r>
              <a:rPr lang="uz-Cyrl-UZ" sz="2800" dirty="0">
                <a:solidFill>
                  <a:srgbClr val="002060"/>
                </a:solidFill>
                <a:latin typeface="Arial" panose="020B0604020202020204" pitchFamily="34" charset="0"/>
                <a:cs typeface="Arial" panose="020B0604020202020204" pitchFamily="34" charset="0"/>
              </a:rPr>
              <a:t>т</a:t>
            </a:r>
            <a:r>
              <a:rPr lang="en-US" sz="2800" dirty="0" err="1">
                <a:solidFill>
                  <a:srgbClr val="002060"/>
                </a:solidFill>
                <a:latin typeface="Arial" panose="020B0604020202020204" pitchFamily="34" charset="0"/>
                <a:cs typeface="Arial" panose="020B0604020202020204" pitchFamily="34" charset="0"/>
              </a:rPr>
              <a:t>ning</a:t>
            </a:r>
            <a:r>
              <a:rPr lang="en-US" sz="2800" dirty="0">
                <a:solidFill>
                  <a:srgbClr val="002060"/>
                </a:solidFill>
                <a:latin typeface="Arial" panose="020B0604020202020204" pitchFamily="34" charset="0"/>
                <a:cs typeface="Arial" panose="020B0604020202020204" pitchFamily="34" charset="0"/>
              </a:rPr>
              <a:t> </a:t>
            </a:r>
            <a:r>
              <a:rPr lang="en-US" sz="2800" dirty="0" err="1">
                <a:solidFill>
                  <a:srgbClr val="002060"/>
                </a:solidFill>
                <a:latin typeface="Arial" panose="020B0604020202020204" pitchFamily="34" charset="0"/>
                <a:cs typeface="Arial" panose="020B0604020202020204" pitchFamily="34" charset="0"/>
              </a:rPr>
              <a:t>afzalliklari</a:t>
            </a:r>
            <a:endParaRPr lang="ru-RU" sz="2800" dirty="0">
              <a:solidFill>
                <a:srgbClr val="002060"/>
              </a:solidFill>
              <a:latin typeface="Arial" panose="020B0604020202020204" pitchFamily="34" charset="0"/>
              <a:cs typeface="Arial" panose="020B0604020202020204" pitchFamily="34" charset="0"/>
            </a:endParaRPr>
          </a:p>
        </p:txBody>
      </p:sp>
      <p:sp>
        <p:nvSpPr>
          <p:cNvPr id="6" name="Прямоугольник 5">
            <a:extLst>
              <a:ext uri="{FF2B5EF4-FFF2-40B4-BE49-F238E27FC236}">
                <a16:creationId xmlns:a16="http://schemas.microsoft.com/office/drawing/2014/main" id="{EF4E539D-ED4B-4A7C-AB6D-F62508D6EEB8}"/>
              </a:ext>
            </a:extLst>
          </p:cNvPr>
          <p:cNvSpPr/>
          <p:nvPr/>
        </p:nvSpPr>
        <p:spPr>
          <a:xfrm>
            <a:off x="5820065" y="1893407"/>
            <a:ext cx="6271490" cy="2702984"/>
          </a:xfrm>
          <a:prstGeom prst="rect">
            <a:avLst/>
          </a:prstGeom>
        </p:spPr>
        <p:txBody>
          <a:bodyPr wrap="square">
            <a:spAutoFit/>
          </a:bodyPr>
          <a:lstStyle/>
          <a:p>
            <a:pPr algn="just">
              <a:lnSpc>
                <a:spcPct val="107000"/>
              </a:lnSpc>
              <a:spcAft>
                <a:spcPts val="800"/>
              </a:spcAft>
            </a:pP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Bir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necha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yillar</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oldin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biznes</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operatsiyalarida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sun'iy</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intellektdan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foydalanish</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erta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qabul</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qilish</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bosqichida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edi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va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uning</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salohiyati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hali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ham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biroz</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nazariy</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edi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o‘shandan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beri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sun’iy</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intellekt</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texnologiyalari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va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ilovalari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rivojlanib</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biznes</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uchun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qo‘shimcha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qiymatga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ega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bo‘ldi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idc</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 </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2022-yilda 19,6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foizga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o‘sib</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432,8 milliard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dollargacha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o‘sishini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bashorat</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qilmoqda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endParaRPr lang="ru-RU" sz="2000"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p:pic>
        <p:nvPicPr>
          <p:cNvPr id="7170" name="Picture 2" descr="337,500+ Ai Stock Photos, Pictures &amp; Royalty-Free Images - iStock | Machine  learning, Ai icon, Technology">
            <a:extLst>
              <a:ext uri="{FF2B5EF4-FFF2-40B4-BE49-F238E27FC236}">
                <a16:creationId xmlns:a16="http://schemas.microsoft.com/office/drawing/2014/main" id="{BDF7CA3E-E914-43F7-9585-7D7BDA5FE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35" y="1528519"/>
            <a:ext cx="5597237" cy="3502846"/>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a:extLst>
              <a:ext uri="{FF2B5EF4-FFF2-40B4-BE49-F238E27FC236}">
                <a16:creationId xmlns:a16="http://schemas.microsoft.com/office/drawing/2014/main" id="{1A88EEE5-4E68-46DD-B7FF-2B037E99DAD2}"/>
              </a:ext>
            </a:extLst>
          </p:cNvPr>
          <p:cNvSpPr/>
          <p:nvPr/>
        </p:nvSpPr>
        <p:spPr>
          <a:xfrm>
            <a:off x="323272" y="5205928"/>
            <a:ext cx="11305310" cy="1385700"/>
          </a:xfrm>
          <a:prstGeom prst="rect">
            <a:avLst/>
          </a:prstGeom>
        </p:spPr>
        <p:txBody>
          <a:bodyPr wrap="square">
            <a:spAutoFit/>
          </a:bodyPr>
          <a:lstStyle/>
          <a:p>
            <a:pPr algn="just">
              <a:lnSpc>
                <a:spcPct val="107000"/>
              </a:lnSpc>
              <a:spcAft>
                <a:spcPts val="800"/>
              </a:spcAft>
            </a:pP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AI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texnologiyalari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etuk</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bo'lib</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innovatsiyalarning</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navbatdagi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to'lqini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sifatida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paydo</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bo'lganda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odamlar</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ham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o'zlarining</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potentsiallari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va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ijodkorliklarini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amalga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oshirmoqdalar</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bugungi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kunda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kompaniyalar</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sun'iy</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intellektga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asoslangan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tizimlardan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o'lchanadigan</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ko'plab</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afzalliklarni</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amalga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sz="2000" dirty="0" err="1">
                <a:solidFill>
                  <a:srgbClr val="002060"/>
                </a:solidFill>
                <a:latin typeface="Arial" panose="020B0604020202020204" pitchFamily="34" charset="0"/>
                <a:ea typeface="Calibri" panose="020F0502020204030204" pitchFamily="34" charset="0"/>
                <a:cs typeface="Arial" panose="020B0604020202020204" pitchFamily="34" charset="0"/>
              </a:rPr>
              <a:t>oshirmoqda</a:t>
            </a:r>
            <a:r>
              <a:rPr lang="en-US" sz="2000" dirty="0">
                <a:solidFill>
                  <a:srgbClr val="002060"/>
                </a:solidFill>
                <a:latin typeface="Arial" panose="020B0604020202020204" pitchFamily="34" charset="0"/>
                <a:ea typeface="Calibri" panose="020F0502020204030204" pitchFamily="34" charset="0"/>
                <a:cs typeface="Arial" panose="020B0604020202020204" pitchFamily="34" charset="0"/>
              </a:rPr>
              <a:t>.</a:t>
            </a:r>
            <a:endParaRPr lang="ru-RU" sz="2000"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56034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3776" y="156698"/>
            <a:ext cx="10364451" cy="702283"/>
          </a:xfrm>
        </p:spPr>
        <p:txBody>
          <a:bodyPr>
            <a:normAutofit/>
          </a:bodyPr>
          <a:lstStyle/>
          <a:p>
            <a:r>
              <a:rPr lang="en-US" sz="3200" b="1" dirty="0" err="1">
                <a:solidFill>
                  <a:srgbClr val="002060"/>
                </a:solidFill>
              </a:rPr>
              <a:t>Tashkilot</a:t>
            </a:r>
            <a:r>
              <a:rPr lang="en-US" sz="3200" b="1" dirty="0">
                <a:solidFill>
                  <a:srgbClr val="002060"/>
                </a:solidFill>
              </a:rPr>
              <a:t> </a:t>
            </a:r>
            <a:r>
              <a:rPr lang="en-US" sz="3200" b="1" dirty="0" err="1">
                <a:solidFill>
                  <a:srgbClr val="002060"/>
                </a:solidFill>
              </a:rPr>
              <a:t>miqyosida</a:t>
            </a:r>
            <a:r>
              <a:rPr lang="en-US" sz="3200" b="1" dirty="0">
                <a:solidFill>
                  <a:srgbClr val="002060"/>
                </a:solidFill>
              </a:rPr>
              <a:t> </a:t>
            </a:r>
            <a:r>
              <a:rPr lang="en-US" sz="3200" b="1" dirty="0" err="1">
                <a:solidFill>
                  <a:srgbClr val="002060"/>
                </a:solidFill>
              </a:rPr>
              <a:t>barqarorlik</a:t>
            </a:r>
            <a:endParaRPr lang="ru-RU" sz="3200" dirty="0">
              <a:solidFill>
                <a:srgbClr val="002060"/>
              </a:solidFill>
            </a:endParaRPr>
          </a:p>
        </p:txBody>
      </p:sp>
      <p:sp>
        <p:nvSpPr>
          <p:cNvPr id="3" name="Объект 2"/>
          <p:cNvSpPr>
            <a:spLocks noGrp="1"/>
          </p:cNvSpPr>
          <p:nvPr>
            <p:ph idx="1"/>
          </p:nvPr>
        </p:nvSpPr>
        <p:spPr>
          <a:xfrm>
            <a:off x="281396" y="1209963"/>
            <a:ext cx="11629208" cy="3195783"/>
          </a:xfrm>
        </p:spPr>
        <p:txBody>
          <a:bodyPr>
            <a:normAutofit lnSpcReduction="10000"/>
          </a:bodyPr>
          <a:lstStyle/>
          <a:p>
            <a:pPr marL="0" indent="0" algn="just">
              <a:buNone/>
            </a:pPr>
            <a:r>
              <a:rPr lang="en-US" dirty="0" err="1">
                <a:solidFill>
                  <a:srgbClr val="002060"/>
                </a:solidFill>
                <a:latin typeface="Arial" panose="020B0604020202020204" pitchFamily="34" charset="0"/>
                <a:cs typeface="Arial" panose="020B0604020202020204" pitchFamily="34" charset="0"/>
              </a:rPr>
              <a:t>Kompyuterlar</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paydo</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bo'lishidan</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ancha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oldin</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kompaniyalar</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o'z</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biznesi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bozori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va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mijozlari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haqida</a:t>
            </a:r>
            <a:r>
              <a:rPr lang="en-US" dirty="0">
                <a:solidFill>
                  <a:srgbClr val="002060"/>
                </a:solidFill>
                <a:latin typeface="Arial" panose="020B0604020202020204" pitchFamily="34" charset="0"/>
                <a:cs typeface="Arial" panose="020B0604020202020204" pitchFamily="34" charset="0"/>
              </a:rPr>
              <a:t> ma'lumotlarni </a:t>
            </a:r>
            <a:r>
              <a:rPr lang="en-US" dirty="0" err="1">
                <a:solidFill>
                  <a:srgbClr val="002060"/>
                </a:solidFill>
                <a:latin typeface="Arial" panose="020B0604020202020204" pitchFamily="34" charset="0"/>
                <a:cs typeface="Arial" panose="020B0604020202020204" pitchFamily="34" charset="0"/>
              </a:rPr>
              <a:t>to'plash</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va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tushunish</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qiymatini</a:t>
            </a:r>
            <a:r>
              <a:rPr lang="en-US" dirty="0">
                <a:solidFill>
                  <a:srgbClr val="002060"/>
                </a:solidFill>
                <a:latin typeface="Arial" panose="020B0604020202020204" pitchFamily="34" charset="0"/>
                <a:cs typeface="Arial" panose="020B0604020202020204" pitchFamily="34" charset="0"/>
              </a:rPr>
              <a:t> tan </a:t>
            </a:r>
            <a:r>
              <a:rPr lang="en-US" dirty="0" err="1">
                <a:solidFill>
                  <a:srgbClr val="002060"/>
                </a:solidFill>
                <a:latin typeface="Arial" panose="020B0604020202020204" pitchFamily="34" charset="0"/>
                <a:cs typeface="Arial" panose="020B0604020202020204" pitchFamily="34" charset="0"/>
              </a:rPr>
              <a:t>olishgan</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Ma'lumotlar</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to'plamlari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hajmi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va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murakkabligi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oshgani</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sayin</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bu</a:t>
            </a:r>
            <a:r>
              <a:rPr lang="en-US" dirty="0">
                <a:solidFill>
                  <a:srgbClr val="002060"/>
                </a:solidFill>
                <a:latin typeface="Arial" panose="020B0604020202020204" pitchFamily="34" charset="0"/>
                <a:cs typeface="Arial" panose="020B0604020202020204" pitchFamily="34" charset="0"/>
              </a:rPr>
              <a:t> ma'lumotlarni </a:t>
            </a:r>
            <a:r>
              <a:rPr lang="en-US" dirty="0" err="1">
                <a:solidFill>
                  <a:srgbClr val="002060"/>
                </a:solidFill>
                <a:latin typeface="Arial" panose="020B0604020202020204" pitchFamily="34" charset="0"/>
                <a:cs typeface="Arial" panose="020B0604020202020204" pitchFamily="34" charset="0"/>
              </a:rPr>
              <a:t>aniq</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va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o'z</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vaqtida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tahlil</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qilish</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tobora</a:t>
            </a:r>
            <a:r>
              <a:rPr lang="en-US" dirty="0">
                <a:solidFill>
                  <a:srgbClr val="002060"/>
                </a:solidFill>
                <a:latin typeface="Arial" panose="020B0604020202020204" pitchFamily="34" charset="0"/>
                <a:cs typeface="Arial" panose="020B0604020202020204" pitchFamily="34" charset="0"/>
              </a:rPr>
              <a:t> </a:t>
            </a:r>
            <a:r>
              <a:rPr lang="en-US" dirty="0" err="1">
                <a:solidFill>
                  <a:srgbClr val="002060"/>
                </a:solidFill>
                <a:latin typeface="Arial" panose="020B0604020202020204" pitchFamily="34" charset="0"/>
                <a:cs typeface="Arial" panose="020B0604020202020204" pitchFamily="34" charset="0"/>
              </a:rPr>
              <a:t>qiyinlashdi</a:t>
            </a:r>
            <a:r>
              <a:rPr lang="en-US" dirty="0">
                <a:solidFill>
                  <a:srgbClr val="002060"/>
                </a:solidFill>
                <a:latin typeface="Arial" panose="020B0604020202020204" pitchFamily="34" charset="0"/>
                <a:cs typeface="Arial" panose="020B0604020202020204" pitchFamily="34" charset="0"/>
              </a:rPr>
              <a:t>. </a:t>
            </a:r>
            <a:r>
              <a:rPr lang="ru-RU" u="sng" dirty="0" err="1">
                <a:solidFill>
                  <a:srgbClr val="002060"/>
                </a:solidFill>
                <a:latin typeface="Arial" panose="020B0604020202020204" pitchFamily="34" charset="0"/>
                <a:cs typeface="Arial" panose="020B0604020202020204" pitchFamily="34" charset="0"/>
              </a:rPr>
              <a:t>AIga</a:t>
            </a:r>
            <a:r>
              <a:rPr lang="ru-RU" u="sng" dirty="0">
                <a:solidFill>
                  <a:srgbClr val="002060"/>
                </a:solidFill>
                <a:latin typeface="Arial" panose="020B0604020202020204" pitchFamily="34" charset="0"/>
                <a:cs typeface="Arial" panose="020B0604020202020204" pitchFamily="34" charset="0"/>
              </a:rPr>
              <a:t> asoslangan </a:t>
            </a:r>
            <a:r>
              <a:rPr lang="ru-RU" u="sng" dirty="0" err="1">
                <a:solidFill>
                  <a:srgbClr val="002060"/>
                </a:solidFill>
                <a:latin typeface="Arial" panose="020B0604020202020204" pitchFamily="34" charset="0"/>
                <a:cs typeface="Arial" panose="020B0604020202020204" pitchFamily="34" charset="0"/>
              </a:rPr>
              <a:t>yechimlar</a:t>
            </a:r>
            <a:r>
              <a:rPr lang="ru-RU" u="sng"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nafaqat</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katta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ma'lumotlarni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boshqarish</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balki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undan</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qimmatli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ma'lumotlarni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olish</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imkonini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beradi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Sun'iy</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intellekt</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yordamida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siz</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murakkab</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jarayonlarni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avtomatlashtirishingiz</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resurslardan</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samaraliroq</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foydalanishingiz</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va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uzilishlarni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va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imkoniyatlarni</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aniqroq</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bashorat</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qilishingiz</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va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ular</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paydo</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bo'lganda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ularga</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moslashingiz</a:t>
            </a:r>
            <a:r>
              <a:rPr lang="ru-RU" dirty="0">
                <a:solidFill>
                  <a:srgbClr val="002060"/>
                </a:solidFill>
                <a:latin typeface="Arial" panose="020B0604020202020204" pitchFamily="34" charset="0"/>
                <a:cs typeface="Arial" panose="020B0604020202020204" pitchFamily="34" charset="0"/>
              </a:rPr>
              <a:t> </a:t>
            </a:r>
            <a:r>
              <a:rPr lang="ru-RU" dirty="0" err="1">
                <a:solidFill>
                  <a:srgbClr val="002060"/>
                </a:solidFill>
                <a:latin typeface="Arial" panose="020B0604020202020204" pitchFamily="34" charset="0"/>
                <a:cs typeface="Arial" panose="020B0604020202020204" pitchFamily="34" charset="0"/>
              </a:rPr>
              <a:t>mumkin</a:t>
            </a:r>
            <a:r>
              <a:rPr lang="ru-RU" dirty="0">
                <a:solidFill>
                  <a:srgbClr val="002060"/>
                </a:solidFill>
                <a:latin typeface="Arial" panose="020B0604020202020204" pitchFamily="34" charset="0"/>
                <a:cs typeface="Arial" panose="020B0604020202020204" pitchFamily="34" charset="0"/>
              </a:rPr>
              <a:t>.</a:t>
            </a:r>
          </a:p>
          <a:p>
            <a:endParaRPr lang="ru-RU"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8655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3774" y="212117"/>
            <a:ext cx="10364451" cy="711519"/>
          </a:xfrm>
        </p:spPr>
        <p:txBody>
          <a:bodyPr>
            <a:normAutofit/>
          </a:bodyPr>
          <a:lstStyle/>
          <a:p>
            <a:r>
              <a:rPr lang="en-US" sz="2400" dirty="0" err="1">
                <a:solidFill>
                  <a:srgbClr val="002060"/>
                </a:solidFill>
              </a:rPr>
              <a:t>Mijozlarga</a:t>
            </a:r>
            <a:r>
              <a:rPr lang="en-US" sz="2400" dirty="0">
                <a:solidFill>
                  <a:srgbClr val="002060"/>
                </a:solidFill>
              </a:rPr>
              <a:t> </a:t>
            </a:r>
            <a:r>
              <a:rPr lang="en-US" sz="2400" dirty="0" err="1">
                <a:solidFill>
                  <a:srgbClr val="002060"/>
                </a:solidFill>
              </a:rPr>
              <a:t>xizmat</a:t>
            </a:r>
            <a:r>
              <a:rPr lang="en-US" sz="2400" dirty="0">
                <a:solidFill>
                  <a:srgbClr val="002060"/>
                </a:solidFill>
              </a:rPr>
              <a:t> </a:t>
            </a:r>
            <a:r>
              <a:rPr lang="en-US" sz="2400" dirty="0" err="1">
                <a:solidFill>
                  <a:srgbClr val="002060"/>
                </a:solidFill>
              </a:rPr>
              <a:t>ko'rsatish</a:t>
            </a:r>
            <a:r>
              <a:rPr lang="en-US" sz="2400" dirty="0">
                <a:solidFill>
                  <a:srgbClr val="002060"/>
                </a:solidFill>
              </a:rPr>
              <a:t> </a:t>
            </a:r>
            <a:r>
              <a:rPr lang="en-US" sz="2400" dirty="0" err="1">
                <a:solidFill>
                  <a:srgbClr val="002060"/>
                </a:solidFill>
              </a:rPr>
              <a:t>sifatini</a:t>
            </a:r>
            <a:r>
              <a:rPr lang="en-US" sz="2400" dirty="0">
                <a:solidFill>
                  <a:srgbClr val="002060"/>
                </a:solidFill>
              </a:rPr>
              <a:t> </a:t>
            </a:r>
            <a:r>
              <a:rPr lang="en-US" sz="2400" dirty="0" err="1">
                <a:solidFill>
                  <a:srgbClr val="002060"/>
                </a:solidFill>
              </a:rPr>
              <a:t>oshirish</a:t>
            </a:r>
            <a:endParaRPr lang="ru-RU" sz="2400" dirty="0">
              <a:solidFill>
                <a:srgbClr val="002060"/>
              </a:solidFill>
            </a:endParaRPr>
          </a:p>
        </p:txBody>
      </p:sp>
      <p:sp>
        <p:nvSpPr>
          <p:cNvPr id="3" name="Объект 2"/>
          <p:cNvSpPr>
            <a:spLocks noGrp="1"/>
          </p:cNvSpPr>
          <p:nvPr>
            <p:ph idx="1"/>
          </p:nvPr>
        </p:nvSpPr>
        <p:spPr>
          <a:xfrm>
            <a:off x="913773" y="1055530"/>
            <a:ext cx="10364452" cy="3424107"/>
          </a:xfrm>
        </p:spPr>
        <p:txBody>
          <a:bodyPr/>
          <a:lstStyle/>
          <a:p>
            <a:pPr marL="0" indent="0" algn="just">
              <a:buNone/>
            </a:pPr>
            <a:r>
              <a:rPr lang="en-US" dirty="0">
                <a:solidFill>
                  <a:srgbClr val="002060"/>
                </a:solidFill>
              </a:rPr>
              <a:t>AI </a:t>
            </a:r>
            <a:r>
              <a:rPr lang="en-US" dirty="0" err="1">
                <a:solidFill>
                  <a:srgbClr val="002060"/>
                </a:solidFill>
              </a:rPr>
              <a:t>kompaniyalarga</a:t>
            </a:r>
            <a:r>
              <a:rPr lang="en-US" dirty="0">
                <a:solidFill>
                  <a:srgbClr val="002060"/>
                </a:solidFill>
              </a:rPr>
              <a:t> </a:t>
            </a:r>
            <a:r>
              <a:rPr lang="en-US" dirty="0" err="1">
                <a:solidFill>
                  <a:srgbClr val="002060"/>
                </a:solidFill>
              </a:rPr>
              <a:t>xizmat</a:t>
            </a:r>
            <a:r>
              <a:rPr lang="en-US" dirty="0">
                <a:solidFill>
                  <a:srgbClr val="002060"/>
                </a:solidFill>
              </a:rPr>
              <a:t> </a:t>
            </a:r>
            <a:r>
              <a:rPr lang="en-US" dirty="0" err="1">
                <a:solidFill>
                  <a:srgbClr val="002060"/>
                </a:solidFill>
              </a:rPr>
              <a:t>takliflarini</a:t>
            </a:r>
            <a:r>
              <a:rPr lang="en-US" dirty="0">
                <a:solidFill>
                  <a:srgbClr val="002060"/>
                </a:solidFill>
              </a:rPr>
              <a:t> </a:t>
            </a:r>
            <a:r>
              <a:rPr lang="en-US" dirty="0" err="1">
                <a:solidFill>
                  <a:srgbClr val="002060"/>
                </a:solidFill>
              </a:rPr>
              <a:t>shaxsiylashtirish</a:t>
            </a:r>
            <a:r>
              <a:rPr lang="en-US" dirty="0">
                <a:solidFill>
                  <a:srgbClr val="002060"/>
                </a:solidFill>
              </a:rPr>
              <a:t> </a:t>
            </a:r>
            <a:r>
              <a:rPr lang="en-US" dirty="0" err="1">
                <a:solidFill>
                  <a:srgbClr val="002060"/>
                </a:solidFill>
              </a:rPr>
              <a:t>va</a:t>
            </a:r>
            <a:r>
              <a:rPr lang="en-US" dirty="0">
                <a:solidFill>
                  <a:srgbClr val="002060"/>
                </a:solidFill>
              </a:rPr>
              <a:t> real </a:t>
            </a:r>
            <a:r>
              <a:rPr lang="en-US" dirty="0" err="1">
                <a:solidFill>
                  <a:srgbClr val="002060"/>
                </a:solidFill>
              </a:rPr>
              <a:t>vaqt</a:t>
            </a:r>
            <a:r>
              <a:rPr lang="en-US" dirty="0">
                <a:solidFill>
                  <a:srgbClr val="002060"/>
                </a:solidFill>
              </a:rPr>
              <a:t> </a:t>
            </a:r>
            <a:r>
              <a:rPr lang="en-US" dirty="0" err="1">
                <a:solidFill>
                  <a:srgbClr val="002060"/>
                </a:solidFill>
              </a:rPr>
              <a:t>rejimida</a:t>
            </a:r>
            <a:r>
              <a:rPr lang="en-US" dirty="0">
                <a:solidFill>
                  <a:srgbClr val="002060"/>
                </a:solidFill>
              </a:rPr>
              <a:t> </a:t>
            </a:r>
            <a:r>
              <a:rPr lang="en-US" dirty="0" err="1">
                <a:solidFill>
                  <a:srgbClr val="002060"/>
                </a:solidFill>
              </a:rPr>
              <a:t>mijozlar</a:t>
            </a:r>
            <a:r>
              <a:rPr lang="en-US" dirty="0">
                <a:solidFill>
                  <a:srgbClr val="002060"/>
                </a:solidFill>
              </a:rPr>
              <a:t> </a:t>
            </a:r>
            <a:r>
              <a:rPr lang="en-US" dirty="0" err="1">
                <a:solidFill>
                  <a:srgbClr val="002060"/>
                </a:solidFill>
              </a:rPr>
              <a:t>bilan</a:t>
            </a:r>
            <a:r>
              <a:rPr lang="en-US" dirty="0">
                <a:solidFill>
                  <a:srgbClr val="002060"/>
                </a:solidFill>
              </a:rPr>
              <a:t> </a:t>
            </a:r>
            <a:r>
              <a:rPr lang="en-US" dirty="0" err="1">
                <a:solidFill>
                  <a:srgbClr val="002060"/>
                </a:solidFill>
              </a:rPr>
              <a:t>muloqot</a:t>
            </a:r>
            <a:r>
              <a:rPr lang="en-US" dirty="0">
                <a:solidFill>
                  <a:srgbClr val="002060"/>
                </a:solidFill>
              </a:rPr>
              <a:t> </a:t>
            </a:r>
            <a:r>
              <a:rPr lang="en-US" dirty="0" err="1">
                <a:solidFill>
                  <a:srgbClr val="002060"/>
                </a:solidFill>
              </a:rPr>
              <a:t>qilish</a:t>
            </a:r>
            <a:r>
              <a:rPr lang="en-US" dirty="0">
                <a:solidFill>
                  <a:srgbClr val="002060"/>
                </a:solidFill>
              </a:rPr>
              <a:t> </a:t>
            </a:r>
            <a:r>
              <a:rPr lang="en-US" dirty="0" err="1">
                <a:solidFill>
                  <a:srgbClr val="002060"/>
                </a:solidFill>
              </a:rPr>
              <a:t>imkonini</a:t>
            </a:r>
            <a:r>
              <a:rPr lang="en-US" dirty="0">
                <a:solidFill>
                  <a:srgbClr val="002060"/>
                </a:solidFill>
              </a:rPr>
              <a:t> </a:t>
            </a:r>
            <a:r>
              <a:rPr lang="en-US" dirty="0" err="1">
                <a:solidFill>
                  <a:srgbClr val="002060"/>
                </a:solidFill>
              </a:rPr>
              <a:t>beradi</a:t>
            </a:r>
            <a:r>
              <a:rPr lang="en-US" dirty="0">
                <a:solidFill>
                  <a:srgbClr val="002060"/>
                </a:solidFill>
              </a:rPr>
              <a:t>. </a:t>
            </a:r>
            <a:r>
              <a:rPr lang="en-US" dirty="0" err="1">
                <a:solidFill>
                  <a:srgbClr val="002060"/>
                </a:solidFill>
              </a:rPr>
              <a:t>Iste'molchilar</a:t>
            </a:r>
            <a:r>
              <a:rPr lang="en-US" dirty="0">
                <a:solidFill>
                  <a:srgbClr val="002060"/>
                </a:solidFill>
              </a:rPr>
              <a:t> </a:t>
            </a:r>
            <a:r>
              <a:rPr lang="en-US" dirty="0" err="1">
                <a:solidFill>
                  <a:srgbClr val="002060"/>
                </a:solidFill>
              </a:rPr>
              <a:t>zamonaviy</a:t>
            </a:r>
            <a:r>
              <a:rPr lang="en-US" dirty="0">
                <a:solidFill>
                  <a:srgbClr val="002060"/>
                </a:solidFill>
              </a:rPr>
              <a:t> </a:t>
            </a:r>
            <a:r>
              <a:rPr lang="en-US" dirty="0" err="1">
                <a:solidFill>
                  <a:srgbClr val="002060"/>
                </a:solidFill>
              </a:rPr>
              <a:t>savdo</a:t>
            </a:r>
            <a:r>
              <a:rPr lang="en-US" dirty="0">
                <a:solidFill>
                  <a:srgbClr val="002060"/>
                </a:solidFill>
              </a:rPr>
              <a:t> </a:t>
            </a:r>
            <a:r>
              <a:rPr lang="en-US" dirty="0" err="1">
                <a:solidFill>
                  <a:srgbClr val="002060"/>
                </a:solidFill>
              </a:rPr>
              <a:t>huni</a:t>
            </a:r>
            <a:r>
              <a:rPr lang="en-US" dirty="0">
                <a:solidFill>
                  <a:srgbClr val="002060"/>
                </a:solidFill>
              </a:rPr>
              <a:t> </a:t>
            </a:r>
            <a:r>
              <a:rPr lang="en-US" dirty="0" err="1">
                <a:solidFill>
                  <a:srgbClr val="002060"/>
                </a:solidFill>
              </a:rPr>
              <a:t>bo'ylab</a:t>
            </a:r>
            <a:r>
              <a:rPr lang="en-US" dirty="0">
                <a:solidFill>
                  <a:srgbClr val="002060"/>
                </a:solidFill>
              </a:rPr>
              <a:t> "</a:t>
            </a:r>
            <a:r>
              <a:rPr lang="en-US" dirty="0" err="1">
                <a:solidFill>
                  <a:srgbClr val="002060"/>
                </a:solidFill>
              </a:rPr>
              <a:t>etakchi</a:t>
            </a:r>
            <a:r>
              <a:rPr lang="en-US" dirty="0">
                <a:solidFill>
                  <a:srgbClr val="002060"/>
                </a:solidFill>
              </a:rPr>
              <a:t>" </a:t>
            </a:r>
            <a:r>
              <a:rPr lang="en-US" dirty="0" err="1">
                <a:solidFill>
                  <a:srgbClr val="002060"/>
                </a:solidFill>
              </a:rPr>
              <a:t>dan</a:t>
            </a:r>
            <a:r>
              <a:rPr lang="en-US" dirty="0">
                <a:solidFill>
                  <a:srgbClr val="002060"/>
                </a:solidFill>
              </a:rPr>
              <a:t> "</a:t>
            </a:r>
            <a:r>
              <a:rPr lang="en-US" dirty="0" err="1">
                <a:solidFill>
                  <a:srgbClr val="002060"/>
                </a:solidFill>
              </a:rPr>
              <a:t>konvertatsiya</a:t>
            </a:r>
            <a:r>
              <a:rPr lang="en-US" dirty="0">
                <a:solidFill>
                  <a:srgbClr val="002060"/>
                </a:solidFill>
              </a:rPr>
              <a:t>" </a:t>
            </a:r>
            <a:r>
              <a:rPr lang="en-US" dirty="0" err="1">
                <a:solidFill>
                  <a:srgbClr val="002060"/>
                </a:solidFill>
              </a:rPr>
              <a:t>ga</a:t>
            </a:r>
            <a:r>
              <a:rPr lang="en-US" dirty="0">
                <a:solidFill>
                  <a:srgbClr val="002060"/>
                </a:solidFill>
              </a:rPr>
              <a:t> </a:t>
            </a:r>
            <a:r>
              <a:rPr lang="en-US" dirty="0" err="1">
                <a:solidFill>
                  <a:srgbClr val="002060"/>
                </a:solidFill>
              </a:rPr>
              <a:t>o'tayotganda</a:t>
            </a:r>
            <a:r>
              <a:rPr lang="en-US" dirty="0">
                <a:solidFill>
                  <a:srgbClr val="002060"/>
                </a:solidFill>
              </a:rPr>
              <a:t>, </a:t>
            </a:r>
            <a:r>
              <a:rPr lang="en-US" dirty="0" err="1">
                <a:solidFill>
                  <a:srgbClr val="002060"/>
                </a:solidFill>
              </a:rPr>
              <a:t>ular</a:t>
            </a:r>
            <a:r>
              <a:rPr lang="en-US" dirty="0">
                <a:solidFill>
                  <a:srgbClr val="002060"/>
                </a:solidFill>
              </a:rPr>
              <a:t> </a:t>
            </a:r>
            <a:r>
              <a:rPr lang="en-US" dirty="0" err="1">
                <a:solidFill>
                  <a:srgbClr val="002060"/>
                </a:solidFill>
              </a:rPr>
              <a:t>murakkab</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heterojen</a:t>
            </a:r>
            <a:r>
              <a:rPr lang="en-US" dirty="0">
                <a:solidFill>
                  <a:srgbClr val="002060"/>
                </a:solidFill>
              </a:rPr>
              <a:t> </a:t>
            </a:r>
            <a:r>
              <a:rPr lang="en-US" dirty="0" err="1">
                <a:solidFill>
                  <a:srgbClr val="002060"/>
                </a:solidFill>
              </a:rPr>
              <a:t>ma'lumotlar</a:t>
            </a:r>
            <a:r>
              <a:rPr lang="en-US" dirty="0">
                <a:solidFill>
                  <a:srgbClr val="002060"/>
                </a:solidFill>
              </a:rPr>
              <a:t> </a:t>
            </a:r>
            <a:r>
              <a:rPr lang="en-US" dirty="0" err="1">
                <a:solidFill>
                  <a:srgbClr val="002060"/>
                </a:solidFill>
              </a:rPr>
              <a:t>to'plamini</a:t>
            </a:r>
            <a:r>
              <a:rPr lang="en-US" dirty="0">
                <a:solidFill>
                  <a:srgbClr val="002060"/>
                </a:solidFill>
              </a:rPr>
              <a:t> </a:t>
            </a:r>
            <a:r>
              <a:rPr lang="en-US" dirty="0" err="1">
                <a:solidFill>
                  <a:srgbClr val="002060"/>
                </a:solidFill>
              </a:rPr>
              <a:t>yaratadilar</a:t>
            </a:r>
            <a:r>
              <a:rPr lang="en-US" dirty="0">
                <a:solidFill>
                  <a:srgbClr val="002060"/>
                </a:solidFill>
              </a:rPr>
              <a:t>. AI </a:t>
            </a:r>
            <a:r>
              <a:rPr lang="en-US" dirty="0" err="1">
                <a:solidFill>
                  <a:srgbClr val="002060"/>
                </a:solidFill>
              </a:rPr>
              <a:t>biznes</a:t>
            </a:r>
            <a:r>
              <a:rPr lang="en-US" dirty="0">
                <a:solidFill>
                  <a:srgbClr val="002060"/>
                </a:solidFill>
              </a:rPr>
              <a:t> </a:t>
            </a:r>
            <a:r>
              <a:rPr lang="en-US" dirty="0" err="1">
                <a:solidFill>
                  <a:srgbClr val="002060"/>
                </a:solidFill>
              </a:rPr>
              <a:t>tizimlariga</a:t>
            </a:r>
            <a:r>
              <a:rPr lang="en-US" dirty="0">
                <a:solidFill>
                  <a:srgbClr val="002060"/>
                </a:solidFill>
              </a:rPr>
              <a:t> </a:t>
            </a:r>
            <a:r>
              <a:rPr lang="en-US" dirty="0" err="1">
                <a:solidFill>
                  <a:srgbClr val="002060"/>
                </a:solidFill>
              </a:rPr>
              <a:t>ushbu</a:t>
            </a:r>
            <a:r>
              <a:rPr lang="en-US" dirty="0">
                <a:solidFill>
                  <a:srgbClr val="002060"/>
                </a:solidFill>
              </a:rPr>
              <a:t> </a:t>
            </a:r>
            <a:r>
              <a:rPr lang="en-US" dirty="0" err="1">
                <a:solidFill>
                  <a:srgbClr val="002060"/>
                </a:solidFill>
              </a:rPr>
              <a:t>ma'lumotlardan</a:t>
            </a:r>
            <a:r>
              <a:rPr lang="en-US" dirty="0">
                <a:solidFill>
                  <a:srgbClr val="002060"/>
                </a:solidFill>
              </a:rPr>
              <a:t> </a:t>
            </a:r>
            <a:r>
              <a:rPr lang="en-US" dirty="0" err="1">
                <a:solidFill>
                  <a:srgbClr val="002060"/>
                </a:solidFill>
              </a:rPr>
              <a:t>foydalanish</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mijozlarga</a:t>
            </a:r>
            <a:r>
              <a:rPr lang="en-US" dirty="0">
                <a:solidFill>
                  <a:srgbClr val="002060"/>
                </a:solidFill>
              </a:rPr>
              <a:t> </a:t>
            </a:r>
            <a:r>
              <a:rPr lang="en-US" dirty="0" err="1">
                <a:solidFill>
                  <a:srgbClr val="002060"/>
                </a:solidFill>
              </a:rPr>
              <a:t>xizmat</a:t>
            </a:r>
            <a:r>
              <a:rPr lang="en-US" dirty="0">
                <a:solidFill>
                  <a:srgbClr val="002060"/>
                </a:solidFill>
              </a:rPr>
              <a:t> </a:t>
            </a:r>
            <a:r>
              <a:rPr lang="en-US" dirty="0" err="1">
                <a:solidFill>
                  <a:srgbClr val="002060"/>
                </a:solidFill>
              </a:rPr>
              <a:t>ko'rsatish</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o'zaro</a:t>
            </a:r>
            <a:r>
              <a:rPr lang="en-US" dirty="0">
                <a:solidFill>
                  <a:srgbClr val="002060"/>
                </a:solidFill>
              </a:rPr>
              <a:t> </a:t>
            </a:r>
            <a:r>
              <a:rPr lang="en-US" dirty="0" err="1">
                <a:solidFill>
                  <a:srgbClr val="002060"/>
                </a:solidFill>
              </a:rPr>
              <a:t>munosabatlarni</a:t>
            </a:r>
            <a:r>
              <a:rPr lang="en-US" dirty="0">
                <a:solidFill>
                  <a:srgbClr val="002060"/>
                </a:solidFill>
              </a:rPr>
              <a:t> </a:t>
            </a:r>
            <a:r>
              <a:rPr lang="en-US" dirty="0" err="1">
                <a:solidFill>
                  <a:srgbClr val="002060"/>
                </a:solidFill>
              </a:rPr>
              <a:t>yaxshilash</a:t>
            </a:r>
            <a:r>
              <a:rPr lang="en-US" dirty="0">
                <a:solidFill>
                  <a:srgbClr val="002060"/>
                </a:solidFill>
              </a:rPr>
              <a:t> </a:t>
            </a:r>
            <a:r>
              <a:rPr lang="en-US" dirty="0" err="1">
                <a:solidFill>
                  <a:srgbClr val="002060"/>
                </a:solidFill>
              </a:rPr>
              <a:t>qobiliyatini</a:t>
            </a:r>
            <a:r>
              <a:rPr lang="en-US" dirty="0">
                <a:solidFill>
                  <a:srgbClr val="002060"/>
                </a:solidFill>
              </a:rPr>
              <a:t> </a:t>
            </a:r>
            <a:r>
              <a:rPr lang="en-US" dirty="0" err="1">
                <a:solidFill>
                  <a:srgbClr val="002060"/>
                </a:solidFill>
              </a:rPr>
              <a:t>beradi</a:t>
            </a:r>
            <a:r>
              <a:rPr lang="en-US" dirty="0">
                <a:solidFill>
                  <a:srgbClr val="002060"/>
                </a:solidFill>
              </a:rPr>
              <a:t>.</a:t>
            </a:r>
            <a:endParaRPr lang="ru-RU" dirty="0"/>
          </a:p>
        </p:txBody>
      </p:sp>
    </p:spTree>
    <p:extLst>
      <p:ext uri="{BB962C8B-B14F-4D97-AF65-F5344CB8AC3E}">
        <p14:creationId xmlns:p14="http://schemas.microsoft.com/office/powerpoint/2010/main" val="1090724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3774" y="212118"/>
            <a:ext cx="10364451" cy="536028"/>
          </a:xfrm>
        </p:spPr>
        <p:txBody>
          <a:bodyPr>
            <a:normAutofit/>
          </a:bodyPr>
          <a:lstStyle/>
          <a:p>
            <a:r>
              <a:rPr lang="en-US" sz="2400" dirty="0" err="1">
                <a:solidFill>
                  <a:srgbClr val="002060"/>
                </a:solidFill>
              </a:rPr>
              <a:t>Ishonchli</a:t>
            </a:r>
            <a:r>
              <a:rPr lang="en-US" sz="2400" dirty="0">
                <a:solidFill>
                  <a:srgbClr val="002060"/>
                </a:solidFill>
              </a:rPr>
              <a:t> </a:t>
            </a:r>
            <a:r>
              <a:rPr lang="en-US" sz="2400" dirty="0" err="1">
                <a:solidFill>
                  <a:srgbClr val="002060"/>
                </a:solidFill>
              </a:rPr>
              <a:t>qaror</a:t>
            </a:r>
            <a:r>
              <a:rPr lang="en-US" sz="2400" dirty="0">
                <a:solidFill>
                  <a:srgbClr val="002060"/>
                </a:solidFill>
              </a:rPr>
              <a:t> </a:t>
            </a:r>
            <a:r>
              <a:rPr lang="en-US" sz="2400" dirty="0" err="1">
                <a:solidFill>
                  <a:srgbClr val="002060"/>
                </a:solidFill>
              </a:rPr>
              <a:t>qabul</a:t>
            </a:r>
            <a:r>
              <a:rPr lang="en-US" sz="2400" dirty="0">
                <a:solidFill>
                  <a:srgbClr val="002060"/>
                </a:solidFill>
              </a:rPr>
              <a:t> </a:t>
            </a:r>
            <a:r>
              <a:rPr lang="en-US" sz="2400" dirty="0" err="1">
                <a:solidFill>
                  <a:srgbClr val="002060"/>
                </a:solidFill>
              </a:rPr>
              <a:t>qilish</a:t>
            </a:r>
            <a:endParaRPr lang="ru-RU" sz="2400" dirty="0">
              <a:solidFill>
                <a:srgbClr val="002060"/>
              </a:solidFill>
            </a:endParaRPr>
          </a:p>
        </p:txBody>
      </p:sp>
      <p:sp>
        <p:nvSpPr>
          <p:cNvPr id="3" name="Объект 2"/>
          <p:cNvSpPr>
            <a:spLocks noGrp="1"/>
          </p:cNvSpPr>
          <p:nvPr>
            <p:ph idx="1"/>
          </p:nvPr>
        </p:nvSpPr>
        <p:spPr>
          <a:xfrm>
            <a:off x="913773" y="963167"/>
            <a:ext cx="10751753" cy="2465834"/>
          </a:xfrm>
        </p:spPr>
        <p:txBody>
          <a:bodyPr/>
          <a:lstStyle/>
          <a:p>
            <a:pPr marL="0" indent="0" algn="just">
              <a:buNone/>
            </a:pPr>
            <a:r>
              <a:rPr lang="en-US" dirty="0" err="1">
                <a:solidFill>
                  <a:srgbClr val="002060"/>
                </a:solidFill>
              </a:rPr>
              <a:t>Samarali</a:t>
            </a:r>
            <a:r>
              <a:rPr lang="en-US" dirty="0">
                <a:solidFill>
                  <a:srgbClr val="002060"/>
                </a:solidFill>
              </a:rPr>
              <a:t> </a:t>
            </a:r>
            <a:r>
              <a:rPr lang="en-US" dirty="0" err="1">
                <a:solidFill>
                  <a:srgbClr val="002060"/>
                </a:solidFill>
              </a:rPr>
              <a:t>biznes</a:t>
            </a:r>
            <a:r>
              <a:rPr lang="en-US" dirty="0">
                <a:solidFill>
                  <a:srgbClr val="002060"/>
                </a:solidFill>
              </a:rPr>
              <a:t> </a:t>
            </a:r>
            <a:r>
              <a:rPr lang="en-US" dirty="0" err="1">
                <a:solidFill>
                  <a:srgbClr val="002060"/>
                </a:solidFill>
              </a:rPr>
              <a:t>rahbarlari</a:t>
            </a:r>
            <a:r>
              <a:rPr lang="en-US" dirty="0">
                <a:solidFill>
                  <a:srgbClr val="002060"/>
                </a:solidFill>
              </a:rPr>
              <a:t> har </a:t>
            </a:r>
            <a:r>
              <a:rPr lang="en-US" dirty="0" err="1">
                <a:solidFill>
                  <a:srgbClr val="002060"/>
                </a:solidFill>
              </a:rPr>
              <a:t>doim</a:t>
            </a:r>
            <a:r>
              <a:rPr lang="en-US" dirty="0">
                <a:solidFill>
                  <a:srgbClr val="002060"/>
                </a:solidFill>
              </a:rPr>
              <a:t> </a:t>
            </a:r>
            <a:r>
              <a:rPr lang="en-US" dirty="0" err="1">
                <a:solidFill>
                  <a:srgbClr val="002060"/>
                </a:solidFill>
              </a:rPr>
              <a:t>tezkor</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oqilona</a:t>
            </a:r>
            <a:r>
              <a:rPr lang="en-US" dirty="0">
                <a:solidFill>
                  <a:srgbClr val="002060"/>
                </a:solidFill>
              </a:rPr>
              <a:t> </a:t>
            </a:r>
            <a:r>
              <a:rPr lang="en-US" dirty="0" err="1">
                <a:solidFill>
                  <a:srgbClr val="002060"/>
                </a:solidFill>
              </a:rPr>
              <a:t>qarorlar</a:t>
            </a:r>
            <a:r>
              <a:rPr lang="en-US" dirty="0">
                <a:solidFill>
                  <a:srgbClr val="002060"/>
                </a:solidFill>
              </a:rPr>
              <a:t> </a:t>
            </a:r>
            <a:r>
              <a:rPr lang="en-US" dirty="0" err="1">
                <a:solidFill>
                  <a:srgbClr val="002060"/>
                </a:solidFill>
              </a:rPr>
              <a:t>qabul</a:t>
            </a:r>
            <a:r>
              <a:rPr lang="en-US" dirty="0">
                <a:solidFill>
                  <a:srgbClr val="002060"/>
                </a:solidFill>
              </a:rPr>
              <a:t> </a:t>
            </a:r>
            <a:r>
              <a:rPr lang="en-US" dirty="0" err="1">
                <a:solidFill>
                  <a:srgbClr val="002060"/>
                </a:solidFill>
              </a:rPr>
              <a:t>qilishga</a:t>
            </a:r>
            <a:r>
              <a:rPr lang="en-US" dirty="0">
                <a:solidFill>
                  <a:srgbClr val="002060"/>
                </a:solidFill>
              </a:rPr>
              <a:t> </a:t>
            </a:r>
            <a:r>
              <a:rPr lang="en-US" dirty="0" err="1">
                <a:solidFill>
                  <a:srgbClr val="002060"/>
                </a:solidFill>
              </a:rPr>
              <a:t>intiladi</a:t>
            </a:r>
            <a:r>
              <a:rPr lang="en-US" dirty="0">
                <a:solidFill>
                  <a:srgbClr val="002060"/>
                </a:solidFill>
              </a:rPr>
              <a:t>. </a:t>
            </a:r>
            <a:r>
              <a:rPr lang="en-US" dirty="0" err="1">
                <a:solidFill>
                  <a:srgbClr val="002060"/>
                </a:solidFill>
              </a:rPr>
              <a:t>Qaror</a:t>
            </a:r>
            <a:r>
              <a:rPr lang="en-US" dirty="0">
                <a:solidFill>
                  <a:srgbClr val="002060"/>
                </a:solidFill>
              </a:rPr>
              <a:t> </a:t>
            </a:r>
            <a:r>
              <a:rPr lang="en-US" dirty="0" err="1">
                <a:solidFill>
                  <a:srgbClr val="002060"/>
                </a:solidFill>
              </a:rPr>
              <a:t>qanchalik</a:t>
            </a:r>
            <a:r>
              <a:rPr lang="en-US" dirty="0">
                <a:solidFill>
                  <a:srgbClr val="002060"/>
                </a:solidFill>
              </a:rPr>
              <a:t> </a:t>
            </a:r>
            <a:r>
              <a:rPr lang="en-US" dirty="0" err="1">
                <a:solidFill>
                  <a:srgbClr val="002060"/>
                </a:solidFill>
              </a:rPr>
              <a:t>muhim</a:t>
            </a:r>
            <a:r>
              <a:rPr lang="en-US" dirty="0">
                <a:solidFill>
                  <a:srgbClr val="002060"/>
                </a:solidFill>
              </a:rPr>
              <a:t> </a:t>
            </a:r>
            <a:r>
              <a:rPr lang="en-US" dirty="0" err="1">
                <a:solidFill>
                  <a:srgbClr val="002060"/>
                </a:solidFill>
              </a:rPr>
              <a:t>bo'lsa</a:t>
            </a:r>
            <a:r>
              <a:rPr lang="en-US" dirty="0">
                <a:solidFill>
                  <a:srgbClr val="002060"/>
                </a:solidFill>
              </a:rPr>
              <a:t>, </a:t>
            </a:r>
            <a:r>
              <a:rPr lang="en-US" dirty="0" err="1">
                <a:solidFill>
                  <a:srgbClr val="002060"/>
                </a:solidFill>
              </a:rPr>
              <a:t>unda</a:t>
            </a:r>
            <a:r>
              <a:rPr lang="en-US" dirty="0">
                <a:solidFill>
                  <a:srgbClr val="002060"/>
                </a:solidFill>
              </a:rPr>
              <a:t> </a:t>
            </a:r>
            <a:r>
              <a:rPr lang="en-US" dirty="0" err="1">
                <a:solidFill>
                  <a:srgbClr val="002060"/>
                </a:solidFill>
              </a:rPr>
              <a:t>juda</a:t>
            </a:r>
            <a:r>
              <a:rPr lang="en-US" dirty="0">
                <a:solidFill>
                  <a:srgbClr val="002060"/>
                </a:solidFill>
              </a:rPr>
              <a:t> </a:t>
            </a:r>
            <a:r>
              <a:rPr lang="en-US" dirty="0" err="1">
                <a:solidFill>
                  <a:srgbClr val="002060"/>
                </a:solidFill>
              </a:rPr>
              <a:t>ko'p</a:t>
            </a:r>
            <a:r>
              <a:rPr lang="en-US" dirty="0">
                <a:solidFill>
                  <a:srgbClr val="002060"/>
                </a:solidFill>
              </a:rPr>
              <a:t> </a:t>
            </a:r>
            <a:r>
              <a:rPr lang="en-US" dirty="0" err="1">
                <a:solidFill>
                  <a:srgbClr val="002060"/>
                </a:solidFill>
              </a:rPr>
              <a:t>murakkab</a:t>
            </a:r>
            <a:r>
              <a:rPr lang="en-US" dirty="0">
                <a:solidFill>
                  <a:srgbClr val="002060"/>
                </a:solidFill>
              </a:rPr>
              <a:t> </a:t>
            </a:r>
            <a:r>
              <a:rPr lang="en-US" dirty="0" err="1">
                <a:solidFill>
                  <a:srgbClr val="002060"/>
                </a:solidFill>
              </a:rPr>
              <a:t>komponentlar</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o'zaro</a:t>
            </a:r>
            <a:r>
              <a:rPr lang="en-US" dirty="0">
                <a:solidFill>
                  <a:srgbClr val="002060"/>
                </a:solidFill>
              </a:rPr>
              <a:t> </a:t>
            </a:r>
            <a:r>
              <a:rPr lang="en-US" dirty="0" err="1">
                <a:solidFill>
                  <a:srgbClr val="002060"/>
                </a:solidFill>
              </a:rPr>
              <a:t>bog'liqliklar</a:t>
            </a:r>
            <a:r>
              <a:rPr lang="en-US" dirty="0">
                <a:solidFill>
                  <a:srgbClr val="002060"/>
                </a:solidFill>
              </a:rPr>
              <a:t> </a:t>
            </a:r>
            <a:r>
              <a:rPr lang="en-US" dirty="0" err="1">
                <a:solidFill>
                  <a:srgbClr val="002060"/>
                </a:solidFill>
              </a:rPr>
              <a:t>mavjud</a:t>
            </a:r>
            <a:r>
              <a:rPr lang="en-US" dirty="0">
                <a:solidFill>
                  <a:srgbClr val="002060"/>
                </a:solidFill>
              </a:rPr>
              <a:t>. AI real </a:t>
            </a:r>
            <a:r>
              <a:rPr lang="en-US" dirty="0" err="1">
                <a:solidFill>
                  <a:srgbClr val="002060"/>
                </a:solidFill>
              </a:rPr>
              <a:t>vaqtda</a:t>
            </a:r>
            <a:r>
              <a:rPr lang="en-US" dirty="0">
                <a:solidFill>
                  <a:srgbClr val="002060"/>
                </a:solidFill>
              </a:rPr>
              <a:t> </a:t>
            </a:r>
            <a:r>
              <a:rPr lang="en-US" dirty="0" err="1">
                <a:solidFill>
                  <a:srgbClr val="002060"/>
                </a:solidFill>
              </a:rPr>
              <a:t>ishonchli</a:t>
            </a:r>
            <a:r>
              <a:rPr lang="en-US" dirty="0">
                <a:solidFill>
                  <a:srgbClr val="002060"/>
                </a:solidFill>
              </a:rPr>
              <a:t> </a:t>
            </a:r>
            <a:r>
              <a:rPr lang="en-US" dirty="0" err="1">
                <a:solidFill>
                  <a:srgbClr val="002060"/>
                </a:solidFill>
              </a:rPr>
              <a:t>qaror</a:t>
            </a:r>
            <a:r>
              <a:rPr lang="en-US" dirty="0">
                <a:solidFill>
                  <a:srgbClr val="002060"/>
                </a:solidFill>
              </a:rPr>
              <a:t> </a:t>
            </a:r>
            <a:r>
              <a:rPr lang="en-US" dirty="0" err="1">
                <a:solidFill>
                  <a:srgbClr val="002060"/>
                </a:solidFill>
              </a:rPr>
              <a:t>qabul</a:t>
            </a:r>
            <a:r>
              <a:rPr lang="en-US" dirty="0">
                <a:solidFill>
                  <a:srgbClr val="002060"/>
                </a:solidFill>
              </a:rPr>
              <a:t> </a:t>
            </a:r>
            <a:r>
              <a:rPr lang="en-US" dirty="0" err="1">
                <a:solidFill>
                  <a:srgbClr val="002060"/>
                </a:solidFill>
              </a:rPr>
              <a:t>qilishni</a:t>
            </a:r>
            <a:r>
              <a:rPr lang="en-US" dirty="0">
                <a:solidFill>
                  <a:srgbClr val="002060"/>
                </a:solidFill>
              </a:rPr>
              <a:t> </a:t>
            </a:r>
            <a:r>
              <a:rPr lang="en-US" dirty="0" err="1">
                <a:solidFill>
                  <a:srgbClr val="002060"/>
                </a:solidFill>
              </a:rPr>
              <a:t>qo'llab-quvvatlaydigan</a:t>
            </a:r>
            <a:r>
              <a:rPr lang="en-US" dirty="0">
                <a:solidFill>
                  <a:srgbClr val="002060"/>
                </a:solidFill>
              </a:rPr>
              <a:t> </a:t>
            </a:r>
            <a:r>
              <a:rPr lang="en-US" dirty="0" err="1">
                <a:solidFill>
                  <a:srgbClr val="002060"/>
                </a:solidFill>
              </a:rPr>
              <a:t>ilg'or</a:t>
            </a:r>
            <a:r>
              <a:rPr lang="en-US" dirty="0">
                <a:solidFill>
                  <a:srgbClr val="002060"/>
                </a:solidFill>
              </a:rPr>
              <a:t> </a:t>
            </a:r>
            <a:r>
              <a:rPr lang="en-US" dirty="0" err="1">
                <a:solidFill>
                  <a:srgbClr val="002060"/>
                </a:solidFill>
              </a:rPr>
              <a:t>ma'lumotlar</a:t>
            </a:r>
            <a:r>
              <a:rPr lang="en-US" dirty="0">
                <a:solidFill>
                  <a:srgbClr val="002060"/>
                </a:solidFill>
              </a:rPr>
              <a:t> </a:t>
            </a:r>
            <a:r>
              <a:rPr lang="en-US" dirty="0" err="1">
                <a:solidFill>
                  <a:srgbClr val="002060"/>
                </a:solidFill>
              </a:rPr>
              <a:t>tahlili</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amaliy</a:t>
            </a:r>
            <a:r>
              <a:rPr lang="en-US" dirty="0">
                <a:solidFill>
                  <a:srgbClr val="002060"/>
                </a:solidFill>
              </a:rPr>
              <a:t> </a:t>
            </a:r>
            <a:r>
              <a:rPr lang="en-US" dirty="0" err="1">
                <a:solidFill>
                  <a:srgbClr val="002060"/>
                </a:solidFill>
              </a:rPr>
              <a:t>tushunchalardan</a:t>
            </a:r>
            <a:r>
              <a:rPr lang="en-US" dirty="0">
                <a:solidFill>
                  <a:srgbClr val="002060"/>
                </a:solidFill>
              </a:rPr>
              <a:t> </a:t>
            </a:r>
            <a:r>
              <a:rPr lang="en-US" dirty="0" err="1">
                <a:solidFill>
                  <a:srgbClr val="002060"/>
                </a:solidFill>
              </a:rPr>
              <a:t>foydalangan</a:t>
            </a:r>
            <a:r>
              <a:rPr lang="en-US" dirty="0">
                <a:solidFill>
                  <a:srgbClr val="002060"/>
                </a:solidFill>
              </a:rPr>
              <a:t> </a:t>
            </a:r>
            <a:r>
              <a:rPr lang="en-US" dirty="0" err="1">
                <a:solidFill>
                  <a:srgbClr val="002060"/>
                </a:solidFill>
              </a:rPr>
              <a:t>holda</a:t>
            </a:r>
            <a:r>
              <a:rPr lang="en-US" dirty="0">
                <a:solidFill>
                  <a:srgbClr val="002060"/>
                </a:solidFill>
              </a:rPr>
              <a:t> </a:t>
            </a:r>
            <a:r>
              <a:rPr lang="en-US" dirty="0" err="1">
                <a:solidFill>
                  <a:srgbClr val="002060"/>
                </a:solidFill>
              </a:rPr>
              <a:t>odamlarning</a:t>
            </a:r>
            <a:r>
              <a:rPr lang="en-US" dirty="0">
                <a:solidFill>
                  <a:srgbClr val="002060"/>
                </a:solidFill>
              </a:rPr>
              <a:t> </a:t>
            </a:r>
            <a:r>
              <a:rPr lang="en-US" dirty="0" err="1">
                <a:solidFill>
                  <a:srgbClr val="002060"/>
                </a:solidFill>
              </a:rPr>
              <a:t>donoligi</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tajribasini</a:t>
            </a:r>
            <a:r>
              <a:rPr lang="en-US" dirty="0">
                <a:solidFill>
                  <a:srgbClr val="002060"/>
                </a:solidFill>
              </a:rPr>
              <a:t> </a:t>
            </a:r>
            <a:r>
              <a:rPr lang="en-US" dirty="0" err="1">
                <a:solidFill>
                  <a:srgbClr val="002060"/>
                </a:solidFill>
              </a:rPr>
              <a:t>to'ldirishga</a:t>
            </a:r>
            <a:r>
              <a:rPr lang="en-US" dirty="0">
                <a:solidFill>
                  <a:srgbClr val="002060"/>
                </a:solidFill>
              </a:rPr>
              <a:t> </a:t>
            </a:r>
            <a:r>
              <a:rPr lang="en-US" dirty="0" err="1">
                <a:solidFill>
                  <a:srgbClr val="002060"/>
                </a:solidFill>
              </a:rPr>
              <a:t>yordam</a:t>
            </a:r>
            <a:r>
              <a:rPr lang="en-US" dirty="0">
                <a:solidFill>
                  <a:srgbClr val="002060"/>
                </a:solidFill>
              </a:rPr>
              <a:t> </a:t>
            </a:r>
            <a:r>
              <a:rPr lang="en-US" dirty="0" err="1">
                <a:solidFill>
                  <a:srgbClr val="002060"/>
                </a:solidFill>
              </a:rPr>
              <a:t>beradi</a:t>
            </a:r>
            <a:r>
              <a:rPr lang="en-US" dirty="0">
                <a:solidFill>
                  <a:srgbClr val="002060"/>
                </a:solidFill>
              </a:rPr>
              <a:t>.</a:t>
            </a:r>
            <a:endParaRPr lang="ru-RU" dirty="0">
              <a:solidFill>
                <a:srgbClr val="002060"/>
              </a:solidFill>
            </a:endParaRPr>
          </a:p>
        </p:txBody>
      </p:sp>
    </p:spTree>
    <p:extLst>
      <p:ext uri="{BB962C8B-B14F-4D97-AF65-F5344CB8AC3E}">
        <p14:creationId xmlns:p14="http://schemas.microsoft.com/office/powerpoint/2010/main" val="3373356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3775" y="117488"/>
            <a:ext cx="10364451" cy="949312"/>
          </a:xfrm>
        </p:spPr>
        <p:txBody>
          <a:bodyPr>
            <a:normAutofit/>
          </a:bodyPr>
          <a:lstStyle/>
          <a:p>
            <a:r>
              <a:rPr lang="en-US" sz="2400" dirty="0" err="1">
                <a:solidFill>
                  <a:srgbClr val="002060"/>
                </a:solidFill>
                <a:latin typeface="Arial" panose="020B0604020202020204" pitchFamily="34" charset="0"/>
                <a:cs typeface="Arial" panose="020B0604020202020204" pitchFamily="34" charset="0"/>
              </a:rPr>
              <a:t>Tegishli</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mahsulotlar</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va</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xizmatlar</a:t>
            </a:r>
            <a:endParaRPr lang="ru-RU" sz="2400" dirty="0">
              <a:solidFill>
                <a:srgbClr val="002060"/>
              </a:solidFill>
              <a:latin typeface="Arial" panose="020B0604020202020204" pitchFamily="34" charset="0"/>
              <a:cs typeface="Arial" panose="020B0604020202020204" pitchFamily="34" charset="0"/>
            </a:endParaRPr>
          </a:p>
        </p:txBody>
      </p:sp>
      <p:sp>
        <p:nvSpPr>
          <p:cNvPr id="3" name="Объект 2"/>
          <p:cNvSpPr>
            <a:spLocks noGrp="1"/>
          </p:cNvSpPr>
          <p:nvPr>
            <p:ph idx="1"/>
          </p:nvPr>
        </p:nvSpPr>
        <p:spPr>
          <a:xfrm>
            <a:off x="812175" y="990875"/>
            <a:ext cx="10899534" cy="3701198"/>
          </a:xfrm>
        </p:spPr>
        <p:txBody>
          <a:bodyPr/>
          <a:lstStyle/>
          <a:p>
            <a:pPr marL="0" indent="0" algn="just">
              <a:buNone/>
            </a:pPr>
            <a:r>
              <a:rPr lang="en-US" dirty="0" err="1">
                <a:solidFill>
                  <a:srgbClr val="002060"/>
                </a:solidFill>
              </a:rPr>
              <a:t>Ko'pgina</a:t>
            </a:r>
            <a:r>
              <a:rPr lang="en-US" dirty="0">
                <a:solidFill>
                  <a:srgbClr val="002060"/>
                </a:solidFill>
              </a:rPr>
              <a:t> </a:t>
            </a:r>
            <a:r>
              <a:rPr lang="en-US" dirty="0" err="1">
                <a:solidFill>
                  <a:srgbClr val="002060"/>
                </a:solidFill>
              </a:rPr>
              <a:t>an'anaviy</a:t>
            </a:r>
            <a:r>
              <a:rPr lang="en-US" dirty="0">
                <a:solidFill>
                  <a:srgbClr val="002060"/>
                </a:solidFill>
              </a:rPr>
              <a:t> R&amp;D </a:t>
            </a:r>
            <a:r>
              <a:rPr lang="en-US" dirty="0" err="1">
                <a:solidFill>
                  <a:srgbClr val="002060"/>
                </a:solidFill>
              </a:rPr>
              <a:t>modellari</a:t>
            </a:r>
            <a:r>
              <a:rPr lang="en-US" dirty="0">
                <a:solidFill>
                  <a:srgbClr val="002060"/>
                </a:solidFill>
              </a:rPr>
              <a:t> </a:t>
            </a:r>
            <a:r>
              <a:rPr lang="en-US" dirty="0" err="1">
                <a:solidFill>
                  <a:srgbClr val="002060"/>
                </a:solidFill>
              </a:rPr>
              <a:t>eskirgan</a:t>
            </a:r>
            <a:r>
              <a:rPr lang="en-US" dirty="0">
                <a:solidFill>
                  <a:srgbClr val="002060"/>
                </a:solidFill>
              </a:rPr>
              <a:t> </a:t>
            </a:r>
            <a:r>
              <a:rPr lang="en-US" dirty="0" err="1">
                <a:solidFill>
                  <a:srgbClr val="002060"/>
                </a:solidFill>
              </a:rPr>
              <a:t>ma'lumotlarga</a:t>
            </a:r>
            <a:r>
              <a:rPr lang="en-US" dirty="0">
                <a:solidFill>
                  <a:srgbClr val="002060"/>
                </a:solidFill>
              </a:rPr>
              <a:t> </a:t>
            </a:r>
            <a:r>
              <a:rPr lang="en-US" dirty="0" err="1">
                <a:solidFill>
                  <a:srgbClr val="002060"/>
                </a:solidFill>
              </a:rPr>
              <a:t>tayangan</a:t>
            </a:r>
            <a:r>
              <a:rPr lang="en-US" dirty="0">
                <a:solidFill>
                  <a:srgbClr val="002060"/>
                </a:solidFill>
              </a:rPr>
              <a:t>. </a:t>
            </a:r>
            <a:r>
              <a:rPr lang="en-US" dirty="0" err="1">
                <a:solidFill>
                  <a:srgbClr val="002060"/>
                </a:solidFill>
              </a:rPr>
              <a:t>Ishlash</a:t>
            </a:r>
            <a:r>
              <a:rPr lang="en-US" dirty="0">
                <a:solidFill>
                  <a:srgbClr val="002060"/>
                </a:solidFill>
              </a:rPr>
              <a:t> </a:t>
            </a:r>
            <a:r>
              <a:rPr lang="en-US" dirty="0" err="1">
                <a:solidFill>
                  <a:srgbClr val="002060"/>
                </a:solidFill>
              </a:rPr>
              <a:t>ma'lumotlari</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mijozlarning</a:t>
            </a:r>
            <a:r>
              <a:rPr lang="en-US" dirty="0">
                <a:solidFill>
                  <a:srgbClr val="002060"/>
                </a:solidFill>
              </a:rPr>
              <a:t> </a:t>
            </a:r>
            <a:r>
              <a:rPr lang="en-US" dirty="0" err="1">
                <a:solidFill>
                  <a:srgbClr val="002060"/>
                </a:solidFill>
              </a:rPr>
              <a:t>fikr-mulohazalarini</a:t>
            </a:r>
            <a:r>
              <a:rPr lang="en-US" dirty="0">
                <a:solidFill>
                  <a:srgbClr val="002060"/>
                </a:solidFill>
              </a:rPr>
              <a:t> </a:t>
            </a:r>
            <a:r>
              <a:rPr lang="en-US" dirty="0" err="1">
                <a:solidFill>
                  <a:srgbClr val="002060"/>
                </a:solidFill>
              </a:rPr>
              <a:t>tahlil</a:t>
            </a:r>
            <a:r>
              <a:rPr lang="en-US" dirty="0">
                <a:solidFill>
                  <a:srgbClr val="002060"/>
                </a:solidFill>
              </a:rPr>
              <a:t> </a:t>
            </a:r>
            <a:r>
              <a:rPr lang="en-US" dirty="0" err="1">
                <a:solidFill>
                  <a:srgbClr val="002060"/>
                </a:solidFill>
              </a:rPr>
              <a:t>qilish</a:t>
            </a:r>
            <a:r>
              <a:rPr lang="en-US" dirty="0">
                <a:solidFill>
                  <a:srgbClr val="002060"/>
                </a:solidFill>
              </a:rPr>
              <a:t> </a:t>
            </a:r>
            <a:r>
              <a:rPr lang="en-US" dirty="0" err="1">
                <a:solidFill>
                  <a:srgbClr val="002060"/>
                </a:solidFill>
              </a:rPr>
              <a:t>ko'pincha</a:t>
            </a:r>
            <a:r>
              <a:rPr lang="en-US" dirty="0">
                <a:solidFill>
                  <a:srgbClr val="002060"/>
                </a:solidFill>
              </a:rPr>
              <a:t> </a:t>
            </a:r>
            <a:r>
              <a:rPr lang="en-US" dirty="0" err="1">
                <a:solidFill>
                  <a:srgbClr val="002060"/>
                </a:solidFill>
              </a:rPr>
              <a:t>mahsulot</a:t>
            </a:r>
            <a:r>
              <a:rPr lang="en-US" dirty="0">
                <a:solidFill>
                  <a:srgbClr val="002060"/>
                </a:solidFill>
              </a:rPr>
              <a:t> </a:t>
            </a:r>
            <a:r>
              <a:rPr lang="en-US" dirty="0" err="1">
                <a:solidFill>
                  <a:srgbClr val="002060"/>
                </a:solidFill>
              </a:rPr>
              <a:t>yoki</a:t>
            </a:r>
            <a:r>
              <a:rPr lang="en-US" dirty="0">
                <a:solidFill>
                  <a:srgbClr val="002060"/>
                </a:solidFill>
              </a:rPr>
              <a:t> </a:t>
            </a:r>
            <a:r>
              <a:rPr lang="en-US" dirty="0" err="1">
                <a:solidFill>
                  <a:srgbClr val="002060"/>
                </a:solidFill>
              </a:rPr>
              <a:t>xizmat</a:t>
            </a:r>
            <a:r>
              <a:rPr lang="en-US" dirty="0">
                <a:solidFill>
                  <a:srgbClr val="002060"/>
                </a:solidFill>
              </a:rPr>
              <a:t> </a:t>
            </a:r>
            <a:r>
              <a:rPr lang="en-US" dirty="0" err="1">
                <a:solidFill>
                  <a:srgbClr val="002060"/>
                </a:solidFill>
              </a:rPr>
              <a:t>bozorga</a:t>
            </a:r>
            <a:r>
              <a:rPr lang="en-US" dirty="0">
                <a:solidFill>
                  <a:srgbClr val="002060"/>
                </a:solidFill>
              </a:rPr>
              <a:t> </a:t>
            </a:r>
            <a:r>
              <a:rPr lang="en-US" dirty="0" err="1">
                <a:solidFill>
                  <a:srgbClr val="002060"/>
                </a:solidFill>
              </a:rPr>
              <a:t>kirgandan</a:t>
            </a:r>
            <a:r>
              <a:rPr lang="en-US" dirty="0">
                <a:solidFill>
                  <a:srgbClr val="002060"/>
                </a:solidFill>
              </a:rPr>
              <a:t> </a:t>
            </a:r>
            <a:r>
              <a:rPr lang="en-US" dirty="0" err="1">
                <a:solidFill>
                  <a:srgbClr val="002060"/>
                </a:solidFill>
              </a:rPr>
              <a:t>keyingina</a:t>
            </a:r>
            <a:r>
              <a:rPr lang="en-US" dirty="0">
                <a:solidFill>
                  <a:srgbClr val="002060"/>
                </a:solidFill>
              </a:rPr>
              <a:t> </a:t>
            </a:r>
            <a:r>
              <a:rPr lang="en-US" dirty="0" err="1">
                <a:solidFill>
                  <a:srgbClr val="002060"/>
                </a:solidFill>
              </a:rPr>
              <a:t>amalga</a:t>
            </a:r>
            <a:r>
              <a:rPr lang="en-US" dirty="0">
                <a:solidFill>
                  <a:srgbClr val="002060"/>
                </a:solidFill>
              </a:rPr>
              <a:t> </a:t>
            </a:r>
            <a:r>
              <a:rPr lang="en-US" dirty="0" err="1">
                <a:solidFill>
                  <a:srgbClr val="002060"/>
                </a:solidFill>
              </a:rPr>
              <a:t>oshirildi</a:t>
            </a:r>
            <a:r>
              <a:rPr lang="en-US" dirty="0">
                <a:solidFill>
                  <a:srgbClr val="002060"/>
                </a:solidFill>
              </a:rPr>
              <a:t>. </a:t>
            </a:r>
            <a:r>
              <a:rPr lang="en-US" dirty="0" err="1">
                <a:solidFill>
                  <a:srgbClr val="002060"/>
                </a:solidFill>
              </a:rPr>
              <a:t>Bozordagi</a:t>
            </a:r>
            <a:r>
              <a:rPr lang="en-US" dirty="0">
                <a:solidFill>
                  <a:srgbClr val="002060"/>
                </a:solidFill>
              </a:rPr>
              <a:t> </a:t>
            </a:r>
            <a:r>
              <a:rPr lang="en-US" dirty="0" err="1">
                <a:solidFill>
                  <a:srgbClr val="002060"/>
                </a:solidFill>
              </a:rPr>
              <a:t>potentsial</a:t>
            </a:r>
            <a:r>
              <a:rPr lang="en-US" dirty="0">
                <a:solidFill>
                  <a:srgbClr val="002060"/>
                </a:solidFill>
              </a:rPr>
              <a:t> </a:t>
            </a:r>
            <a:r>
              <a:rPr lang="en-US" dirty="0" err="1">
                <a:solidFill>
                  <a:srgbClr val="002060"/>
                </a:solidFill>
              </a:rPr>
              <a:t>bo'shliqlar</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imkoniyatlarni</a:t>
            </a:r>
            <a:r>
              <a:rPr lang="en-US" dirty="0">
                <a:solidFill>
                  <a:srgbClr val="002060"/>
                </a:solidFill>
              </a:rPr>
              <a:t> </a:t>
            </a:r>
            <a:r>
              <a:rPr lang="en-US" dirty="0" err="1">
                <a:solidFill>
                  <a:srgbClr val="002060"/>
                </a:solidFill>
              </a:rPr>
              <a:t>tezda</a:t>
            </a:r>
            <a:r>
              <a:rPr lang="en-US" dirty="0">
                <a:solidFill>
                  <a:srgbClr val="002060"/>
                </a:solidFill>
              </a:rPr>
              <a:t> </a:t>
            </a:r>
            <a:r>
              <a:rPr lang="en-US" dirty="0" err="1">
                <a:solidFill>
                  <a:srgbClr val="002060"/>
                </a:solidFill>
              </a:rPr>
              <a:t>aniqlay</a:t>
            </a:r>
            <a:r>
              <a:rPr lang="en-US" dirty="0">
                <a:solidFill>
                  <a:srgbClr val="002060"/>
                </a:solidFill>
              </a:rPr>
              <a:t> </a:t>
            </a:r>
            <a:r>
              <a:rPr lang="en-US" dirty="0" err="1">
                <a:solidFill>
                  <a:srgbClr val="002060"/>
                </a:solidFill>
              </a:rPr>
              <a:t>oladigan</a:t>
            </a:r>
            <a:r>
              <a:rPr lang="en-US" dirty="0">
                <a:solidFill>
                  <a:srgbClr val="002060"/>
                </a:solidFill>
              </a:rPr>
              <a:t> </a:t>
            </a:r>
            <a:r>
              <a:rPr lang="en-US" dirty="0" err="1">
                <a:solidFill>
                  <a:srgbClr val="002060"/>
                </a:solidFill>
              </a:rPr>
              <a:t>tizimlar</a:t>
            </a:r>
            <a:r>
              <a:rPr lang="en-US" dirty="0">
                <a:solidFill>
                  <a:srgbClr val="002060"/>
                </a:solidFill>
              </a:rPr>
              <a:t> ham </a:t>
            </a:r>
            <a:r>
              <a:rPr lang="en-US" dirty="0" err="1">
                <a:solidFill>
                  <a:srgbClr val="002060"/>
                </a:solidFill>
              </a:rPr>
              <a:t>mavjud</a:t>
            </a:r>
            <a:r>
              <a:rPr lang="en-US" dirty="0">
                <a:solidFill>
                  <a:srgbClr val="002060"/>
                </a:solidFill>
              </a:rPr>
              <a:t> </a:t>
            </a:r>
            <a:r>
              <a:rPr lang="en-US" dirty="0" err="1">
                <a:solidFill>
                  <a:srgbClr val="002060"/>
                </a:solidFill>
              </a:rPr>
              <a:t>emas</a:t>
            </a:r>
            <a:r>
              <a:rPr lang="en-US" dirty="0">
                <a:solidFill>
                  <a:srgbClr val="002060"/>
                </a:solidFill>
              </a:rPr>
              <a:t> </a:t>
            </a:r>
            <a:r>
              <a:rPr lang="en-US" dirty="0" err="1">
                <a:solidFill>
                  <a:srgbClr val="002060"/>
                </a:solidFill>
              </a:rPr>
              <a:t>edi</a:t>
            </a:r>
            <a:r>
              <a:rPr lang="en-US" dirty="0">
                <a:solidFill>
                  <a:srgbClr val="002060"/>
                </a:solidFill>
              </a:rPr>
              <a:t>. </a:t>
            </a:r>
            <a:r>
              <a:rPr lang="en-US" dirty="0" err="1">
                <a:solidFill>
                  <a:srgbClr val="002060"/>
                </a:solidFill>
              </a:rPr>
              <a:t>Sun'iy</a:t>
            </a:r>
            <a:r>
              <a:rPr lang="en-US" dirty="0">
                <a:solidFill>
                  <a:srgbClr val="002060"/>
                </a:solidFill>
              </a:rPr>
              <a:t> </a:t>
            </a:r>
            <a:r>
              <a:rPr lang="en-US" dirty="0" err="1">
                <a:solidFill>
                  <a:srgbClr val="002060"/>
                </a:solidFill>
              </a:rPr>
              <a:t>intellektga</a:t>
            </a:r>
            <a:r>
              <a:rPr lang="en-US" dirty="0">
                <a:solidFill>
                  <a:srgbClr val="002060"/>
                </a:solidFill>
              </a:rPr>
              <a:t> </a:t>
            </a:r>
            <a:r>
              <a:rPr lang="en-US" dirty="0" err="1">
                <a:solidFill>
                  <a:srgbClr val="002060"/>
                </a:solidFill>
              </a:rPr>
              <a:t>asoslangan</a:t>
            </a:r>
            <a:r>
              <a:rPr lang="en-US" dirty="0">
                <a:solidFill>
                  <a:srgbClr val="002060"/>
                </a:solidFill>
              </a:rPr>
              <a:t> </a:t>
            </a:r>
            <a:r>
              <a:rPr lang="en-US" dirty="0" err="1">
                <a:solidFill>
                  <a:srgbClr val="002060"/>
                </a:solidFill>
              </a:rPr>
              <a:t>tizimlar</a:t>
            </a:r>
            <a:r>
              <a:rPr lang="en-US" dirty="0">
                <a:solidFill>
                  <a:srgbClr val="002060"/>
                </a:solidFill>
              </a:rPr>
              <a:t> </a:t>
            </a:r>
            <a:r>
              <a:rPr lang="en-US" dirty="0" err="1">
                <a:solidFill>
                  <a:srgbClr val="002060"/>
                </a:solidFill>
              </a:rPr>
              <a:t>yordamida</a:t>
            </a:r>
            <a:r>
              <a:rPr lang="en-US" dirty="0">
                <a:solidFill>
                  <a:srgbClr val="002060"/>
                </a:solidFill>
              </a:rPr>
              <a:t> </a:t>
            </a:r>
            <a:r>
              <a:rPr lang="en-US" dirty="0" err="1">
                <a:solidFill>
                  <a:srgbClr val="002060"/>
                </a:solidFill>
              </a:rPr>
              <a:t>kompaniyalar</a:t>
            </a:r>
            <a:r>
              <a:rPr lang="en-US" dirty="0">
                <a:solidFill>
                  <a:srgbClr val="002060"/>
                </a:solidFill>
              </a:rPr>
              <a:t> </a:t>
            </a:r>
            <a:r>
              <a:rPr lang="en-US" dirty="0" err="1">
                <a:solidFill>
                  <a:srgbClr val="002060"/>
                </a:solidFill>
              </a:rPr>
              <a:t>bir</a:t>
            </a:r>
            <a:r>
              <a:rPr lang="en-US" dirty="0">
                <a:solidFill>
                  <a:srgbClr val="002060"/>
                </a:solidFill>
              </a:rPr>
              <a:t> </a:t>
            </a:r>
            <a:r>
              <a:rPr lang="en-US" dirty="0" err="1">
                <a:solidFill>
                  <a:srgbClr val="002060"/>
                </a:solidFill>
              </a:rPr>
              <a:t>vaqtning</a:t>
            </a:r>
            <a:r>
              <a:rPr lang="en-US" dirty="0">
                <a:solidFill>
                  <a:srgbClr val="002060"/>
                </a:solidFill>
              </a:rPr>
              <a:t> </a:t>
            </a:r>
            <a:r>
              <a:rPr lang="en-US" dirty="0" err="1">
                <a:solidFill>
                  <a:srgbClr val="002060"/>
                </a:solidFill>
              </a:rPr>
              <a:t>o'zida</a:t>
            </a:r>
            <a:r>
              <a:rPr lang="en-US" dirty="0">
                <a:solidFill>
                  <a:srgbClr val="002060"/>
                </a:solidFill>
              </a:rPr>
              <a:t> </a:t>
            </a:r>
            <a:r>
              <a:rPr lang="en-US" dirty="0" err="1">
                <a:solidFill>
                  <a:srgbClr val="002060"/>
                </a:solidFill>
              </a:rPr>
              <a:t>va</a:t>
            </a:r>
            <a:r>
              <a:rPr lang="en-US" dirty="0">
                <a:solidFill>
                  <a:srgbClr val="002060"/>
                </a:solidFill>
              </a:rPr>
              <a:t> real </a:t>
            </a:r>
            <a:r>
              <a:rPr lang="en-US" dirty="0" err="1">
                <a:solidFill>
                  <a:srgbClr val="002060"/>
                </a:solidFill>
              </a:rPr>
              <a:t>vaqt</a:t>
            </a:r>
            <a:r>
              <a:rPr lang="en-US" dirty="0">
                <a:solidFill>
                  <a:srgbClr val="002060"/>
                </a:solidFill>
              </a:rPr>
              <a:t> </a:t>
            </a:r>
            <a:r>
              <a:rPr lang="en-US" dirty="0" err="1">
                <a:solidFill>
                  <a:srgbClr val="002060"/>
                </a:solidFill>
              </a:rPr>
              <a:t>rejimida</a:t>
            </a:r>
            <a:r>
              <a:rPr lang="en-US" dirty="0">
                <a:solidFill>
                  <a:srgbClr val="002060"/>
                </a:solidFill>
              </a:rPr>
              <a:t> </a:t>
            </a:r>
            <a:r>
              <a:rPr lang="en-US" dirty="0" err="1">
                <a:solidFill>
                  <a:srgbClr val="002060"/>
                </a:solidFill>
              </a:rPr>
              <a:t>keng</a:t>
            </a:r>
            <a:r>
              <a:rPr lang="en-US" dirty="0">
                <a:solidFill>
                  <a:srgbClr val="002060"/>
                </a:solidFill>
              </a:rPr>
              <a:t> </a:t>
            </a:r>
            <a:r>
              <a:rPr lang="en-US" dirty="0" err="1">
                <a:solidFill>
                  <a:srgbClr val="002060"/>
                </a:solidFill>
              </a:rPr>
              <a:t>ko'lamli</a:t>
            </a:r>
            <a:r>
              <a:rPr lang="en-US" dirty="0">
                <a:solidFill>
                  <a:srgbClr val="002060"/>
                </a:solidFill>
              </a:rPr>
              <a:t> ma'lumotlarni </a:t>
            </a:r>
            <a:r>
              <a:rPr lang="en-US" dirty="0" err="1">
                <a:solidFill>
                  <a:srgbClr val="002060"/>
                </a:solidFill>
              </a:rPr>
              <a:t>ko'rishlari</a:t>
            </a:r>
            <a:r>
              <a:rPr lang="en-US" dirty="0">
                <a:solidFill>
                  <a:srgbClr val="002060"/>
                </a:solidFill>
              </a:rPr>
              <a:t> </a:t>
            </a:r>
            <a:r>
              <a:rPr lang="en-US" dirty="0" err="1">
                <a:solidFill>
                  <a:srgbClr val="002060"/>
                </a:solidFill>
              </a:rPr>
              <a:t>mumkin</a:t>
            </a:r>
            <a:r>
              <a:rPr lang="en-US" dirty="0">
                <a:solidFill>
                  <a:srgbClr val="002060"/>
                </a:solidFill>
              </a:rPr>
              <a:t>. Bu </a:t>
            </a:r>
            <a:r>
              <a:rPr lang="en-US" dirty="0" err="1">
                <a:solidFill>
                  <a:srgbClr val="002060"/>
                </a:solidFill>
              </a:rPr>
              <a:t>ularga</a:t>
            </a:r>
            <a:r>
              <a:rPr lang="en-US" dirty="0">
                <a:solidFill>
                  <a:srgbClr val="002060"/>
                </a:solidFill>
              </a:rPr>
              <a:t> </a:t>
            </a:r>
            <a:r>
              <a:rPr lang="en-US" dirty="0" err="1">
                <a:solidFill>
                  <a:srgbClr val="002060"/>
                </a:solidFill>
              </a:rPr>
              <a:t>mavjud</a:t>
            </a:r>
            <a:r>
              <a:rPr lang="en-US" dirty="0">
                <a:solidFill>
                  <a:srgbClr val="002060"/>
                </a:solidFill>
              </a:rPr>
              <a:t> </a:t>
            </a:r>
            <a:r>
              <a:rPr lang="en-US" dirty="0" err="1">
                <a:solidFill>
                  <a:srgbClr val="002060"/>
                </a:solidFill>
              </a:rPr>
              <a:t>mahsulotlarni</a:t>
            </a:r>
            <a:r>
              <a:rPr lang="en-US" dirty="0">
                <a:solidFill>
                  <a:srgbClr val="002060"/>
                </a:solidFill>
              </a:rPr>
              <a:t> </a:t>
            </a:r>
            <a:r>
              <a:rPr lang="en-US" dirty="0" err="1">
                <a:solidFill>
                  <a:srgbClr val="002060"/>
                </a:solidFill>
              </a:rPr>
              <a:t>o'zgartirish</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eng</a:t>
            </a:r>
            <a:r>
              <a:rPr lang="en-US" dirty="0">
                <a:solidFill>
                  <a:srgbClr val="002060"/>
                </a:solidFill>
              </a:rPr>
              <a:t> </a:t>
            </a:r>
            <a:r>
              <a:rPr lang="en-US" dirty="0" err="1">
                <a:solidFill>
                  <a:srgbClr val="002060"/>
                </a:solidFill>
              </a:rPr>
              <a:t>dolzarb</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dolzarb</a:t>
            </a:r>
            <a:r>
              <a:rPr lang="en-US" dirty="0">
                <a:solidFill>
                  <a:srgbClr val="002060"/>
                </a:solidFill>
              </a:rPr>
              <a:t> </a:t>
            </a:r>
            <a:r>
              <a:rPr lang="en-US" dirty="0" err="1">
                <a:solidFill>
                  <a:srgbClr val="002060"/>
                </a:solidFill>
              </a:rPr>
              <a:t>bozor</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mijozlar</a:t>
            </a:r>
            <a:r>
              <a:rPr lang="en-US" dirty="0">
                <a:solidFill>
                  <a:srgbClr val="002060"/>
                </a:solidFill>
              </a:rPr>
              <a:t> </a:t>
            </a:r>
            <a:r>
              <a:rPr lang="en-US" dirty="0" err="1">
                <a:solidFill>
                  <a:srgbClr val="002060"/>
                </a:solidFill>
              </a:rPr>
              <a:t>ma'lumotlari</a:t>
            </a:r>
            <a:r>
              <a:rPr lang="en-US" dirty="0">
                <a:solidFill>
                  <a:srgbClr val="002060"/>
                </a:solidFill>
              </a:rPr>
              <a:t> </a:t>
            </a:r>
            <a:r>
              <a:rPr lang="en-US" dirty="0" err="1">
                <a:solidFill>
                  <a:srgbClr val="002060"/>
                </a:solidFill>
              </a:rPr>
              <a:t>asosida</a:t>
            </a:r>
            <a:r>
              <a:rPr lang="en-US" dirty="0">
                <a:solidFill>
                  <a:srgbClr val="002060"/>
                </a:solidFill>
              </a:rPr>
              <a:t> </a:t>
            </a:r>
            <a:r>
              <a:rPr lang="en-US" dirty="0" err="1">
                <a:solidFill>
                  <a:srgbClr val="002060"/>
                </a:solidFill>
              </a:rPr>
              <a:t>yangilarini</a:t>
            </a:r>
            <a:r>
              <a:rPr lang="en-US" dirty="0">
                <a:solidFill>
                  <a:srgbClr val="002060"/>
                </a:solidFill>
              </a:rPr>
              <a:t> </a:t>
            </a:r>
            <a:r>
              <a:rPr lang="en-US" dirty="0" err="1">
                <a:solidFill>
                  <a:srgbClr val="002060"/>
                </a:solidFill>
              </a:rPr>
              <a:t>joriy</a:t>
            </a:r>
            <a:r>
              <a:rPr lang="en-US" dirty="0">
                <a:solidFill>
                  <a:srgbClr val="002060"/>
                </a:solidFill>
              </a:rPr>
              <a:t> </a:t>
            </a:r>
            <a:r>
              <a:rPr lang="en-US" dirty="0" err="1">
                <a:solidFill>
                  <a:srgbClr val="002060"/>
                </a:solidFill>
              </a:rPr>
              <a:t>qilish</a:t>
            </a:r>
            <a:r>
              <a:rPr lang="en-US" dirty="0">
                <a:solidFill>
                  <a:srgbClr val="002060"/>
                </a:solidFill>
              </a:rPr>
              <a:t> </a:t>
            </a:r>
            <a:r>
              <a:rPr lang="en-US" dirty="0" err="1">
                <a:solidFill>
                  <a:srgbClr val="002060"/>
                </a:solidFill>
              </a:rPr>
              <a:t>imkonini</a:t>
            </a:r>
            <a:r>
              <a:rPr lang="en-US" dirty="0">
                <a:solidFill>
                  <a:srgbClr val="002060"/>
                </a:solidFill>
              </a:rPr>
              <a:t> </a:t>
            </a:r>
            <a:r>
              <a:rPr lang="en-US" dirty="0" err="1">
                <a:solidFill>
                  <a:srgbClr val="002060"/>
                </a:solidFill>
              </a:rPr>
              <a:t>beradi</a:t>
            </a:r>
            <a:r>
              <a:rPr lang="en-US" dirty="0">
                <a:solidFill>
                  <a:srgbClr val="002060"/>
                </a:solidFill>
              </a:rPr>
              <a:t>.</a:t>
            </a:r>
            <a:endParaRPr lang="ru-RU" dirty="0">
              <a:solidFill>
                <a:srgbClr val="002060"/>
              </a:solidFill>
            </a:endParaRPr>
          </a:p>
        </p:txBody>
      </p:sp>
    </p:spTree>
    <p:extLst>
      <p:ext uri="{BB962C8B-B14F-4D97-AF65-F5344CB8AC3E}">
        <p14:creationId xmlns:p14="http://schemas.microsoft.com/office/powerpoint/2010/main" val="2405530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3776" y="101600"/>
            <a:ext cx="10364451" cy="893894"/>
          </a:xfrm>
        </p:spPr>
        <p:txBody>
          <a:bodyPr>
            <a:normAutofit/>
          </a:bodyPr>
          <a:lstStyle/>
          <a:p>
            <a:pPr algn="ctr"/>
            <a:r>
              <a:rPr lang="en-US" sz="2400" b="1" dirty="0" err="1">
                <a:solidFill>
                  <a:srgbClr val="002060"/>
                </a:solidFill>
              </a:rPr>
              <a:t>Xodimlarni</a:t>
            </a:r>
            <a:r>
              <a:rPr lang="en-US" sz="2400" b="1" dirty="0">
                <a:solidFill>
                  <a:srgbClr val="002060"/>
                </a:solidFill>
              </a:rPr>
              <a:t> </a:t>
            </a:r>
            <a:r>
              <a:rPr lang="en-US" sz="2400" b="1" dirty="0" err="1">
                <a:solidFill>
                  <a:srgbClr val="002060"/>
                </a:solidFill>
              </a:rPr>
              <a:t>jalb</a:t>
            </a:r>
            <a:r>
              <a:rPr lang="en-US" sz="2400" b="1" dirty="0">
                <a:solidFill>
                  <a:srgbClr val="002060"/>
                </a:solidFill>
              </a:rPr>
              <a:t> </a:t>
            </a:r>
            <a:r>
              <a:rPr lang="en-US" sz="2400" b="1" dirty="0" err="1">
                <a:solidFill>
                  <a:srgbClr val="002060"/>
                </a:solidFill>
              </a:rPr>
              <a:t>qilish</a:t>
            </a:r>
            <a:endParaRPr lang="ru-RU" sz="2400" dirty="0">
              <a:solidFill>
                <a:srgbClr val="002060"/>
              </a:solidFill>
            </a:endParaRPr>
          </a:p>
        </p:txBody>
      </p:sp>
      <p:sp>
        <p:nvSpPr>
          <p:cNvPr id="3" name="Объект 2"/>
          <p:cNvSpPr>
            <a:spLocks noGrp="1"/>
          </p:cNvSpPr>
          <p:nvPr>
            <p:ph idx="1"/>
          </p:nvPr>
        </p:nvSpPr>
        <p:spPr>
          <a:xfrm>
            <a:off x="415638" y="1877566"/>
            <a:ext cx="11573162" cy="3424107"/>
          </a:xfrm>
        </p:spPr>
        <p:txBody>
          <a:bodyPr/>
          <a:lstStyle/>
          <a:p>
            <a:pPr marL="0" indent="0" algn="just">
              <a:buNone/>
            </a:pPr>
            <a:r>
              <a:rPr lang="en-US" dirty="0" err="1">
                <a:solidFill>
                  <a:srgbClr val="002060"/>
                </a:solidFill>
              </a:rPr>
              <a:t>Yaqinda</a:t>
            </a:r>
            <a:r>
              <a:rPr lang="en-US" dirty="0">
                <a:solidFill>
                  <a:srgbClr val="002060"/>
                </a:solidFill>
              </a:rPr>
              <a:t> </a:t>
            </a:r>
            <a:r>
              <a:rPr lang="en-US" dirty="0" err="1">
                <a:solidFill>
                  <a:srgbClr val="002060"/>
                </a:solidFill>
              </a:rPr>
              <a:t>o'tkazilgan</a:t>
            </a:r>
            <a:r>
              <a:rPr lang="en-US" dirty="0">
                <a:solidFill>
                  <a:srgbClr val="002060"/>
                </a:solidFill>
              </a:rPr>
              <a:t> </a:t>
            </a:r>
            <a:r>
              <a:rPr lang="en-US" u="sng" dirty="0">
                <a:solidFill>
                  <a:srgbClr val="002060"/>
                </a:solidFill>
                <a:hlinkClick r:id="rId2"/>
              </a:rPr>
              <a:t>Gallup </a:t>
            </a:r>
            <a:r>
              <a:rPr lang="en-US" u="sng" dirty="0" err="1">
                <a:solidFill>
                  <a:srgbClr val="002060"/>
                </a:solidFill>
                <a:hlinkClick r:id="rId2"/>
              </a:rPr>
              <a:t>so'rovi</a:t>
            </a:r>
            <a:r>
              <a:rPr lang="en-US" u="sng" dirty="0">
                <a:solidFill>
                  <a:srgbClr val="002060"/>
                </a:solidFill>
                <a:hlinkClick r:id="rId2"/>
              </a:rPr>
              <a:t> </a:t>
            </a:r>
            <a:r>
              <a:rPr lang="en-US" dirty="0" err="1">
                <a:solidFill>
                  <a:srgbClr val="002060"/>
                </a:solidFill>
              </a:rPr>
              <a:t>shuni</a:t>
            </a:r>
            <a:r>
              <a:rPr lang="en-US" dirty="0">
                <a:solidFill>
                  <a:srgbClr val="002060"/>
                </a:solidFill>
              </a:rPr>
              <a:t> </a:t>
            </a:r>
            <a:r>
              <a:rPr lang="en-US" dirty="0" err="1">
                <a:solidFill>
                  <a:srgbClr val="002060"/>
                </a:solidFill>
              </a:rPr>
              <a:t>ko'rsatdiki</a:t>
            </a:r>
            <a:r>
              <a:rPr lang="en-US" dirty="0">
                <a:solidFill>
                  <a:srgbClr val="002060"/>
                </a:solidFill>
              </a:rPr>
              <a:t>, </a:t>
            </a:r>
            <a:r>
              <a:rPr lang="en-US" dirty="0" err="1">
                <a:solidFill>
                  <a:srgbClr val="002060"/>
                </a:solidFill>
              </a:rPr>
              <a:t>yuqori</a:t>
            </a:r>
            <a:r>
              <a:rPr lang="en-US" dirty="0">
                <a:solidFill>
                  <a:srgbClr val="002060"/>
                </a:solidFill>
              </a:rPr>
              <a:t> </a:t>
            </a:r>
            <a:r>
              <a:rPr lang="en-US" dirty="0" err="1">
                <a:solidFill>
                  <a:srgbClr val="002060"/>
                </a:solidFill>
              </a:rPr>
              <a:t>darajadagi</a:t>
            </a:r>
            <a:r>
              <a:rPr lang="en-US" dirty="0">
                <a:solidFill>
                  <a:srgbClr val="002060"/>
                </a:solidFill>
              </a:rPr>
              <a:t> </a:t>
            </a:r>
            <a:r>
              <a:rPr lang="en-US" dirty="0" err="1">
                <a:solidFill>
                  <a:srgbClr val="002060"/>
                </a:solidFill>
              </a:rPr>
              <a:t>xodimlarga</a:t>
            </a:r>
            <a:r>
              <a:rPr lang="en-US" dirty="0">
                <a:solidFill>
                  <a:srgbClr val="002060"/>
                </a:solidFill>
              </a:rPr>
              <a:t> </a:t>
            </a:r>
            <a:r>
              <a:rPr lang="en-US" dirty="0" err="1">
                <a:solidFill>
                  <a:srgbClr val="002060"/>
                </a:solidFill>
              </a:rPr>
              <a:t>ega</a:t>
            </a:r>
            <a:r>
              <a:rPr lang="en-US" dirty="0">
                <a:solidFill>
                  <a:srgbClr val="002060"/>
                </a:solidFill>
              </a:rPr>
              <a:t> </a:t>
            </a:r>
            <a:r>
              <a:rPr lang="en-US" dirty="0" err="1">
                <a:solidFill>
                  <a:srgbClr val="002060"/>
                </a:solidFill>
              </a:rPr>
              <a:t>kompaniyalar</a:t>
            </a:r>
            <a:r>
              <a:rPr lang="en-US" dirty="0">
                <a:solidFill>
                  <a:srgbClr val="002060"/>
                </a:solidFill>
              </a:rPr>
              <a:t> </a:t>
            </a:r>
            <a:r>
              <a:rPr lang="en-US" dirty="0" err="1">
                <a:solidFill>
                  <a:srgbClr val="002060"/>
                </a:solidFill>
              </a:rPr>
              <a:t>o'rtacha</a:t>
            </a:r>
            <a:r>
              <a:rPr lang="en-US" dirty="0">
                <a:solidFill>
                  <a:srgbClr val="002060"/>
                </a:solidFill>
              </a:rPr>
              <a:t> 21% </a:t>
            </a:r>
            <a:r>
              <a:rPr lang="en-US" dirty="0" err="1">
                <a:solidFill>
                  <a:srgbClr val="002060"/>
                </a:solidFill>
              </a:rPr>
              <a:t>ko'proq</a:t>
            </a:r>
            <a:r>
              <a:rPr lang="en-US" dirty="0">
                <a:solidFill>
                  <a:srgbClr val="002060"/>
                </a:solidFill>
              </a:rPr>
              <a:t> </a:t>
            </a:r>
            <a:r>
              <a:rPr lang="en-US" dirty="0" err="1">
                <a:solidFill>
                  <a:srgbClr val="002060"/>
                </a:solidFill>
              </a:rPr>
              <a:t>daromad</a:t>
            </a:r>
            <a:r>
              <a:rPr lang="en-US" dirty="0">
                <a:solidFill>
                  <a:srgbClr val="002060"/>
                </a:solidFill>
              </a:rPr>
              <a:t> </a:t>
            </a:r>
            <a:r>
              <a:rPr lang="en-US" dirty="0" err="1">
                <a:solidFill>
                  <a:srgbClr val="002060"/>
                </a:solidFill>
              </a:rPr>
              <a:t>keltiradi</a:t>
            </a:r>
            <a:r>
              <a:rPr lang="en-US" dirty="0">
                <a:solidFill>
                  <a:srgbClr val="002060"/>
                </a:solidFill>
              </a:rPr>
              <a:t>. AI </a:t>
            </a:r>
            <a:r>
              <a:rPr lang="en-US" dirty="0" err="1">
                <a:solidFill>
                  <a:srgbClr val="002060"/>
                </a:solidFill>
              </a:rPr>
              <a:t>texnologiyalarini</a:t>
            </a:r>
            <a:r>
              <a:rPr lang="en-US" dirty="0">
                <a:solidFill>
                  <a:srgbClr val="002060"/>
                </a:solidFill>
              </a:rPr>
              <a:t> </a:t>
            </a:r>
            <a:r>
              <a:rPr lang="en-US" dirty="0" err="1">
                <a:solidFill>
                  <a:srgbClr val="002060"/>
                </a:solidFill>
              </a:rPr>
              <a:t>ish</a:t>
            </a:r>
            <a:r>
              <a:rPr lang="en-US" dirty="0">
                <a:solidFill>
                  <a:srgbClr val="002060"/>
                </a:solidFill>
              </a:rPr>
              <a:t> </a:t>
            </a:r>
            <a:r>
              <a:rPr lang="en-US" dirty="0" err="1">
                <a:solidFill>
                  <a:srgbClr val="002060"/>
                </a:solidFill>
              </a:rPr>
              <a:t>joyiga</a:t>
            </a:r>
            <a:r>
              <a:rPr lang="en-US" dirty="0">
                <a:solidFill>
                  <a:srgbClr val="002060"/>
                </a:solidFill>
              </a:rPr>
              <a:t> </a:t>
            </a:r>
            <a:r>
              <a:rPr lang="en-US" dirty="0" err="1">
                <a:solidFill>
                  <a:srgbClr val="002060"/>
                </a:solidFill>
              </a:rPr>
              <a:t>qo'llash</a:t>
            </a:r>
            <a:r>
              <a:rPr lang="en-US" dirty="0">
                <a:solidFill>
                  <a:srgbClr val="002060"/>
                </a:solidFill>
              </a:rPr>
              <a:t> </a:t>
            </a:r>
            <a:r>
              <a:rPr lang="en-US" dirty="0" err="1">
                <a:solidFill>
                  <a:srgbClr val="002060"/>
                </a:solidFill>
              </a:rPr>
              <a:t>odatiy</a:t>
            </a:r>
            <a:r>
              <a:rPr lang="en-US" dirty="0">
                <a:solidFill>
                  <a:srgbClr val="002060"/>
                </a:solidFill>
              </a:rPr>
              <a:t> </a:t>
            </a:r>
            <a:r>
              <a:rPr lang="en-US" dirty="0" err="1">
                <a:solidFill>
                  <a:srgbClr val="002060"/>
                </a:solidFill>
              </a:rPr>
              <a:t>vazifalar</a:t>
            </a:r>
            <a:r>
              <a:rPr lang="en-US" dirty="0">
                <a:solidFill>
                  <a:srgbClr val="002060"/>
                </a:solidFill>
              </a:rPr>
              <a:t> </a:t>
            </a:r>
            <a:r>
              <a:rPr lang="en-US" dirty="0" err="1">
                <a:solidFill>
                  <a:srgbClr val="002060"/>
                </a:solidFill>
              </a:rPr>
              <a:t>yukini</a:t>
            </a:r>
            <a:r>
              <a:rPr lang="en-US" dirty="0">
                <a:solidFill>
                  <a:srgbClr val="002060"/>
                </a:solidFill>
              </a:rPr>
              <a:t> </a:t>
            </a:r>
            <a:r>
              <a:rPr lang="en-US" dirty="0" err="1">
                <a:solidFill>
                  <a:srgbClr val="002060"/>
                </a:solidFill>
              </a:rPr>
              <a:t>kamaytirishi</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xodimlarni</a:t>
            </a:r>
            <a:r>
              <a:rPr lang="en-US" dirty="0">
                <a:solidFill>
                  <a:srgbClr val="002060"/>
                </a:solidFill>
              </a:rPr>
              <a:t> </a:t>
            </a:r>
            <a:r>
              <a:rPr lang="en-US" dirty="0" err="1">
                <a:solidFill>
                  <a:srgbClr val="002060"/>
                </a:solidFill>
              </a:rPr>
              <a:t>yanada</a:t>
            </a:r>
            <a:r>
              <a:rPr lang="en-US" dirty="0">
                <a:solidFill>
                  <a:srgbClr val="002060"/>
                </a:solidFill>
              </a:rPr>
              <a:t> </a:t>
            </a:r>
            <a:r>
              <a:rPr lang="en-US" dirty="0" err="1">
                <a:solidFill>
                  <a:srgbClr val="002060"/>
                </a:solidFill>
              </a:rPr>
              <a:t>foydali</a:t>
            </a:r>
            <a:r>
              <a:rPr lang="en-US" dirty="0">
                <a:solidFill>
                  <a:srgbClr val="002060"/>
                </a:solidFill>
              </a:rPr>
              <a:t> </a:t>
            </a:r>
            <a:r>
              <a:rPr lang="en-US" dirty="0" err="1">
                <a:solidFill>
                  <a:srgbClr val="002060"/>
                </a:solidFill>
              </a:rPr>
              <a:t>ishlarga</a:t>
            </a:r>
            <a:r>
              <a:rPr lang="en-US" dirty="0">
                <a:solidFill>
                  <a:srgbClr val="002060"/>
                </a:solidFill>
              </a:rPr>
              <a:t> </a:t>
            </a:r>
            <a:r>
              <a:rPr lang="en-US" dirty="0" err="1">
                <a:solidFill>
                  <a:srgbClr val="002060"/>
                </a:solidFill>
              </a:rPr>
              <a:t>e'tibor</a:t>
            </a:r>
            <a:r>
              <a:rPr lang="en-US" dirty="0">
                <a:solidFill>
                  <a:srgbClr val="002060"/>
                </a:solidFill>
              </a:rPr>
              <a:t> </a:t>
            </a:r>
            <a:r>
              <a:rPr lang="en-US" dirty="0" err="1">
                <a:solidFill>
                  <a:srgbClr val="002060"/>
                </a:solidFill>
              </a:rPr>
              <a:t>qaratishlari</a:t>
            </a:r>
            <a:r>
              <a:rPr lang="en-US" dirty="0">
                <a:solidFill>
                  <a:srgbClr val="002060"/>
                </a:solidFill>
              </a:rPr>
              <a:t> </a:t>
            </a:r>
            <a:r>
              <a:rPr lang="en-US" dirty="0" err="1">
                <a:solidFill>
                  <a:srgbClr val="002060"/>
                </a:solidFill>
              </a:rPr>
              <a:t>mumkin</a:t>
            </a:r>
            <a:r>
              <a:rPr lang="en-US" dirty="0">
                <a:solidFill>
                  <a:srgbClr val="002060"/>
                </a:solidFill>
              </a:rPr>
              <a:t>. </a:t>
            </a:r>
            <a:r>
              <a:rPr lang="en-US" dirty="0" err="1">
                <a:solidFill>
                  <a:srgbClr val="002060"/>
                </a:solidFill>
              </a:rPr>
              <a:t>Sun'iy</a:t>
            </a:r>
            <a:r>
              <a:rPr lang="en-US" dirty="0">
                <a:solidFill>
                  <a:srgbClr val="002060"/>
                </a:solidFill>
              </a:rPr>
              <a:t> </a:t>
            </a:r>
            <a:r>
              <a:rPr lang="en-US" dirty="0" err="1">
                <a:solidFill>
                  <a:srgbClr val="002060"/>
                </a:solidFill>
              </a:rPr>
              <a:t>intellektdan</a:t>
            </a:r>
            <a:r>
              <a:rPr lang="en-US" dirty="0">
                <a:solidFill>
                  <a:srgbClr val="002060"/>
                </a:solidFill>
              </a:rPr>
              <a:t> </a:t>
            </a:r>
            <a:r>
              <a:rPr lang="en-US" dirty="0" err="1">
                <a:solidFill>
                  <a:srgbClr val="002060"/>
                </a:solidFill>
              </a:rPr>
              <a:t>foydalanadigan</a:t>
            </a:r>
            <a:r>
              <a:rPr lang="en-US" dirty="0">
                <a:solidFill>
                  <a:srgbClr val="002060"/>
                </a:solidFill>
              </a:rPr>
              <a:t> </a:t>
            </a:r>
            <a:r>
              <a:rPr lang="en-US" u="sng" dirty="0">
                <a:solidFill>
                  <a:srgbClr val="002060"/>
                </a:solidFill>
                <a:hlinkClick r:id="rId3"/>
              </a:rPr>
              <a:t>HR </a:t>
            </a:r>
            <a:r>
              <a:rPr lang="en-US" u="sng" dirty="0" err="1">
                <a:solidFill>
                  <a:srgbClr val="002060"/>
                </a:solidFill>
                <a:hlinkClick r:id="rId3"/>
              </a:rPr>
              <a:t>texnologiyalari</a:t>
            </a:r>
            <a:r>
              <a:rPr lang="en-US" u="sng" dirty="0">
                <a:solidFill>
                  <a:srgbClr val="002060"/>
                </a:solidFill>
                <a:hlinkClick r:id="rId3"/>
              </a:rPr>
              <a:t>, </a:t>
            </a:r>
            <a:r>
              <a:rPr lang="en-US" dirty="0" err="1">
                <a:solidFill>
                  <a:srgbClr val="002060"/>
                </a:solidFill>
              </a:rPr>
              <a:t>shuningdek</a:t>
            </a:r>
            <a:r>
              <a:rPr lang="en-US" dirty="0">
                <a:solidFill>
                  <a:srgbClr val="002060"/>
                </a:solidFill>
              </a:rPr>
              <a:t>, </a:t>
            </a:r>
            <a:r>
              <a:rPr lang="en-US" dirty="0" err="1">
                <a:solidFill>
                  <a:srgbClr val="002060"/>
                </a:solidFill>
              </a:rPr>
              <a:t>xodimlar</a:t>
            </a:r>
            <a:r>
              <a:rPr lang="en-US" dirty="0">
                <a:solidFill>
                  <a:srgbClr val="002060"/>
                </a:solidFill>
              </a:rPr>
              <a:t> </a:t>
            </a:r>
            <a:r>
              <a:rPr lang="en-US" dirty="0" err="1">
                <a:solidFill>
                  <a:srgbClr val="002060"/>
                </a:solidFill>
              </a:rPr>
              <a:t>qachon</a:t>
            </a:r>
            <a:r>
              <a:rPr lang="en-US" dirty="0">
                <a:solidFill>
                  <a:srgbClr val="002060"/>
                </a:solidFill>
              </a:rPr>
              <a:t> </a:t>
            </a:r>
            <a:r>
              <a:rPr lang="en-US" dirty="0" err="1">
                <a:solidFill>
                  <a:srgbClr val="002060"/>
                </a:solidFill>
              </a:rPr>
              <a:t>bezovta</a:t>
            </a:r>
            <a:r>
              <a:rPr lang="en-US" dirty="0">
                <a:solidFill>
                  <a:srgbClr val="002060"/>
                </a:solidFill>
              </a:rPr>
              <a:t>, </a:t>
            </a:r>
            <a:r>
              <a:rPr lang="en-US" dirty="0" err="1">
                <a:solidFill>
                  <a:srgbClr val="002060"/>
                </a:solidFill>
              </a:rPr>
              <a:t>charchagan</a:t>
            </a:r>
            <a:r>
              <a:rPr lang="en-US" dirty="0">
                <a:solidFill>
                  <a:srgbClr val="002060"/>
                </a:solidFill>
              </a:rPr>
              <a:t> </a:t>
            </a:r>
            <a:r>
              <a:rPr lang="en-US" dirty="0" err="1">
                <a:solidFill>
                  <a:srgbClr val="002060"/>
                </a:solidFill>
              </a:rPr>
              <a:t>yoki</a:t>
            </a:r>
            <a:r>
              <a:rPr lang="en-US" dirty="0">
                <a:solidFill>
                  <a:srgbClr val="002060"/>
                </a:solidFill>
              </a:rPr>
              <a:t> </a:t>
            </a:r>
            <a:r>
              <a:rPr lang="en-US" dirty="0" err="1">
                <a:solidFill>
                  <a:srgbClr val="002060"/>
                </a:solidFill>
              </a:rPr>
              <a:t>zerikayotganini</a:t>
            </a:r>
            <a:r>
              <a:rPr lang="en-US" dirty="0">
                <a:solidFill>
                  <a:srgbClr val="002060"/>
                </a:solidFill>
              </a:rPr>
              <a:t> </a:t>
            </a:r>
            <a:r>
              <a:rPr lang="en-US" dirty="0" err="1">
                <a:solidFill>
                  <a:srgbClr val="002060"/>
                </a:solidFill>
              </a:rPr>
              <a:t>sezishga</a:t>
            </a:r>
            <a:r>
              <a:rPr lang="en-US" dirty="0">
                <a:solidFill>
                  <a:srgbClr val="002060"/>
                </a:solidFill>
              </a:rPr>
              <a:t> </a:t>
            </a:r>
            <a:r>
              <a:rPr lang="en-US" dirty="0" err="1">
                <a:solidFill>
                  <a:srgbClr val="002060"/>
                </a:solidFill>
              </a:rPr>
              <a:t>yordam</a:t>
            </a:r>
            <a:r>
              <a:rPr lang="en-US" dirty="0">
                <a:solidFill>
                  <a:srgbClr val="002060"/>
                </a:solidFill>
              </a:rPr>
              <a:t> </a:t>
            </a:r>
            <a:r>
              <a:rPr lang="en-US" dirty="0" err="1">
                <a:solidFill>
                  <a:srgbClr val="002060"/>
                </a:solidFill>
              </a:rPr>
              <a:t>beradi</a:t>
            </a:r>
            <a:r>
              <a:rPr lang="en-US" dirty="0">
                <a:solidFill>
                  <a:srgbClr val="002060"/>
                </a:solidFill>
              </a:rPr>
              <a:t>. </a:t>
            </a:r>
            <a:r>
              <a:rPr lang="en-US" dirty="0" err="1">
                <a:solidFill>
                  <a:srgbClr val="002060"/>
                </a:solidFill>
              </a:rPr>
              <a:t>Sog'lom</a:t>
            </a:r>
            <a:r>
              <a:rPr lang="en-US" dirty="0">
                <a:solidFill>
                  <a:srgbClr val="002060"/>
                </a:solidFill>
              </a:rPr>
              <a:t> </a:t>
            </a:r>
            <a:r>
              <a:rPr lang="en-US" dirty="0" err="1">
                <a:solidFill>
                  <a:srgbClr val="002060"/>
                </a:solidFill>
              </a:rPr>
              <a:t>turmush</a:t>
            </a:r>
            <a:r>
              <a:rPr lang="en-US" dirty="0">
                <a:solidFill>
                  <a:srgbClr val="002060"/>
                </a:solidFill>
              </a:rPr>
              <a:t> </a:t>
            </a:r>
            <a:r>
              <a:rPr lang="en-US" dirty="0" err="1">
                <a:solidFill>
                  <a:srgbClr val="002060"/>
                </a:solidFill>
              </a:rPr>
              <a:t>tarzi</a:t>
            </a:r>
            <a:r>
              <a:rPr lang="en-US" dirty="0">
                <a:solidFill>
                  <a:srgbClr val="002060"/>
                </a:solidFill>
              </a:rPr>
              <a:t> </a:t>
            </a:r>
            <a:r>
              <a:rPr lang="en-US" dirty="0" err="1">
                <a:solidFill>
                  <a:srgbClr val="002060"/>
                </a:solidFill>
              </a:rPr>
              <a:t>bo'yicha</a:t>
            </a:r>
            <a:r>
              <a:rPr lang="en-US" dirty="0">
                <a:solidFill>
                  <a:srgbClr val="002060"/>
                </a:solidFill>
              </a:rPr>
              <a:t> </a:t>
            </a:r>
            <a:r>
              <a:rPr lang="en-US" dirty="0" err="1">
                <a:solidFill>
                  <a:srgbClr val="002060"/>
                </a:solidFill>
              </a:rPr>
              <a:t>tavsiyalarni</a:t>
            </a:r>
            <a:r>
              <a:rPr lang="en-US" dirty="0">
                <a:solidFill>
                  <a:srgbClr val="002060"/>
                </a:solidFill>
              </a:rPr>
              <a:t> </a:t>
            </a:r>
            <a:r>
              <a:rPr lang="en-US" dirty="0" err="1">
                <a:solidFill>
                  <a:srgbClr val="002060"/>
                </a:solidFill>
              </a:rPr>
              <a:t>shaxsiylashtirish</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vazifalarni</a:t>
            </a:r>
            <a:r>
              <a:rPr lang="en-US" dirty="0">
                <a:solidFill>
                  <a:srgbClr val="002060"/>
                </a:solidFill>
              </a:rPr>
              <a:t> </a:t>
            </a:r>
            <a:r>
              <a:rPr lang="en-US" dirty="0" err="1">
                <a:solidFill>
                  <a:srgbClr val="002060"/>
                </a:solidFill>
              </a:rPr>
              <a:t>ustuvorlashtirishga</a:t>
            </a:r>
            <a:r>
              <a:rPr lang="en-US" dirty="0">
                <a:solidFill>
                  <a:srgbClr val="002060"/>
                </a:solidFill>
              </a:rPr>
              <a:t> </a:t>
            </a:r>
            <a:r>
              <a:rPr lang="en-US" dirty="0" err="1">
                <a:solidFill>
                  <a:srgbClr val="002060"/>
                </a:solidFill>
              </a:rPr>
              <a:t>yordam</a:t>
            </a:r>
            <a:r>
              <a:rPr lang="en-US" dirty="0">
                <a:solidFill>
                  <a:srgbClr val="002060"/>
                </a:solidFill>
              </a:rPr>
              <a:t> </a:t>
            </a:r>
            <a:r>
              <a:rPr lang="en-US" dirty="0" err="1">
                <a:solidFill>
                  <a:srgbClr val="002060"/>
                </a:solidFill>
              </a:rPr>
              <a:t>berish</a:t>
            </a:r>
            <a:r>
              <a:rPr lang="en-US" dirty="0">
                <a:solidFill>
                  <a:srgbClr val="002060"/>
                </a:solidFill>
              </a:rPr>
              <a:t> </a:t>
            </a:r>
            <a:r>
              <a:rPr lang="en-US" dirty="0" err="1">
                <a:solidFill>
                  <a:srgbClr val="002060"/>
                </a:solidFill>
              </a:rPr>
              <a:t>orqali</a:t>
            </a:r>
            <a:r>
              <a:rPr lang="en-US" dirty="0">
                <a:solidFill>
                  <a:srgbClr val="002060"/>
                </a:solidFill>
              </a:rPr>
              <a:t> AI </a:t>
            </a:r>
            <a:r>
              <a:rPr lang="en-US" dirty="0" err="1">
                <a:solidFill>
                  <a:srgbClr val="002060"/>
                </a:solidFill>
              </a:rPr>
              <a:t>xodimlarni</a:t>
            </a:r>
            <a:r>
              <a:rPr lang="en-US" dirty="0">
                <a:solidFill>
                  <a:srgbClr val="002060"/>
                </a:solidFill>
              </a:rPr>
              <a:t> </a:t>
            </a:r>
            <a:r>
              <a:rPr lang="en-US" dirty="0" err="1">
                <a:solidFill>
                  <a:srgbClr val="002060"/>
                </a:solidFill>
              </a:rPr>
              <a:t>qo'llab-quvvatlaydi</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ularga</a:t>
            </a:r>
            <a:r>
              <a:rPr lang="en-US" dirty="0">
                <a:solidFill>
                  <a:srgbClr val="002060"/>
                </a:solidFill>
              </a:rPr>
              <a:t> </a:t>
            </a:r>
            <a:r>
              <a:rPr lang="en-US" dirty="0" err="1">
                <a:solidFill>
                  <a:srgbClr val="002060"/>
                </a:solidFill>
              </a:rPr>
              <a:t>sog'lom</a:t>
            </a:r>
            <a:r>
              <a:rPr lang="en-US" dirty="0">
                <a:solidFill>
                  <a:srgbClr val="002060"/>
                </a:solidFill>
              </a:rPr>
              <a:t> </a:t>
            </a:r>
            <a:r>
              <a:rPr lang="en-US" dirty="0" err="1">
                <a:solidFill>
                  <a:srgbClr val="002060"/>
                </a:solidFill>
              </a:rPr>
              <a:t>ish</a:t>
            </a:r>
            <a:r>
              <a:rPr lang="en-US" dirty="0">
                <a:solidFill>
                  <a:srgbClr val="002060"/>
                </a:solidFill>
              </a:rPr>
              <a:t> </a:t>
            </a:r>
            <a:r>
              <a:rPr lang="en-US" dirty="0" err="1">
                <a:solidFill>
                  <a:srgbClr val="002060"/>
                </a:solidFill>
              </a:rPr>
              <a:t>va</a:t>
            </a:r>
            <a:r>
              <a:rPr lang="en-US" dirty="0">
                <a:solidFill>
                  <a:srgbClr val="002060"/>
                </a:solidFill>
              </a:rPr>
              <a:t> </a:t>
            </a:r>
            <a:r>
              <a:rPr lang="en-US" dirty="0" err="1">
                <a:solidFill>
                  <a:srgbClr val="002060"/>
                </a:solidFill>
              </a:rPr>
              <a:t>hayot</a:t>
            </a:r>
            <a:r>
              <a:rPr lang="en-US" dirty="0">
                <a:solidFill>
                  <a:srgbClr val="002060"/>
                </a:solidFill>
              </a:rPr>
              <a:t> </a:t>
            </a:r>
            <a:r>
              <a:rPr lang="en-US" dirty="0" err="1">
                <a:solidFill>
                  <a:srgbClr val="002060"/>
                </a:solidFill>
              </a:rPr>
              <a:t>muvozanatini</a:t>
            </a:r>
            <a:r>
              <a:rPr lang="en-US" dirty="0">
                <a:solidFill>
                  <a:srgbClr val="002060"/>
                </a:solidFill>
              </a:rPr>
              <a:t> </a:t>
            </a:r>
            <a:r>
              <a:rPr lang="en-US" dirty="0" err="1">
                <a:solidFill>
                  <a:srgbClr val="002060"/>
                </a:solidFill>
              </a:rPr>
              <a:t>tiklashga</a:t>
            </a:r>
            <a:r>
              <a:rPr lang="en-US" dirty="0">
                <a:solidFill>
                  <a:srgbClr val="002060"/>
                </a:solidFill>
              </a:rPr>
              <a:t> </a:t>
            </a:r>
            <a:r>
              <a:rPr lang="en-US" dirty="0" err="1">
                <a:solidFill>
                  <a:srgbClr val="002060"/>
                </a:solidFill>
              </a:rPr>
              <a:t>yordam</a:t>
            </a:r>
            <a:r>
              <a:rPr lang="en-US" dirty="0">
                <a:solidFill>
                  <a:srgbClr val="002060"/>
                </a:solidFill>
              </a:rPr>
              <a:t> </a:t>
            </a:r>
            <a:r>
              <a:rPr lang="en-US" dirty="0" err="1">
                <a:solidFill>
                  <a:srgbClr val="002060"/>
                </a:solidFill>
              </a:rPr>
              <a:t>beradi</a:t>
            </a:r>
            <a:r>
              <a:rPr lang="en-US" dirty="0"/>
              <a:t>.</a:t>
            </a:r>
            <a:endParaRPr lang="ru-RU" dirty="0"/>
          </a:p>
          <a:p>
            <a:pPr algn="just"/>
            <a:endParaRPr lang="ru-RU" dirty="0"/>
          </a:p>
        </p:txBody>
      </p:sp>
    </p:spTree>
    <p:extLst>
      <p:ext uri="{BB962C8B-B14F-4D97-AF65-F5344CB8AC3E}">
        <p14:creationId xmlns:p14="http://schemas.microsoft.com/office/powerpoint/2010/main" val="545563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0648" y="147462"/>
            <a:ext cx="10364451" cy="702283"/>
          </a:xfrm>
        </p:spPr>
        <p:txBody>
          <a:bodyPr>
            <a:normAutofit/>
          </a:bodyPr>
          <a:lstStyle/>
          <a:p>
            <a:r>
              <a:rPr lang="en-US" sz="2400" dirty="0" err="1">
                <a:solidFill>
                  <a:srgbClr val="002060"/>
                </a:solidFill>
              </a:rPr>
              <a:t>OTMda</a:t>
            </a:r>
            <a:r>
              <a:rPr lang="en-US" sz="2400" dirty="0">
                <a:solidFill>
                  <a:srgbClr val="002060"/>
                </a:solidFill>
              </a:rPr>
              <a:t> </a:t>
            </a:r>
            <a:r>
              <a:rPr lang="en-US" sz="2400" dirty="0" err="1">
                <a:solidFill>
                  <a:srgbClr val="002060"/>
                </a:solidFill>
              </a:rPr>
              <a:t>suniy</a:t>
            </a:r>
            <a:r>
              <a:rPr lang="en-US" sz="2400" dirty="0">
                <a:solidFill>
                  <a:srgbClr val="002060"/>
                </a:solidFill>
              </a:rPr>
              <a:t> </a:t>
            </a:r>
            <a:r>
              <a:rPr lang="en-US" sz="2400" dirty="0" err="1">
                <a:solidFill>
                  <a:srgbClr val="002060"/>
                </a:solidFill>
              </a:rPr>
              <a:t>intelektning</a:t>
            </a:r>
            <a:r>
              <a:rPr lang="en-US" sz="2400" dirty="0">
                <a:solidFill>
                  <a:srgbClr val="002060"/>
                </a:solidFill>
              </a:rPr>
              <a:t> </a:t>
            </a:r>
            <a:r>
              <a:rPr lang="en-US" sz="2400" dirty="0" err="1">
                <a:solidFill>
                  <a:srgbClr val="002060"/>
                </a:solidFill>
              </a:rPr>
              <a:t>o’rni</a:t>
            </a:r>
            <a:endParaRPr lang="ru-RU" sz="2400" dirty="0">
              <a:solidFill>
                <a:srgbClr val="002060"/>
              </a:solidFill>
            </a:endParaRPr>
          </a:p>
        </p:txBody>
      </p:sp>
      <p:sp>
        <p:nvSpPr>
          <p:cNvPr id="3" name="Объект 2"/>
          <p:cNvSpPr>
            <a:spLocks noGrp="1"/>
          </p:cNvSpPr>
          <p:nvPr>
            <p:ph idx="1"/>
          </p:nvPr>
        </p:nvSpPr>
        <p:spPr>
          <a:xfrm>
            <a:off x="1006136" y="1812911"/>
            <a:ext cx="10742518" cy="1946289"/>
          </a:xfrm>
        </p:spPr>
        <p:txBody>
          <a:bodyPr>
            <a:normAutofit/>
          </a:bodyPr>
          <a:lstStyle/>
          <a:p>
            <a:pPr marL="0" indent="0" algn="just">
              <a:buNone/>
            </a:pPr>
            <a:r>
              <a:rPr lang="uz-Cyrl-UZ" dirty="0">
                <a:solidFill>
                  <a:srgbClr val="002060"/>
                </a:solidFill>
                <a:latin typeface="Arial" panose="020B0604020202020204" pitchFamily="34" charset="0"/>
                <a:cs typeface="Arial" panose="020B0604020202020204" pitchFamily="34" charset="0"/>
              </a:rPr>
              <a:t>Yuqorida keltirilgan suniy intelekt tizimlari har bir soha yoki yoʼnalish uchun ishlab chiqilganligiga guvoh boʼlamiz. Shunday ekan taʼlim tizimida suniy intelekt qanday vazifalarni bajaradi va uning oʼrni naqadar zarur ekanligigi yuzasidan olib borilayotgan ilmiy-tadqiqotlarga toʼxtalamiz.</a:t>
            </a:r>
            <a:endParaRPr lang="ru-RU" dirty="0">
              <a:solidFill>
                <a:srgbClr val="002060"/>
              </a:solidFill>
              <a:latin typeface="Arial" panose="020B0604020202020204" pitchFamily="34" charset="0"/>
              <a:cs typeface="Arial" panose="020B0604020202020204" pitchFamily="34" charset="0"/>
            </a:endParaRPr>
          </a:p>
          <a:p>
            <a:pPr algn="just"/>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3215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54544" y="704013"/>
            <a:ext cx="10427856" cy="2813206"/>
          </a:xfrm>
          <a:prstGeom prst="rect">
            <a:avLst/>
          </a:prstGeom>
        </p:spPr>
        <p:txBody>
          <a:bodyPr wrap="square">
            <a:spAutoFit/>
          </a:bodyPr>
          <a:lstStyle/>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Ta’limda sun’iy intellekt (EAI-Education Artificial Intellect) yo‘nalishida olib boriladigan ilmiy tadqiqotlarning asosiy jihatlaridan biri  ta’lim muassasasining tuzulmasi bilan bog‘liq ma’lumotlarni hisobotini olish uchun dasturiy ta’minot yaratishni taqozo qiladi.  O‘z navbatida EAI dasturiy ta’minoti katta hajmdagi ma’lumotlar bazasi bilan o‘zaro munosabatda bo‘lib (BIG DATA), qo‘yilgan talablarga javob berishi lozim. </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Ta’limda EAI masalasini matematik modelini yaratish uchun ta’lim muassasalarida mavjud tuzulmaning maxsus elementlari sifatida qaralayotgan terminal elementlarini quyidagi belgilashlar asosida ishlab chiqish maqsadga muvofiq. </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a:extLst>
              <a:ext uri="{FF2B5EF4-FFF2-40B4-BE49-F238E27FC236}">
                <a16:creationId xmlns:a16="http://schemas.microsoft.com/office/drawing/2014/main" id="{E93EBD44-326B-45E2-8F7E-C5551CB7EC72}"/>
              </a:ext>
            </a:extLst>
          </p:cNvPr>
          <p:cNvSpPr/>
          <p:nvPr/>
        </p:nvSpPr>
        <p:spPr>
          <a:xfrm>
            <a:off x="1154544" y="3589054"/>
            <a:ext cx="10427856" cy="2564933"/>
          </a:xfrm>
          <a:prstGeom prst="rect">
            <a:avLst/>
          </a:prstGeom>
        </p:spPr>
        <p:txBody>
          <a:bodyPr wrap="square">
            <a:spAutoFit/>
          </a:bodyPr>
          <a:lstStyle/>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Ta’limda sun’iy intellektni EAI (Education Artificial Intellect) -deb belgilaymiz.</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sz="20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EAI={ADM+STED</a:t>
            </a:r>
            <a:r>
              <a:rPr lang="uz-Cyrl-UZ" sz="2000" b="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uz-Cyrl-UZ" sz="20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+STED</a:t>
            </a:r>
            <a:r>
              <a:rPr lang="uz-Cyrl-UZ" sz="2000" b="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i,j</a:t>
            </a:r>
            <a:r>
              <a:rPr lang="uz-Cyrl-UZ" sz="20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+STED</a:t>
            </a:r>
            <a:r>
              <a:rPr lang="uz-Cyrl-UZ" sz="2000" b="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i,j,k</a:t>
            </a:r>
            <a:r>
              <a:rPr lang="uz-Cyrl-UZ" sz="20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Bu yerda:  ADM - bu ta’lim tuzulmasidagi bosh element, OTM uchun rektorat.</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STED</a:t>
            </a:r>
            <a:r>
              <a:rPr lang="uz-Cyrl-UZ" sz="20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 </a:t>
            </a: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OTM tuzulmasidagi i-element (i=1,n)</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STED</a:t>
            </a:r>
            <a:r>
              <a:rPr lang="uz-Cyrl-UZ" sz="20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i,j </a:t>
            </a: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OTM    i-elementining, j-bo‘limi</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STED</a:t>
            </a:r>
            <a:r>
              <a:rPr lang="uz-Cyrl-UZ" sz="20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i,j,k</a:t>
            </a:r>
            <a:r>
              <a:rPr lang="uz-Cyrl-UZ"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esa OTM tuzulmasidagi  i-elementining, j-chi bo‘limidagi, k-ma’lumotlar bazasi.</a:t>
            </a:r>
            <a:endParaRPr lang="ru-RU" sz="2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5415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rotWithShape="1">
          <a:blip r:embed="rId2"/>
          <a:srcRect l="10521" t="35" r="-960" b="-35"/>
          <a:stretch/>
        </p:blipFill>
        <p:spPr>
          <a:xfrm>
            <a:off x="6493164" y="1902691"/>
            <a:ext cx="5329380" cy="2955636"/>
          </a:xfrm>
          <a:prstGeom prst="rect">
            <a:avLst/>
          </a:prstGeom>
        </p:spPr>
      </p:pic>
      <p:sp>
        <p:nvSpPr>
          <p:cNvPr id="3" name="Прямоугольник 2"/>
          <p:cNvSpPr/>
          <p:nvPr/>
        </p:nvSpPr>
        <p:spPr>
          <a:xfrm>
            <a:off x="6890326" y="4956338"/>
            <a:ext cx="4294910" cy="374077"/>
          </a:xfrm>
          <a:prstGeom prst="rect">
            <a:avLst/>
          </a:prstGeom>
        </p:spPr>
        <p:txBody>
          <a:bodyPr wrap="square">
            <a:spAutoFit/>
          </a:bodyPr>
          <a:lstStyle/>
          <a:p>
            <a:pPr algn="ctr">
              <a:lnSpc>
                <a:spcPct val="107000"/>
              </a:lnSpc>
              <a:spcAft>
                <a:spcPts val="800"/>
              </a:spcAft>
              <a:tabLst>
                <a:tab pos="1330325" algn="l"/>
                <a:tab pos="1531620" algn="l"/>
              </a:tabLst>
            </a:pPr>
            <a:r>
              <a:rPr lang="uz-Cyrl-UZ"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Sxema-1. Oliy taʼlim tizimining tuz</a:t>
            </a:r>
            <a:r>
              <a:rPr lang="en-US"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uz-Cyrl-UZ"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lmasi</a:t>
            </a:r>
            <a:r>
              <a:rPr lang="uz-Cyrl-UZ" dirty="0">
                <a:latin typeface="Times New Roman" panose="02020603050405020304" pitchFamily="18" charset="0"/>
                <a:ea typeface="Calibri" panose="020F0502020204030204" pitchFamily="34" charset="0"/>
                <a:cs typeface="Times New Roman" panose="02020603050405020304" pitchFamily="18" charset="0"/>
              </a:rPr>
              <a:t> </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Рисунок 3">
            <a:extLst>
              <a:ext uri="{FF2B5EF4-FFF2-40B4-BE49-F238E27FC236}">
                <a16:creationId xmlns:a16="http://schemas.microsoft.com/office/drawing/2014/main" id="{EC90F9E0-A9FC-4A46-9CC1-EB8BF6BCD46C}"/>
              </a:ext>
            </a:extLst>
          </p:cNvPr>
          <p:cNvPicPr/>
          <p:nvPr/>
        </p:nvPicPr>
        <p:blipFill>
          <a:blip r:embed="rId3"/>
          <a:stretch>
            <a:fillRect/>
          </a:stretch>
        </p:blipFill>
        <p:spPr>
          <a:xfrm>
            <a:off x="85966" y="2174024"/>
            <a:ext cx="6010033" cy="4337611"/>
          </a:xfrm>
          <a:prstGeom prst="rect">
            <a:avLst/>
          </a:prstGeom>
        </p:spPr>
      </p:pic>
      <p:sp>
        <p:nvSpPr>
          <p:cNvPr id="5" name="Прямоугольник 4">
            <a:extLst>
              <a:ext uri="{FF2B5EF4-FFF2-40B4-BE49-F238E27FC236}">
                <a16:creationId xmlns:a16="http://schemas.microsoft.com/office/drawing/2014/main" id="{61B6E046-CBC4-42AC-BEF3-5F0AB6D5C550}"/>
              </a:ext>
            </a:extLst>
          </p:cNvPr>
          <p:cNvSpPr/>
          <p:nvPr/>
        </p:nvSpPr>
        <p:spPr>
          <a:xfrm>
            <a:off x="-48612" y="1700007"/>
            <a:ext cx="5921814" cy="405367"/>
          </a:xfrm>
          <a:prstGeom prst="rect">
            <a:avLst/>
          </a:prstGeom>
        </p:spPr>
        <p:txBody>
          <a:bodyPr wrap="none">
            <a:spAutoFit/>
          </a:bodyPr>
          <a:lstStyle/>
          <a:p>
            <a:pPr algn="just">
              <a:lnSpc>
                <a:spcPct val="107000"/>
              </a:lnSpc>
              <a:spcAft>
                <a:spcPts val="800"/>
              </a:spcAft>
            </a:pPr>
            <a:r>
              <a:rPr lang="uz-Cyrl-UZ" sz="2000" dirty="0">
                <a:latin typeface="Times New Roman" panose="02020603050405020304" pitchFamily="18" charset="0"/>
                <a:ea typeface="Calibri" panose="020F0502020204030204" pitchFamily="34" charset="0"/>
                <a:cs typeface="Times New Roman" panose="02020603050405020304" pitchFamily="18" charset="0"/>
              </a:rPr>
              <a:t>Bu yerda </a:t>
            </a:r>
            <a:r>
              <a:rPr lang="uz-Cyrl-UZ"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STED</a:t>
            </a:r>
            <a:r>
              <a:rPr lang="uz-Cyrl-UZ" sz="200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a:t>
            </a:r>
            <a:r>
              <a:rPr lang="uz-Cyrl-UZ"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-quyidagi elementlarni o‘z ichiga oladi:</a:t>
            </a:r>
            <a:endParaRPr lang="ru-R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Прямоугольник 5">
            <a:extLst>
              <a:ext uri="{FF2B5EF4-FFF2-40B4-BE49-F238E27FC236}">
                <a16:creationId xmlns:a16="http://schemas.microsoft.com/office/drawing/2014/main" id="{8DFE1CBE-B001-4D2E-A395-D558AB3BA753}"/>
              </a:ext>
            </a:extLst>
          </p:cNvPr>
          <p:cNvSpPr/>
          <p:nvPr/>
        </p:nvSpPr>
        <p:spPr>
          <a:xfrm>
            <a:off x="3048000" y="272306"/>
            <a:ext cx="6705600" cy="830997"/>
          </a:xfrm>
          <a:prstGeom prst="rect">
            <a:avLst/>
          </a:prstGeom>
        </p:spPr>
        <p:txBody>
          <a:bodyPr wrap="square">
            <a:spAutoFit/>
          </a:bodyPr>
          <a:lstStyle/>
          <a:p>
            <a:pPr algn="ctr"/>
            <a:r>
              <a:rPr lang="en-US" sz="24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Yuqorida</a:t>
            </a:r>
            <a:r>
              <a:rPr lang="en-US" sz="24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keltirilgan</a:t>
            </a:r>
            <a:r>
              <a:rPr lang="uz-Cyrl-UZ" sz="24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modelni sxemasi quyidagi ko‘rinishni oladi:</a:t>
            </a:r>
            <a:endParaRPr lang="ru-RU" sz="2400" dirty="0"/>
          </a:p>
        </p:txBody>
      </p:sp>
    </p:spTree>
    <p:extLst>
      <p:ext uri="{BB962C8B-B14F-4D97-AF65-F5344CB8AC3E}">
        <p14:creationId xmlns:p14="http://schemas.microsoft.com/office/powerpoint/2010/main" val="1412358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1E97AFBA-6708-44A5-9C84-BB3AA5B4DD83}"/>
              </a:ext>
            </a:extLst>
          </p:cNvPr>
          <p:cNvPicPr>
            <a:picLocks noChangeAspect="1"/>
          </p:cNvPicPr>
          <p:nvPr/>
        </p:nvPicPr>
        <p:blipFill rotWithShape="1">
          <a:blip r:embed="rId2"/>
          <a:srcRect t="12393"/>
          <a:stretch/>
        </p:blipFill>
        <p:spPr>
          <a:xfrm>
            <a:off x="2955635" y="1583603"/>
            <a:ext cx="6703563" cy="4272252"/>
          </a:xfrm>
          <a:prstGeom prst="rect">
            <a:avLst/>
          </a:prstGeom>
        </p:spPr>
      </p:pic>
      <p:sp>
        <p:nvSpPr>
          <p:cNvPr id="9" name="Прямоугольник 8">
            <a:extLst>
              <a:ext uri="{FF2B5EF4-FFF2-40B4-BE49-F238E27FC236}">
                <a16:creationId xmlns:a16="http://schemas.microsoft.com/office/drawing/2014/main" id="{F602EA5F-0F3F-493E-A4F6-E149E234FF6F}"/>
              </a:ext>
            </a:extLst>
          </p:cNvPr>
          <p:cNvSpPr/>
          <p:nvPr/>
        </p:nvSpPr>
        <p:spPr>
          <a:xfrm>
            <a:off x="1006765" y="575817"/>
            <a:ext cx="11009744" cy="923330"/>
          </a:xfrm>
          <a:prstGeom prst="rect">
            <a:avLst/>
          </a:prstGeom>
        </p:spPr>
        <p:txBody>
          <a:bodyPr wrap="square">
            <a:spAutoFit/>
          </a:bodyPr>
          <a:lstStyle/>
          <a:p>
            <a:pPr lvl="0" algn="just" defTabSz="914400" eaLnBrk="0" fontAlgn="base" hangingPunct="0">
              <a:spcBef>
                <a:spcPct val="0"/>
              </a:spcBef>
              <a:spcAft>
                <a:spcPct val="0"/>
              </a:spcAft>
              <a:tabLst>
                <a:tab pos="5011738" algn="l"/>
              </a:tabLst>
            </a:pPr>
            <a:r>
              <a:rPr lang="uz-Cyrl-UZ"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EAI dasturiy ta’minotini yaratishda OTM tuzulma asosida ma’lumotlar bazasi shakllantiriladi va</a:t>
            </a:r>
            <a:r>
              <a:rPr lang="en-US"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uz-Cyrl-UZ"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kerakli hisobotlar ovoz va matn shaklida tayyorlanadi.</a:t>
            </a:r>
            <a:r>
              <a:rPr lang="en-US"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uz-Cyrl-UZ"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Bundan tashqari OTM SI (AI) yaratishning ikkinchi jihati ta’lim muassasalaridagi tuzulma aosida o‘quv jarayoni bilan bog‘liq ma’lumotlar bazasini shakllantirishni taqozo etadi. </a:t>
            </a:r>
            <a:endParaRPr lang="en-US"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Прямоугольник 9">
            <a:extLst>
              <a:ext uri="{FF2B5EF4-FFF2-40B4-BE49-F238E27FC236}">
                <a16:creationId xmlns:a16="http://schemas.microsoft.com/office/drawing/2014/main" id="{A46862F7-5B2B-4A3E-B0C5-887E6A7EC894}"/>
              </a:ext>
            </a:extLst>
          </p:cNvPr>
          <p:cNvSpPr/>
          <p:nvPr/>
        </p:nvSpPr>
        <p:spPr>
          <a:xfrm>
            <a:off x="3666836" y="5829475"/>
            <a:ext cx="6096000" cy="369332"/>
          </a:xfrm>
          <a:prstGeom prst="rect">
            <a:avLst/>
          </a:prstGeom>
        </p:spPr>
        <p:txBody>
          <a:bodyPr>
            <a:spAutoFit/>
          </a:bodyPr>
          <a:lstStyle/>
          <a:p>
            <a:pPr lvl="0" algn="ctr" defTabSz="914400" eaLnBrk="0" fontAlgn="base" hangingPunct="0">
              <a:spcBef>
                <a:spcPct val="0"/>
              </a:spcBef>
              <a:spcAft>
                <a:spcPct val="0"/>
              </a:spcAft>
              <a:tabLst>
                <a:tab pos="1330325" algn="l"/>
                <a:tab pos="1531938" algn="l"/>
              </a:tabLst>
            </a:pPr>
            <a:r>
              <a:rPr lang="en-US"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sxema-1. </a:t>
            </a:r>
            <a:r>
              <a:rPr lang="uz-Cyrl-UZ"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Oliy taʼlim tizimining O</a:t>
            </a:r>
            <a:r>
              <a:rPr lang="uz-Cyrl-UZ" altLang="ru-RU" dirty="0">
                <a:solidFill>
                  <a:srgbClr val="002060"/>
                </a:solidFill>
                <a:latin typeface="Calibri" panose="020F0502020204030204" pitchFamily="34" charset="0"/>
                <a:ea typeface="Calibri" panose="020F0502020204030204" pitchFamily="34" charset="0"/>
                <a:cs typeface="Times New Roman" panose="02020603050405020304" pitchFamily="18" charset="0"/>
              </a:rPr>
              <a:t>‘</a:t>
            </a:r>
            <a:r>
              <a:rPr lang="uz-Cyrl-UZ"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quv jarayoniga doir tuz</a:t>
            </a:r>
            <a:r>
              <a:rPr lang="en-US" altLang="ru-RU"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uz-Cyrl-UZ" altLang="ru-RU"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lma</a:t>
            </a:r>
            <a:r>
              <a:rPr lang="en-US" altLang="ru-RU"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si</a:t>
            </a:r>
            <a:endParaRPr lang="ru-RU" altLang="ru-RU" dirty="0">
              <a:solidFill>
                <a:srgbClr val="002060"/>
              </a:solidFill>
            </a:endParaRPr>
          </a:p>
        </p:txBody>
      </p:sp>
    </p:spTree>
    <p:extLst>
      <p:ext uri="{BB962C8B-B14F-4D97-AF65-F5344CB8AC3E}">
        <p14:creationId xmlns:p14="http://schemas.microsoft.com/office/powerpoint/2010/main" val="931127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49746" y="1751598"/>
            <a:ext cx="4996873" cy="4777205"/>
          </a:xfrm>
          <a:prstGeom prst="rect">
            <a:avLst/>
          </a:prstGeom>
        </p:spPr>
        <p:txBody>
          <a:bodyPr wrap="square">
            <a:spAutoFit/>
          </a:bodyPr>
          <a:lstStyle/>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LEARAI- O‘quv faoliyatida sun’iy intellekt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LEARPLAN- O‘quv reja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LEARWORKP- Ishchi dastur</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SILL- Sillabus</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METUS-Uslubiy qo‘llanma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USEUV- O‘quv qo‘llanma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TEBOOK-Darslik</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MONOG- Monografiya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SCIENCUZB- Mahalliy maqola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ARTFORE- Xorijiy maqola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latin typeface="Times New Roman" panose="02020603050405020304" pitchFamily="18" charset="0"/>
                <a:ea typeface="Calibri" panose="020F0502020204030204" pitchFamily="34" charset="0"/>
                <a:cs typeface="Times New Roman" panose="02020603050405020304" pitchFamily="18" charset="0"/>
              </a:rPr>
              <a:t>SCOPUSART</a:t>
            </a: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Skopusdagi maqola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WebScienceART- Web of Science  maqola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a:extLst>
              <a:ext uri="{FF2B5EF4-FFF2-40B4-BE49-F238E27FC236}">
                <a16:creationId xmlns:a16="http://schemas.microsoft.com/office/drawing/2014/main" id="{62DFAC1D-A060-426F-9A7D-302F6472EFB6}"/>
              </a:ext>
            </a:extLst>
          </p:cNvPr>
          <p:cNvSpPr/>
          <p:nvPr/>
        </p:nvSpPr>
        <p:spPr>
          <a:xfrm>
            <a:off x="6271490" y="1751598"/>
            <a:ext cx="5070764" cy="3979294"/>
          </a:xfrm>
          <a:prstGeom prst="rect">
            <a:avLst/>
          </a:prstGeom>
        </p:spPr>
        <p:txBody>
          <a:bodyPr wrap="square">
            <a:spAutoFit/>
          </a:bodyPr>
          <a:lstStyle/>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AUDIOTEXTB- Audio dars</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VIDEOTEXTB- Videodars</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ANIMATROL-Animatsion rolik</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VIRTR-Virtual resurslar</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ETEXTB</a:t>
            </a: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Elektron darslik</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VLAB</a:t>
            </a: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Virtual laboratoriya</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TEST- Test nazorati</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INTERCONT-Oraliq nazorat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FINALCONT- Yakuniy nazorat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uz-Cyrl-UZ"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STUDENTPROG- Talabalarning o‘zlashtirish bazasi</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Прямоугольник 3">
            <a:extLst>
              <a:ext uri="{FF2B5EF4-FFF2-40B4-BE49-F238E27FC236}">
                <a16:creationId xmlns:a16="http://schemas.microsoft.com/office/drawing/2014/main" id="{3E0B4F7D-1639-4B6C-BD0B-A999CC3BA75D}"/>
              </a:ext>
            </a:extLst>
          </p:cNvPr>
          <p:cNvSpPr/>
          <p:nvPr/>
        </p:nvSpPr>
        <p:spPr>
          <a:xfrm>
            <a:off x="1193182" y="477317"/>
            <a:ext cx="10886283" cy="1015663"/>
          </a:xfrm>
          <a:prstGeom prst="rect">
            <a:avLst/>
          </a:prstGeom>
        </p:spPr>
        <p:txBody>
          <a:bodyPr wrap="square">
            <a:spAutoFit/>
          </a:bodyPr>
          <a:lstStyle/>
          <a:p>
            <a:pPr lvl="0" algn="ctr" defTabSz="914400" eaLnBrk="0" fontAlgn="base" hangingPunct="0">
              <a:spcBef>
                <a:spcPct val="0"/>
              </a:spcBef>
              <a:spcAft>
                <a:spcPct val="0"/>
              </a:spcAft>
              <a:tabLst>
                <a:tab pos="1330325" algn="l"/>
                <a:tab pos="1531938" algn="l"/>
              </a:tabLst>
            </a:pP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Yuqorida keltirilgan ta</a:t>
            </a:r>
            <a:r>
              <a:rPr lang="uz-Cyrl-UZ" altLang="ru-RU" sz="2000" dirty="0">
                <a:latin typeface="Calibri" panose="020F0502020204030204" pitchFamily="34" charset="0"/>
                <a:ea typeface="Calibri" panose="020F0502020204030204" pitchFamily="34" charset="0"/>
                <a:cs typeface="Times New Roman" panose="02020603050405020304" pitchFamily="18" charset="0"/>
              </a:rPr>
              <a:t>’</a:t>
            </a: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limda Е</a:t>
            </a:r>
            <a:r>
              <a:rPr lang="en-US" altLang="ru-RU" sz="2000" dirty="0">
                <a:latin typeface="Times New Roman" panose="02020603050405020304" pitchFamily="18" charset="0"/>
                <a:ea typeface="Calibri" panose="020F0502020204030204" pitchFamily="34" charset="0"/>
                <a:cs typeface="Times New Roman" panose="02020603050405020304" pitchFamily="18" charset="0"/>
              </a:rPr>
              <a:t>D</a:t>
            </a: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AI yaratishning matematik modelini yaratishimiz mumkin:</a:t>
            </a:r>
            <a:endParaRPr lang="ru-RU" altLang="ru-RU" sz="2000" dirty="0"/>
          </a:p>
          <a:p>
            <a:pPr lvl="0" algn="ctr" defTabSz="914400" eaLnBrk="0" fontAlgn="base" hangingPunct="0">
              <a:spcBef>
                <a:spcPct val="0"/>
              </a:spcBef>
              <a:spcAft>
                <a:spcPct val="0"/>
              </a:spcAft>
              <a:tabLst>
                <a:tab pos="1330325" algn="l"/>
                <a:tab pos="1531938" algn="l"/>
              </a:tabLst>
            </a:pP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OTMning o</a:t>
            </a:r>
            <a:r>
              <a:rPr lang="uz-Cyrl-UZ" altLang="ru-RU" sz="2000" dirty="0">
                <a:latin typeface="Calibri" panose="020F0502020204030204" pitchFamily="34" charset="0"/>
                <a:ea typeface="Calibri" panose="020F0502020204030204" pitchFamily="34" charset="0"/>
                <a:cs typeface="Times New Roman" panose="02020603050405020304" pitchFamily="18" charset="0"/>
              </a:rPr>
              <a:t>‘</a:t>
            </a: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quv faoliyatida SI yaratish uchun quyidagi belgilarni kiritamiz.</a:t>
            </a:r>
          </a:p>
          <a:p>
            <a:pPr lvl="0" algn="ctr" defTabSz="914400" eaLnBrk="0" fontAlgn="base" hangingPunct="0">
              <a:spcBef>
                <a:spcPct val="0"/>
              </a:spcBef>
              <a:spcAft>
                <a:spcPct val="0"/>
              </a:spcAft>
              <a:tabLst>
                <a:tab pos="1330325" algn="l"/>
                <a:tab pos="1531938" algn="l"/>
              </a:tabLst>
            </a:pP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LEARAI- O</a:t>
            </a:r>
            <a:r>
              <a:rPr lang="uz-Cyrl-UZ" altLang="ru-RU" sz="2000" dirty="0">
                <a:latin typeface="Calibri" panose="020F0502020204030204" pitchFamily="34" charset="0"/>
                <a:ea typeface="Calibri" panose="020F0502020204030204" pitchFamily="34" charset="0"/>
                <a:cs typeface="Times New Roman" panose="02020603050405020304" pitchFamily="18" charset="0"/>
              </a:rPr>
              <a:t>‘</a:t>
            </a: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quv faoliyatida sun</a:t>
            </a:r>
            <a:r>
              <a:rPr lang="uz-Cyrl-UZ" altLang="ru-RU" sz="2000" dirty="0">
                <a:latin typeface="Calibri" panose="020F0502020204030204" pitchFamily="34" charset="0"/>
                <a:ea typeface="Calibri" panose="020F0502020204030204" pitchFamily="34" charset="0"/>
                <a:cs typeface="Times New Roman" panose="02020603050405020304" pitchFamily="18" charset="0"/>
              </a:rPr>
              <a:t>’</a:t>
            </a:r>
            <a:r>
              <a:rPr lang="uz-Cyrl-UZ" altLang="ru-RU" sz="2000" dirty="0">
                <a:latin typeface="Times New Roman" panose="02020603050405020304" pitchFamily="18" charset="0"/>
                <a:ea typeface="Calibri" panose="020F0502020204030204" pitchFamily="34" charset="0"/>
                <a:cs typeface="Times New Roman" panose="02020603050405020304" pitchFamily="18" charset="0"/>
              </a:rPr>
              <a:t>iy intellekt</a:t>
            </a:r>
            <a:endParaRPr lang="ru-RU" sz="2000" dirty="0"/>
          </a:p>
        </p:txBody>
      </p:sp>
    </p:spTree>
    <p:extLst>
      <p:ext uri="{BB962C8B-B14F-4D97-AF65-F5344CB8AC3E}">
        <p14:creationId xmlns:p14="http://schemas.microsoft.com/office/powerpoint/2010/main" val="59168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20436" y="2082630"/>
            <a:ext cx="10751127" cy="1452642"/>
          </a:xfrm>
          <a:prstGeom prst="rect">
            <a:avLst/>
          </a:prstGeom>
        </p:spPr>
        <p:txBody>
          <a:bodyPr wrap="square">
            <a:spAutoFit/>
          </a:bodyPr>
          <a:lstStyle/>
          <a:p>
            <a:pPr algn="just">
              <a:lnSpc>
                <a:spcPct val="107000"/>
              </a:lnSpc>
              <a:spcAft>
                <a:spcPts val="800"/>
              </a:spcAft>
            </a:pPr>
            <a:r>
              <a:rPr lang="uz-Cyrl-UZ"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Xulosa qilib aytganda taʼlim tizimining oʼquv jaorayonida suniy intelekt tizimining ishlab chiqish oʼquv jarayonida kerakli maʼlumotlarni tezkor ovozli va matnli olish imkoniyatini yaratadi.</a:t>
            </a:r>
            <a:endParaRPr lang="ru-RU"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2935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F70B6784-322A-4D05-A42C-BD6E20746FF7}"/>
              </a:ext>
            </a:extLst>
          </p:cNvPr>
          <p:cNvSpPr/>
          <p:nvPr/>
        </p:nvSpPr>
        <p:spPr>
          <a:xfrm>
            <a:off x="2854036" y="2209908"/>
            <a:ext cx="7056581" cy="1446550"/>
          </a:xfrm>
          <a:prstGeom prst="rect">
            <a:avLst/>
          </a:prstGeom>
        </p:spPr>
        <p:txBody>
          <a:bodyPr wrap="square">
            <a:spAutoFit/>
          </a:bodyPr>
          <a:lstStyle/>
          <a:p>
            <a:pPr algn="ctr"/>
            <a:r>
              <a:rPr lang="en-US" sz="4400" dirty="0" err="1">
                <a:solidFill>
                  <a:srgbClr val="002060"/>
                </a:solidFill>
              </a:rPr>
              <a:t>E’tiborlaringiz</a:t>
            </a:r>
            <a:r>
              <a:rPr lang="en-US" sz="4400" dirty="0">
                <a:solidFill>
                  <a:srgbClr val="002060"/>
                </a:solidFill>
              </a:rPr>
              <a:t> </a:t>
            </a:r>
            <a:r>
              <a:rPr lang="en-US" sz="4400" dirty="0" err="1">
                <a:solidFill>
                  <a:srgbClr val="002060"/>
                </a:solidFill>
              </a:rPr>
              <a:t>uchun</a:t>
            </a:r>
            <a:endParaRPr lang="en-US" sz="4400" dirty="0">
              <a:solidFill>
                <a:srgbClr val="002060"/>
              </a:solidFill>
            </a:endParaRPr>
          </a:p>
          <a:p>
            <a:pPr algn="ctr"/>
            <a:r>
              <a:rPr lang="en-US" sz="4400" dirty="0">
                <a:solidFill>
                  <a:srgbClr val="002060"/>
                </a:solidFill>
              </a:rPr>
              <a:t> </a:t>
            </a:r>
            <a:r>
              <a:rPr lang="en-US" sz="4400" dirty="0" err="1">
                <a:solidFill>
                  <a:srgbClr val="002060"/>
                </a:solidFill>
              </a:rPr>
              <a:t>rahmat</a:t>
            </a:r>
            <a:r>
              <a:rPr lang="en-US" sz="4400" dirty="0">
                <a:solidFill>
                  <a:srgbClr val="002060"/>
                </a:solidFill>
              </a:rPr>
              <a:t>!!</a:t>
            </a:r>
            <a:endParaRPr lang="ru-RU" sz="4400" dirty="0">
              <a:solidFill>
                <a:srgbClr val="002060"/>
              </a:solidFill>
            </a:endParaRPr>
          </a:p>
        </p:txBody>
      </p:sp>
    </p:spTree>
    <p:extLst>
      <p:ext uri="{BB962C8B-B14F-4D97-AF65-F5344CB8AC3E}">
        <p14:creationId xmlns:p14="http://schemas.microsoft.com/office/powerpoint/2010/main" val="739081033"/>
      </p:ext>
    </p:extLst>
  </p:cSld>
  <p:clrMapOvr>
    <a:masterClrMapping/>
  </p:clrMapOvr>
</p:sld>
</file>

<file path=ppt/theme/theme1.xml><?xml version="1.0" encoding="utf-8"?>
<a:theme xmlns:a="http://schemas.openxmlformats.org/drawingml/2006/main" name="Капля">
  <a:themeElements>
    <a:clrScheme name="Капля">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Капля">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Капл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Капля</Template>
  <TotalTime>99</TotalTime>
  <Words>1468</Words>
  <Application>Microsoft Office PowerPoint</Application>
  <PresentationFormat>Широкоэкранный</PresentationFormat>
  <Paragraphs>81</Paragraphs>
  <Slides>20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20</vt:i4>
      </vt:variant>
    </vt:vector>
  </HeadingPairs>
  <TitlesOfParts>
    <vt:vector size="25" baseType="lpstr">
      <vt:lpstr>Arial</vt:lpstr>
      <vt:lpstr>Calibri</vt:lpstr>
      <vt:lpstr>Times New Roman</vt:lpstr>
      <vt:lpstr>Tw Cen MT</vt:lpstr>
      <vt:lpstr>Капля</vt:lpstr>
      <vt:lpstr>Oliy ta’lim tizimida suniy intelLekt yaratish masalari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AIтning afzalliklari</vt:lpstr>
      <vt:lpstr>Tashkilot miqyosida barqarorlik</vt:lpstr>
      <vt:lpstr>Mijozlarga xizmat ko'rsatish sifatini oshirish</vt:lpstr>
      <vt:lpstr>Ishonchli qaror qabul qilish</vt:lpstr>
      <vt:lpstr>Tegishli mahsulotlar va xizmatlar</vt:lpstr>
      <vt:lpstr>Xodimlarni jalb qilish</vt:lpstr>
      <vt:lpstr>OTMda suniy intelektning o’rni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Oliy ta’lim tizimida suniy intelekt yaratish masalari</dc:title>
  <dc:creator>User</dc:creator>
  <cp:lastModifiedBy>Пользователь</cp:lastModifiedBy>
  <cp:revision>15</cp:revision>
  <dcterms:created xsi:type="dcterms:W3CDTF">2024-05-20T03:06:31Z</dcterms:created>
  <dcterms:modified xsi:type="dcterms:W3CDTF">2024-05-20T06:23:09Z</dcterms:modified>
</cp:coreProperties>
</file>